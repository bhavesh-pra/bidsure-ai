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33a78af29549f8" /><Relationship Type="http://schemas.openxmlformats.org/officeDocument/2006/relationships/extended-properties" Target="/docProps/app.xml" Id="R7d7230711eef4d27" /><Relationship Type="http://schemas.openxmlformats.org/officeDocument/2006/relationships/officeDocument" Target="/ppt/presentation.xml" Id="Ra2ee63b1754e47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da5bc9ede34c34"/>
  </p:sldMasterIdLst>
  <p:notesMasterIdLst>
    <p:notesMasterId xmlns:r="http://schemas.openxmlformats.org/officeDocument/2006/relationships" r:id="Re4212aeb003d4a7f"/>
  </p:notesMasterIdLst>
  <p:sldIdLst>
    <p:sldId xmlns:r="http://schemas.openxmlformats.org/officeDocument/2006/relationships" id="256" r:id="R4d354c42e5b141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096b822a3f4f70" /><Relationship Type="http://schemas.openxmlformats.org/officeDocument/2006/relationships/slideMaster" Target="/ppt/slideMasters/slideMaster1.xml" Id="R2ada5bc9ede34c34" /><Relationship Type="http://schemas.openxmlformats.org/officeDocument/2006/relationships/notesMaster" Target="/ppt/notesMasters/notesMaster1.xml" Id="Re4212aeb003d4a7f" /><Relationship Type="http://schemas.openxmlformats.org/officeDocument/2006/relationships/presProps" Target="/ppt/presProps.xml" Id="R94ae1f06d0b94c84" /><Relationship Type="http://schemas.openxmlformats.org/officeDocument/2006/relationships/tableStyles" Target="/ppt/tableStyles.xml" Id="R393bb5c3fae8434f" /><Relationship Type="http://schemas.openxmlformats.org/officeDocument/2006/relationships/slide" Target="/ppt/slides/slide1.xml" Id="R4d354c42e5b141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604730900a43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b570dd9a104c0d" /><Relationship Type="http://schemas.openxmlformats.org/officeDocument/2006/relationships/notesMaster" Target="/ppt/notesMasters/notesMaster1.xml" Id="R24c9fc19c7504e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diagram for BidSure SIH26100. The diagram reflects the revised stack requested by the user: Node.js and Express replace Python and Flask/FastAPI. External government integrations are represented as authorised adapters and should use approved APIs, sandbox data or mock responses for the hackathon. Human officer authority remains outside the automated decision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9d40cc0ae4e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35bf8c0d1c4297" /><Relationship Type="http://schemas.openxmlformats.org/officeDocument/2006/relationships/slideLayout" Target="/ppt/slideLayouts/slideLayout1.xml" Id="R4a4ad635782a41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4ad635782a41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b2eec4c574c6e" /><Relationship Type="http://schemas.openxmlformats.org/officeDocument/2006/relationships/notesSlide" Target="/ppt/notesSlides/notesSlide1.xml" Id="R6ff3b944194c41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6C25CA-DB09-4753-A76D-241C7D05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BIDSURE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41CCD-E19A-4071-BA4D-8B5AA6E9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530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334E0-6711-4AA7-82FE-CE37021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239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Node.js + Express | Evidence-first compliance verification for GeM procurement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9D56A-0213-45F6-836B-D3D5737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4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Editable structure diagram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305CC-CB73-40D8-9685-0F812668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15240">
            <a:solidFill>
              <a:srgbClr val="C992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Bidder</a:t>
            </a:r>
          </a:p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Pre-check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DD65A-C386-4153-BD1D-5E91966D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15240">
            <a:solidFill>
              <a:srgbClr val="C992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Procurement Officer</a:t>
            </a:r>
          </a:p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Review console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06660-CD65-4B37-B797-D37A6A68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295400"/>
            <a:ext cx="952500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9050">
            <a:solidFill>
              <a:srgbClr val="A9B7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7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7C2"/>
                </a:solidFill>
                <a:latin typeface="Arial"/>
                <a:ea typeface="Arial"/>
                <a:cs typeface="Arial"/>
              </a:rPr>
              <a:t>INTERNET / EDGE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E5F7F-AC70-4834-A6FD-1088104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62125"/>
            <a:ext cx="1143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DNS + TLS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HTTPS : 443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18D34-990C-4FD4-BEE7-22FDAB1C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62125"/>
            <a:ext cx="12858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WAF / Rate limit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Request filtering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2C44D-4B4A-4BFB-BCAB-54D02F82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62125"/>
            <a:ext cx="12858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Load balancer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Public entry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78959-98D6-49C2-A149-07C4746D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62125"/>
            <a:ext cx="12858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Web frontend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2066D-77D3-4D82-925F-CC0264B1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3830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3EE"/>
          </a:solidFill>
          <a:ln xmlns:a="http://schemas.openxmlformats.org/drawingml/2006/main" w="1524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Express API service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Node.js + TypeScript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REST / JSON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JWT / SSO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9E305-BFE1-4C8C-BB42-3B70EDE4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9525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BIDSURE VPC / PRIVATE 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709DD-FA8C-4F3B-B398-D041446C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24250"/>
            <a:ext cx="483870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0FAF8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PRIVATE APP SUBNET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F8E35-DA7D-4437-9016-7C03FE8F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39052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5F2FA"/>
          </a:solidFill>
          <a:ln xmlns:a="http://schemas.openxmlformats.org/drawingml/2006/main" w="1905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PRIVATE DATA SUBNET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38403-A522-4F33-BB0F-0BD60CA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6240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Tender &amp; bid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service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Case lifecycle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72256-DFB9-417A-9C6D-3CFE1306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Document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intelligence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OCR + extraction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96644-55C5-452B-BFF8-8B400649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6240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Verification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service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Adapters +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3B8EC-9EB4-4555-A169-FA8260F2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Compliance engine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Versioned TypeScript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8C267-234B-4282-BE1E-7362A0BC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10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15240">
            <a:solidFill>
              <a:srgbClr val="C992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Risk + decision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Recommendation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E7BA3-8501-4F72-992A-01F607C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Cases, rules, findings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1B315-DB61-44DA-BBC2-2B73F37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862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Object storage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PDFs, images, hashes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DEF58-2585-4BA9-9C2F-00F4CF4F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244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Redis + BullMQ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Jobs, retries, queues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0259B-C518-4F1C-A855-F82E4FD5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244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Audit log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Append-only 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5B3E8-E3AB-482E-935B-CD1D688C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91250"/>
            <a:ext cx="9525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7FC"/>
          </a:solidFill>
          <a:ln xmlns:a="http://schemas.openxmlformats.org/drawingml/2006/main" w="1905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EXTERNAL AUTHORISED SOURCES / ADAPTERS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9C1D7-B3E8-48C1-9CE7-046376AB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3817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GSTN  |  Udyam  |  MCA21  |  DigiLocker  |  EPFO / ESIC  |  Startup India  |  GeM / CPPP</a:t>
            </a:r>
          </a:p>
        </p:txBody>
      </p:sp>
      <p:cxnSp>
        <p:nvCxnSpPr>
          <p:cNvPr id="83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781175" y="1638300"/>
            <a:ext cx="561975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9921E"/>
            </a:solidFill>
            <a:prstDash val="solid"/>
            <a:headEnd type="arrow" w="sm" len="sm"/>
          </a:ln>
        </p:spPr>
      </p:cxnSp>
      <p:cxnSp>
        <p:nvCxnSpPr>
          <p:cNvPr id="8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781175" y="2028825"/>
            <a:ext cx="561975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9921E"/>
            </a:solidFill>
            <a:prstDash val="solid"/>
            <a:headEnd type="arrow" w="sm" len="sm"/>
          </a:ln>
        </p:spPr>
      </p:cxnSp>
      <p:cxnSp>
        <p:nvCxnSpPr>
          <p:cNvPr id="8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86150" y="2028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8B5"/>
            </a:solidFill>
            <a:prstDash val="solid"/>
            <a:headEnd type="arrow" w="sm" len="sm"/>
          </a:ln>
        </p:spPr>
      </p:cxnSp>
      <p:cxnSp>
        <p:nvCxnSpPr>
          <p:cNvPr id="8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57775" y="20288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8B5"/>
            </a:solidFill>
            <a:prstDash val="solid"/>
            <a:headEnd type="arrow" w="sm" len="sm"/>
          </a:ln>
        </p:spPr>
      </p:cxnSp>
      <p:cxnSp>
        <p:nvCxnSpPr>
          <p:cNvPr id="8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638925" y="20288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8B5"/>
            </a:solidFill>
            <a:prstDash val="solid"/>
            <a:headEnd type="arrow" w="sm" len="sm"/>
          </a:ln>
        </p:spPr>
      </p:cxnSp>
      <p:cxnSp>
        <p:nvCxnSpPr>
          <p:cNvPr id="8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239125" y="20288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89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V="1">
            <a:off x="5995988" y="1638300"/>
            <a:ext cx="3195638" cy="657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90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3238500" y="2419350"/>
            <a:ext cx="5953125" cy="1543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91" name=""/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4762500" y="2419350"/>
            <a:ext cx="4429125" cy="1543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92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6286500" y="2419350"/>
            <a:ext cx="2905125" cy="1543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93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238500" y="4552950"/>
            <a:ext cx="952500" cy="257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909C"/>
            </a:solidFill>
            <a:prstDash val="solid"/>
            <a:headEnd type="arrow" w="sm" len="sm"/>
          </a:ln>
        </p:spPr>
      </p:cxnSp>
      <p:cxnSp>
        <p:nvCxnSpPr>
          <p:cNvPr id="94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191000" y="4552950"/>
            <a:ext cx="571500" cy="257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909C"/>
            </a:solidFill>
            <a:prstDash val="solid"/>
            <a:headEnd type="arrow" w="sm" len="sm"/>
          </a:ln>
        </p:spPr>
      </p:cxnSp>
      <p:cxnSp>
        <p:nvCxnSpPr>
          <p:cNvPr id="95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191000" y="4552950"/>
            <a:ext cx="2095500" cy="257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909C"/>
            </a:solidFill>
            <a:prstDash val="solid"/>
            <a:headEnd type="arrow" w="sm" len="sm"/>
          </a:ln>
        </p:spPr>
      </p:cxnSp>
      <p:cxnSp>
        <p:nvCxnSpPr>
          <p:cNvPr id="9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048250" y="5105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921E"/>
            </a:solidFill>
            <a:prstDash val="solid"/>
            <a:headEnd type="arrow" w="sm" len="sm"/>
          </a:ln>
        </p:spPr>
      </p:cxnSp>
      <p:cxnSp>
        <p:nvCxnSpPr>
          <p:cNvPr id="97" name=""/>
          <p:cNvCxnSpPr>
            <a:stCxn xmlns:a="http://schemas.openxmlformats.org/drawingml/2006/main" id="20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6096000" y="2419350"/>
            <a:ext cx="3095625" cy="2390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9921E"/>
            </a:solidFill>
            <a:prstDash val="dash"/>
            <a:headEnd type="arrow" w="sm" len="sm"/>
          </a:ln>
        </p:spPr>
      </p:cxnSp>
      <p:cxnSp>
        <p:nvCxnSpPr>
          <p:cNvPr id="98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3905250" y="4181475"/>
            <a:ext cx="37719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solid"/>
            <a:headEnd type="arrow" w="sm" len="sm"/>
          </a:ln>
        </p:spPr>
      </p:cxnSp>
      <p:cxnSp>
        <p:nvCxnSpPr>
          <p:cNvPr id="99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5429250" y="4181475"/>
            <a:ext cx="40386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solid"/>
            <a:headEnd type="arrow" w="sm" len="sm"/>
          </a:ln>
        </p:spPr>
      </p:cxnSp>
      <p:cxnSp>
        <p:nvCxnSpPr>
          <p:cNvPr id="100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953250" y="4257675"/>
            <a:ext cx="7239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dash"/>
            <a:headEnd type="arrow" w="sm" len="sm"/>
          </a:ln>
        </p:spPr>
      </p:cxnSp>
      <p:cxnSp>
        <p:nvCxnSpPr>
          <p:cNvPr id="101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6953250" y="5019675"/>
            <a:ext cx="251460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solid"/>
            <a:headEnd type="arrow" w="sm" len="sm"/>
          </a:ln>
        </p:spPr>
      </p:cxnSp>
      <p:cxnSp>
        <p:nvCxnSpPr>
          <p:cNvPr id="102" name=""/>
          <p:cNvCxnSpPr>
            <a:stCxn xmlns:a="http://schemas.openxmlformats.org/drawingml/2006/main" id="12" idx="3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953625" y="2028825"/>
            <a:ext cx="323850" cy="26955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7A5BA6"/>
            </a:solidFill>
            <a:prstDash val="dash"/>
            <a:headEnd type="arrow" w="sm" len="sm"/>
          </a:ln>
        </p:spPr>
      </p:cxnSp>
      <p:cxnSp>
        <p:nvCxnSpPr>
          <p:cNvPr id="103" name=""/>
          <p:cNvCxnSpPr>
            <a:stCxn xmlns:a="http://schemas.openxmlformats.org/drawingml/2006/main" id="18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286500" y="4552950"/>
            <a:ext cx="542925" cy="1828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dash"/>
            <a:headEnd type="arrow" w="sm" len="sm"/>
          </a:ln>
        </p:spPr>
      </p:cxnSp>
      <p:cxnSp>
        <p:nvCxnSpPr>
          <p:cNvPr id="104" name=""/>
          <p:cNvCxnSpPr>
            <a:stCxn xmlns:a="http://schemas.openxmlformats.org/drawingml/2006/main" id="17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762500" y="4552950"/>
            <a:ext cx="2066925" cy="1828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dash"/>
            <a:headEnd type="arrow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4DFBF6-9A41-4E36-A7BC-CD2B1F74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857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B88B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88B5"/>
                </a:solidFill>
                <a:latin typeface="Arial"/>
                <a:ea typeface="Arial"/>
                <a:cs typeface="Arial"/>
              </a:rPr>
              <a:t>HTTPS : 443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AFA3F4-1753-432E-BC81-1507FA47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1447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REST / JSON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BD9F50-DA6A-495D-810A-5A7DF54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internal service calls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77459A-A05C-40EA-8012-C732B621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267200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async jobs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06A109-F681-439A-A846-C3FF8CF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86450"/>
            <a:ext cx="1238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source verification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016EF3-EAC7-43A6-B22D-40A82388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76300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solid = synchronous request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2DA48A-4D8B-4DAF-A188-09E803EE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763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dashed = async / external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4B97CB-E253-49BC-A2C6-427B8256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371600"/>
            <a:ext cx="147637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32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TECH STACK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React + Vite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Node.js + Express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TypeScript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Redis + BullMQ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Object storage</a:t>
            </a:r>
          </a:p>
        </p:txBody>
      </p:sp>
    </p:spTree>
    <p:extLst>
      <p:ext uri="{BB962C8B-B14F-4D97-AF65-F5344CB8AC3E}">
        <p14:creationId xmlns:p14="http://schemas.microsoft.com/office/powerpoint/2010/main" val="1583954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2026-09-12T19:00:23.1590000Z</dcterms:created>
  <dcterms:modified xsi:type="dcterms:W3CDTF">2026-09-12T19:00:23.1600000Z</dcterms:modified>
</coreProperties>
</file>