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55f3a3365c4597" /><Relationship Type="http://schemas.openxmlformats.org/officeDocument/2006/relationships/extended-properties" Target="/docProps/app.xml" Id="R318e7788ed854bcd" /><Relationship Type="http://schemas.openxmlformats.org/officeDocument/2006/relationships/officeDocument" Target="/ppt/presentation.xml" Id="Rdd65ef05146841a4" /></Relationships>
</file>

<file path=ppt/presentation.xml><?xml version="1.0" encoding="utf-8"?>
<p:presentation xmlns:p="http://schemas.openxmlformats.org/presentationml/2006/main">
  <p:sldMasterIdLst>
    <p:sldMasterId xmlns:r="http://schemas.openxmlformats.org/officeDocument/2006/relationships" id="2147483648" r:id="Rd51df994fadc468c"/>
  </p:sldMasterIdLst>
  <p:notesMasterIdLst>
    <p:notesMasterId xmlns:r="http://schemas.openxmlformats.org/officeDocument/2006/relationships" r:id="R5ca4d3ff3220411a"/>
  </p:notesMasterIdLst>
  <p:sldIdLst>
    <p:sldId xmlns:r="http://schemas.openxmlformats.org/officeDocument/2006/relationships" id="256" r:id="R7701ff588d494e40"/>
    <p:sldId xmlns:r="http://schemas.openxmlformats.org/officeDocument/2006/relationships" id="257" r:id="Rda30f0d4350e49ec"/>
    <p:sldId xmlns:r="http://schemas.openxmlformats.org/officeDocument/2006/relationships" id="258" r:id="Rb8eb5422023049d5"/>
    <p:sldId xmlns:r="http://schemas.openxmlformats.org/officeDocument/2006/relationships" id="259" r:id="R2f55023e53cf457c"/>
    <p:sldId xmlns:r="http://schemas.openxmlformats.org/officeDocument/2006/relationships" id="260" r:id="R0af6da3fa82e4e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5c03913f12489c" /><Relationship Type="http://schemas.openxmlformats.org/officeDocument/2006/relationships/slideMaster" Target="/ppt/slideMasters/slideMaster1.xml" Id="Rd51df994fadc468c" /><Relationship Type="http://schemas.openxmlformats.org/officeDocument/2006/relationships/notesMaster" Target="/ppt/notesMasters/notesMaster1.xml" Id="R5ca4d3ff3220411a" /><Relationship Type="http://schemas.openxmlformats.org/officeDocument/2006/relationships/presProps" Target="/ppt/presProps.xml" Id="Rc4c65239f8754df7" /><Relationship Type="http://schemas.openxmlformats.org/officeDocument/2006/relationships/tableStyles" Target="/ppt/tableStyles.xml" Id="R10134bde70e84b57" /><Relationship Type="http://schemas.openxmlformats.org/officeDocument/2006/relationships/slide" Target="/ppt/slides/slide1.xml" Id="R7701ff588d494e40" /><Relationship Type="http://schemas.openxmlformats.org/officeDocument/2006/relationships/slide" Target="/ppt/slides/slide2.xml" Id="Rda30f0d4350e49ec" /><Relationship Type="http://schemas.openxmlformats.org/officeDocument/2006/relationships/slide" Target="/ppt/slides/slide3.xml" Id="Rb8eb5422023049d5" /><Relationship Type="http://schemas.openxmlformats.org/officeDocument/2006/relationships/slide" Target="/ppt/slides/slide4.xml" Id="R2f55023e53cf457c" /><Relationship Type="http://schemas.openxmlformats.org/officeDocument/2006/relationships/slide" Target="/ppt/slides/slide5.xml" Id="R0af6da3fa82e4e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cc64b34bcb45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eda06e0a884afd" /><Relationship Type="http://schemas.openxmlformats.org/officeDocument/2006/relationships/notesMaster" Target="/ppt/notesMasters/notesMaster1.xml" Id="R88783a4fd0a54e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5387e620eb4594" /><Relationship Type="http://schemas.openxmlformats.org/officeDocument/2006/relationships/notesMaster" Target="/ppt/notesMasters/notesMaster1.xml" Id="R293934e0b19c4c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a97a120eeb4a5a" /><Relationship Type="http://schemas.openxmlformats.org/officeDocument/2006/relationships/notesMaster" Target="/ppt/notesMasters/notesMaster1.xml" Id="R92eaa463e53447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18daf7f0a348ae" /><Relationship Type="http://schemas.openxmlformats.org/officeDocument/2006/relationships/notesMaster" Target="/ppt/notesMasters/notesMaster1.xml" Id="R1d266652b5804e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1428a3a1ce4a59" /><Relationship Type="http://schemas.openxmlformats.org/officeDocument/2006/relationships/notesMaster" Target="/ppt/notesMasters/notesMaster1.xml" Id="R350c5a9480e0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system architecture requested after team review. The slide shows registration, authentication, frontend, Express API routing, document intake, business services, cloud data services, mock platform, source adapters and approved production sources. The user and earlier project sources define the product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End-to-end workflow. Stage 1 to 4 describes user onboarding and submission. Stage 5 to 8 describes system processing and verification. Stage 9 to 11 describes the procurement officer review, decision and audit. Exception states prevent silent passes.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architecture. The model processes approved, controlled data and returns only schema-constrained candidates. A deterministic validator and rule engine control compliance outcomes. The officer has final authority. The safety boundary addresses prompt injection, raw data leakage and unsafe automated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Integration architecture. The adapter orchestrator always uses the same common verification contract. During SIH, a mock platform returns synthetic data and controlled failures. Production uses API Setu or individually approved provider paths under source policy, consent and credential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and operations architecture. The application has a public edge, private application zone and private cloud data zone. Cloud object storage is explicitly included for original documents, versions, exports and backups. Database, storage, workers and secrets are not publicly accessible.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ece787f18842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2a73da91dd443c" /><Relationship Type="http://schemas.openxmlformats.org/officeDocument/2006/relationships/slideLayout" Target="/ppt/slideLayouts/slideLayout1.xml" Id="Re9c621f668bd46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c621f668bd46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b1a81eb662462b" /><Relationship Type="http://schemas.openxmlformats.org/officeDocument/2006/relationships/notesSlide" Target="/ppt/notesSlides/notesSlide1.xml" Id="R7250f4186bff44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a8ac2a73844d34" /><Relationship Type="http://schemas.openxmlformats.org/officeDocument/2006/relationships/notesSlide" Target="/ppt/notesSlides/notesSlide2.xml" Id="R9bb473098b834d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89914e50c9487b" /><Relationship Type="http://schemas.openxmlformats.org/officeDocument/2006/relationships/notesSlide" Target="/ppt/notesSlides/notesSlide3.xml" Id="R7982e94a28324d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3f743144a248c0" /><Relationship Type="http://schemas.openxmlformats.org/officeDocument/2006/relationships/notesSlide" Target="/ppt/notesSlides/notesSlide4.xml" Id="R58e4478725be49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83b5738e4f4805" /><Relationship Type="http://schemas.openxmlformats.org/officeDocument/2006/relationships/notesSlide" Target="/ppt/notesSlides/notesSlide5.xml" Id="Rc39ef6b993db4d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F83CC0B9-AD0D-4608-96BA-52E8E5B174A4}"/>
              </a:ext>
            </a:extLst>
          </p:cNvPr>
          <p:cNvSpPr>
            <a:spLocks xmlns:a="http://schemas.openxmlformats.org/drawingml/2006/main" noGrp="1"/>
          </p:cNvSpPr>
          <p:nvPr/>
        </p:nvSpPr>
        <p:spPr>
          <a:xfrm xmlns:a="http://schemas.openxmlformats.org/drawingml/2006/main">
            <a:off x="400050" y="2476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6324F"/>
                </a:solidFill>
                <a:latin typeface="Arial"/>
                <a:ea typeface="Arial"/>
                <a:cs typeface="Arial"/>
              </a:defRPr>
            </a:pPr>
            <a:r>
              <a:rPr sz="1125" b="1">
                <a:solidFill>
                  <a:srgbClr val="16324F"/>
                </a:solidFill>
                <a:latin typeface="Arial"/>
                <a:ea typeface="Arial"/>
                <a:cs typeface="Arial"/>
              </a:rPr>
              <a:t>BIDSURE</a:t>
            </a:r>
          </a:p>
        </p:txBody>
      </p:sp>
      <p:sp>
        <p:nvSpPr>
          <p:cNvPr id="2" name="">
            <a:extLst xmlns:a="http://schemas.openxmlformats.org/drawingml/2006/main">
              <a:ext uri="{FF2B5EF4-FFF2-40B4-BE49-F238E27FC236}">
                <a16:creationId xmlns:a16="http://schemas.microsoft.com/office/drawing/2014/main" id="{323F301D-3A96-4FB7-8842-4FCF7BAA9A0E}"/>
              </a:ext>
            </a:extLst>
          </p:cNvPr>
          <p:cNvSpPr>
            <a:spLocks xmlns:a="http://schemas.openxmlformats.org/drawingml/2006/main" noGrp="1"/>
          </p:cNvSpPr>
          <p:nvPr/>
        </p:nvSpPr>
        <p:spPr>
          <a:xfrm xmlns:a="http://schemas.openxmlformats.org/drawingml/2006/main">
            <a:off x="400050" y="5048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75" b="1">
                <a:solidFill>
                  <a:srgbClr val="1B2936"/>
                </a:solidFill>
                <a:latin typeface="Arial"/>
                <a:ea typeface="Arial"/>
                <a:cs typeface="Arial"/>
              </a:defRPr>
            </a:pPr>
            <a:r>
              <a:rPr sz="2175" b="1">
                <a:solidFill>
                  <a:srgbClr val="1B2936"/>
                </a:solidFill>
                <a:latin typeface="Arial"/>
                <a:ea typeface="Arial"/>
                <a:cs typeface="Arial"/>
              </a:rPr>
              <a:t>Complete BidSure System Architecture</a:t>
            </a:r>
          </a:p>
        </p:txBody>
      </p:sp>
      <p:sp>
        <p:nvSpPr>
          <p:cNvPr id="3" name="">
            <a:extLst xmlns:a="http://schemas.openxmlformats.org/drawingml/2006/main">
              <a:ext uri="{FF2B5EF4-FFF2-40B4-BE49-F238E27FC236}">
                <a16:creationId xmlns:a16="http://schemas.microsoft.com/office/drawing/2014/main" id="{08B4AC1A-EC82-4BC9-A200-1883051AF86F}"/>
              </a:ext>
            </a:extLst>
          </p:cNvPr>
          <p:cNvSpPr>
            <a:spLocks xmlns:a="http://schemas.openxmlformats.org/drawingml/2006/main" noGrp="1"/>
          </p:cNvSpPr>
          <p:nvPr/>
        </p:nvSpPr>
        <p:spPr>
          <a:xfrm xmlns:a="http://schemas.openxmlformats.org/drawingml/2006/main">
            <a:off x="419100" y="9334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0">
                <a:solidFill>
                  <a:srgbClr val="52616B"/>
                </a:solidFill>
                <a:latin typeface="Arial"/>
                <a:ea typeface="Arial"/>
                <a:cs typeface="Arial"/>
              </a:defRPr>
            </a:pPr>
            <a:r>
              <a:rPr sz="900" b="0">
                <a:solidFill>
                  <a:srgbClr val="52616B"/>
                </a:solidFill>
                <a:latin typeface="Arial"/>
                <a:ea typeface="Arial"/>
                <a:cs typeface="Arial"/>
              </a:rPr>
              <a:t>Registration, authentication, evidence, verification, decision and audit operate as one controlled platform</a:t>
            </a:r>
          </a:p>
        </p:txBody>
      </p:sp>
      <p:sp>
        <p:nvSpPr>
          <p:cNvPr id="4" name="">
            <a:extLst xmlns:a="http://schemas.openxmlformats.org/drawingml/2006/main">
              <a:ext uri="{FF2B5EF4-FFF2-40B4-BE49-F238E27FC236}">
                <a16:creationId xmlns:a16="http://schemas.microsoft.com/office/drawing/2014/main" id="{7519AED2-D343-47C4-A71F-532A2FF00033}"/>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8EA1AC"/>
            </a:solidFill>
            <a:prstDash val="solid"/>
          </a:ln>
        </p:spPr>
      </p:sp>
      <p:sp>
        <p:nvSpPr>
          <p:cNvPr id="5" name="">
            <a:extLst xmlns:a="http://schemas.openxmlformats.org/drawingml/2006/main">
              <a:ext uri="{FF2B5EF4-FFF2-40B4-BE49-F238E27FC236}">
                <a16:creationId xmlns:a16="http://schemas.microsoft.com/office/drawing/2014/main" id="{2284CF08-31F8-4EE7-8B02-965BA6BDD001}"/>
              </a:ext>
            </a:extLst>
          </p:cNvPr>
          <p:cNvSpPr>
            <a:spLocks xmlns:a="http://schemas.openxmlformats.org/drawingml/2006/main" noGrp="1"/>
          </p:cNvSpPr>
          <p:nvPr/>
        </p:nvSpPr>
        <p:spPr>
          <a:xfrm xmlns:a="http://schemas.openxmlformats.org/drawingml/2006/main">
            <a:off x="400050" y="654367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SIH26100 | Architecture set 1 of 5</a:t>
            </a:r>
          </a:p>
        </p:txBody>
      </p:sp>
      <p:sp>
        <p:nvSpPr>
          <p:cNvPr id="6" name="">
            <a:extLst xmlns:a="http://schemas.openxmlformats.org/drawingml/2006/main">
              <a:ext uri="{FF2B5EF4-FFF2-40B4-BE49-F238E27FC236}">
                <a16:creationId xmlns:a16="http://schemas.microsoft.com/office/drawing/2014/main" id="{4E96949B-5029-4A81-9E28-ABC19672222F}"/>
              </a:ext>
            </a:extLst>
          </p:cNvPr>
          <p:cNvSpPr>
            <a:spLocks xmlns:a="http://schemas.openxmlformats.org/drawingml/2006/main" noGrp="1"/>
          </p:cNvSpPr>
          <p:nvPr/>
        </p:nvSpPr>
        <p:spPr>
          <a:xfrm xmlns:a="http://schemas.openxmlformats.org/drawingml/2006/main">
            <a:off x="9601200" y="6543675"/>
            <a:ext cx="2190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Node.js + Express + TypeScript</a:t>
            </a:r>
          </a:p>
        </p:txBody>
      </p:sp>
      <p:sp>
        <p:nvSpPr>
          <p:cNvPr id="7" name="">
            <a:extLst xmlns:a="http://schemas.openxmlformats.org/drawingml/2006/main">
              <a:ext uri="{FF2B5EF4-FFF2-40B4-BE49-F238E27FC236}">
                <a16:creationId xmlns:a16="http://schemas.microsoft.com/office/drawing/2014/main" id="{DAC2E8EF-E27A-4224-9C33-B8FD69E7639C}"/>
              </a:ext>
            </a:extLst>
          </p:cNvPr>
          <p:cNvSpPr>
            <a:spLocks xmlns:a="http://schemas.openxmlformats.org/drawingml/2006/main" noGrp="1"/>
          </p:cNvSpPr>
          <p:nvPr/>
        </p:nvSpPr>
        <p:spPr>
          <a:xfrm xmlns:a="http://schemas.openxmlformats.org/drawingml/2006/main">
            <a:off x="342900" y="1428750"/>
            <a:ext cx="1476375" cy="4667250"/>
          </a:xfrm>
          <a:prstGeom xmlns:a="http://schemas.openxmlformats.org/drawingml/2006/main" prst="roundRect">
            <a:avLst>
              <a:gd name="adj" fmla="val 7742"/>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900" b="1">
                <a:solidFill>
                  <a:srgbClr val="C9921E"/>
                </a:solidFill>
                <a:latin typeface="Arial"/>
                <a:ea typeface="Arial"/>
                <a:cs typeface="Arial"/>
              </a:defRPr>
            </a:pPr>
            <a:r>
              <a:rPr sz="900" b="1">
                <a:solidFill>
                  <a:srgbClr val="C9921E"/>
                </a:solidFill>
                <a:latin typeface="Arial"/>
                <a:ea typeface="Arial"/>
                <a:cs typeface="Arial"/>
              </a:rPr>
              <a:t>USERS AND WORKSPACES</a:t>
            </a:r>
          </a:p>
        </p:txBody>
      </p:sp>
      <p:sp>
        <p:nvSpPr>
          <p:cNvPr id="8" name="">
            <a:extLst xmlns:a="http://schemas.openxmlformats.org/drawingml/2006/main">
              <a:ext uri="{FF2B5EF4-FFF2-40B4-BE49-F238E27FC236}">
                <a16:creationId xmlns:a16="http://schemas.microsoft.com/office/drawing/2014/main" id="{2DAFB9FE-975D-445E-AF0F-E1BE224F088B}"/>
              </a:ext>
            </a:extLst>
          </p:cNvPr>
          <p:cNvSpPr>
            <a:spLocks xmlns:a="http://schemas.openxmlformats.org/drawingml/2006/main" noGrp="1"/>
          </p:cNvSpPr>
          <p:nvPr/>
        </p:nvSpPr>
        <p:spPr>
          <a:xfrm xmlns:a="http://schemas.openxmlformats.org/drawingml/2006/main">
            <a:off x="523875" y="2076450"/>
            <a:ext cx="112395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Bidder portal</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Registration and pre-check</a:t>
            </a:r>
          </a:p>
        </p:txBody>
      </p:sp>
      <p:sp>
        <p:nvSpPr>
          <p:cNvPr id="9" name="">
            <a:extLst xmlns:a="http://schemas.openxmlformats.org/drawingml/2006/main">
              <a:ext uri="{FF2B5EF4-FFF2-40B4-BE49-F238E27FC236}">
                <a16:creationId xmlns:a16="http://schemas.microsoft.com/office/drawing/2014/main" id="{8FB79A85-B488-445D-A530-DAF1F6502E60}"/>
              </a:ext>
            </a:extLst>
          </p:cNvPr>
          <p:cNvSpPr>
            <a:spLocks xmlns:a="http://schemas.openxmlformats.org/drawingml/2006/main" noGrp="1"/>
          </p:cNvSpPr>
          <p:nvPr/>
        </p:nvSpPr>
        <p:spPr>
          <a:xfrm xmlns:a="http://schemas.openxmlformats.org/drawingml/2006/main">
            <a:off x="523875" y="3143250"/>
            <a:ext cx="112395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Officer console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Tender review and decision</a:t>
            </a:r>
          </a:p>
        </p:txBody>
      </p:sp>
      <p:sp>
        <p:nvSpPr>
          <p:cNvPr id="10" name="">
            <a:extLst xmlns:a="http://schemas.openxmlformats.org/drawingml/2006/main">
              <a:ext uri="{FF2B5EF4-FFF2-40B4-BE49-F238E27FC236}">
                <a16:creationId xmlns:a16="http://schemas.microsoft.com/office/drawing/2014/main" id="{9E82C32A-D6FB-4687-AB45-E10A3980AA89}"/>
              </a:ext>
            </a:extLst>
          </p:cNvPr>
          <p:cNvSpPr>
            <a:spLocks xmlns:a="http://schemas.openxmlformats.org/drawingml/2006/main" noGrp="1"/>
          </p:cNvSpPr>
          <p:nvPr/>
        </p:nvSpPr>
        <p:spPr>
          <a:xfrm xmlns:a="http://schemas.openxmlformats.org/drawingml/2006/main">
            <a:off x="523875" y="4210050"/>
            <a:ext cx="112395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Admin console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Rules and source control</a:t>
            </a:r>
          </a:p>
        </p:txBody>
      </p:sp>
      <p:sp>
        <p:nvSpPr>
          <p:cNvPr id="11" name="">
            <a:extLst xmlns:a="http://schemas.openxmlformats.org/drawingml/2006/main">
              <a:ext uri="{FF2B5EF4-FFF2-40B4-BE49-F238E27FC236}">
                <a16:creationId xmlns:a16="http://schemas.microsoft.com/office/drawing/2014/main" id="{89E840B8-3E9C-43EA-8E71-84549EF72AB9}"/>
              </a:ext>
            </a:extLst>
          </p:cNvPr>
          <p:cNvSpPr>
            <a:spLocks xmlns:a="http://schemas.openxmlformats.org/drawingml/2006/main" noGrp="1"/>
          </p:cNvSpPr>
          <p:nvPr/>
        </p:nvSpPr>
        <p:spPr>
          <a:xfrm xmlns:a="http://schemas.openxmlformats.org/drawingml/2006/main">
            <a:off x="523875" y="5095875"/>
            <a:ext cx="1095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Organisation profile, role and tender scope determine what each user can access.</a:t>
            </a:r>
          </a:p>
        </p:txBody>
      </p:sp>
      <p:sp>
        <p:nvSpPr>
          <p:cNvPr id="12" name="">
            <a:extLst xmlns:a="http://schemas.openxmlformats.org/drawingml/2006/main">
              <a:ext uri="{FF2B5EF4-FFF2-40B4-BE49-F238E27FC236}">
                <a16:creationId xmlns:a16="http://schemas.microsoft.com/office/drawing/2014/main" id="{AA438CA7-2960-4388-AB48-610B2DD8604E}"/>
              </a:ext>
            </a:extLst>
          </p:cNvPr>
          <p:cNvSpPr>
            <a:spLocks xmlns:a="http://schemas.openxmlformats.org/drawingml/2006/main" noGrp="1"/>
          </p:cNvSpPr>
          <p:nvPr/>
        </p:nvSpPr>
        <p:spPr>
          <a:xfrm xmlns:a="http://schemas.openxmlformats.org/drawingml/2006/main">
            <a:off x="2047875" y="1428750"/>
            <a:ext cx="6762750" cy="4667250"/>
          </a:xfrm>
          <a:prstGeom xmlns:a="http://schemas.openxmlformats.org/drawingml/2006/main" prst="roundRect">
            <a:avLst>
              <a:gd name="adj" fmla="val 2449"/>
            </a:avLst>
          </a:prstGeom>
          <a:solidFill xmlns:a="http://schemas.openxmlformats.org/drawingml/2006/main">
            <a:srgbClr val="F5F8FA"/>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900" b="1">
                <a:solidFill>
                  <a:srgbClr val="2A9D8F"/>
                </a:solidFill>
                <a:latin typeface="Arial"/>
                <a:ea typeface="Arial"/>
                <a:cs typeface="Arial"/>
              </a:defRPr>
            </a:pPr>
            <a:r>
              <a:rPr sz="900" b="1">
                <a:solidFill>
                  <a:srgbClr val="2A9D8F"/>
                </a:solidFill>
                <a:latin typeface="Arial"/>
                <a:ea typeface="Arial"/>
                <a:cs typeface="Arial"/>
              </a:rPr>
              <a:t>BIDSURE APPLICATION AND DATA PLATFORM</a:t>
            </a:r>
          </a:p>
        </p:txBody>
      </p:sp>
      <p:sp>
        <p:nvSpPr>
          <p:cNvPr id="13" name="">
            <a:extLst xmlns:a="http://schemas.openxmlformats.org/drawingml/2006/main">
              <a:ext uri="{FF2B5EF4-FFF2-40B4-BE49-F238E27FC236}">
                <a16:creationId xmlns:a16="http://schemas.microsoft.com/office/drawing/2014/main" id="{48CC6A56-8189-4844-A302-C4A68B3EDDA0}"/>
              </a:ext>
            </a:extLst>
          </p:cNvPr>
          <p:cNvSpPr>
            <a:spLocks xmlns:a="http://schemas.openxmlformats.org/drawingml/2006/main" noGrp="1"/>
          </p:cNvSpPr>
          <p:nvPr/>
        </p:nvSpPr>
        <p:spPr>
          <a:xfrm xmlns:a="http://schemas.openxmlformats.org/drawingml/2006/main">
            <a:off x="2266950" y="1685925"/>
            <a:ext cx="1047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4B88B5"/>
                </a:solidFill>
                <a:latin typeface="Arial"/>
                <a:ea typeface="Arial"/>
                <a:cs typeface="Arial"/>
              </a:defRPr>
            </a:pPr>
            <a:r>
              <a:rPr sz="750" b="1">
                <a:solidFill>
                  <a:srgbClr val="4B88B5"/>
                </a:solidFill>
                <a:latin typeface="Arial"/>
                <a:ea typeface="Arial"/>
                <a:cs typeface="Arial"/>
              </a:rPr>
              <a:t>PUBLIC ENTRY</a:t>
            </a:r>
          </a:p>
        </p:txBody>
      </p:sp>
      <p:sp>
        <p:nvSpPr>
          <p:cNvPr id="14" name="">
            <a:extLst xmlns:a="http://schemas.openxmlformats.org/drawingml/2006/main">
              <a:ext uri="{FF2B5EF4-FFF2-40B4-BE49-F238E27FC236}">
                <a16:creationId xmlns:a16="http://schemas.microsoft.com/office/drawing/2014/main" id="{A38E79BB-364C-42B3-A90E-D6B0972A2C2D}"/>
              </a:ext>
            </a:extLst>
          </p:cNvPr>
          <p:cNvSpPr>
            <a:spLocks xmlns:a="http://schemas.openxmlformats.org/drawingml/2006/main" noGrp="1"/>
          </p:cNvSpPr>
          <p:nvPr/>
        </p:nvSpPr>
        <p:spPr>
          <a:xfrm xmlns:a="http://schemas.openxmlformats.org/drawingml/2006/main">
            <a:off x="2286000" y="1933575"/>
            <a:ext cx="1285875" cy="590550"/>
          </a:xfrm>
          <a:prstGeom xmlns:a="http://schemas.openxmlformats.org/drawingml/2006/main" prst="roundRect">
            <a:avLst>
              <a:gd name="adj" fmla="val 19355"/>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Registration and identity</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OTP or SSO, organisation profile, RBAC</a:t>
            </a:r>
          </a:p>
        </p:txBody>
      </p:sp>
      <p:sp>
        <p:nvSpPr>
          <p:cNvPr id="15" name="">
            <a:extLst xmlns:a="http://schemas.openxmlformats.org/drawingml/2006/main">
              <a:ext uri="{FF2B5EF4-FFF2-40B4-BE49-F238E27FC236}">
                <a16:creationId xmlns:a16="http://schemas.microsoft.com/office/drawing/2014/main" id="{35D12E9C-EAFA-4CC6-A6E7-234708319BD0}"/>
              </a:ext>
            </a:extLst>
          </p:cNvPr>
          <p:cNvSpPr>
            <a:spLocks xmlns:a="http://schemas.openxmlformats.org/drawingml/2006/main" noGrp="1"/>
          </p:cNvSpPr>
          <p:nvPr/>
        </p:nvSpPr>
        <p:spPr>
          <a:xfrm xmlns:a="http://schemas.openxmlformats.org/drawingml/2006/main">
            <a:off x="3810000" y="1933575"/>
            <a:ext cx="1190625" cy="590550"/>
          </a:xfrm>
          <a:prstGeom xmlns:a="http://schemas.openxmlformats.org/drawingml/2006/main" prst="roundRect">
            <a:avLst>
              <a:gd name="adj" fmla="val 19355"/>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React frontend</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Bidder and officer views</a:t>
            </a:r>
          </a:p>
        </p:txBody>
      </p:sp>
      <p:sp>
        <p:nvSpPr>
          <p:cNvPr id="16" name="">
            <a:extLst xmlns:a="http://schemas.openxmlformats.org/drawingml/2006/main">
              <a:ext uri="{FF2B5EF4-FFF2-40B4-BE49-F238E27FC236}">
                <a16:creationId xmlns:a16="http://schemas.microsoft.com/office/drawing/2014/main" id="{A72B1BC0-E946-48B8-96DE-D5FF0D72A549}"/>
              </a:ext>
            </a:extLst>
          </p:cNvPr>
          <p:cNvSpPr>
            <a:spLocks xmlns:a="http://schemas.openxmlformats.org/drawingml/2006/main" noGrp="1"/>
          </p:cNvSpPr>
          <p:nvPr/>
        </p:nvSpPr>
        <p:spPr>
          <a:xfrm xmlns:a="http://schemas.openxmlformats.org/drawingml/2006/main">
            <a:off x="5238750" y="1809750"/>
            <a:ext cx="1524000" cy="781050"/>
          </a:xfrm>
          <a:prstGeom xmlns:a="http://schemas.openxmlformats.org/drawingml/2006/main" prst="roundRect">
            <a:avLst>
              <a:gd name="adj" fmla="val 14634"/>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Express API gateway</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Authentication, routing, policy and OpenAPI contracts</a:t>
            </a:r>
          </a:p>
        </p:txBody>
      </p:sp>
      <p:sp>
        <p:nvSpPr>
          <p:cNvPr id="17" name="">
            <a:extLst xmlns:a="http://schemas.openxmlformats.org/drawingml/2006/main">
              <a:ext uri="{FF2B5EF4-FFF2-40B4-BE49-F238E27FC236}">
                <a16:creationId xmlns:a16="http://schemas.microsoft.com/office/drawing/2014/main" id="{B21272E2-A3F6-4179-BFB7-4EFED0AF1AAA}"/>
              </a:ext>
            </a:extLst>
          </p:cNvPr>
          <p:cNvSpPr>
            <a:spLocks xmlns:a="http://schemas.openxmlformats.org/drawingml/2006/main" noGrp="1"/>
          </p:cNvSpPr>
          <p:nvPr/>
        </p:nvSpPr>
        <p:spPr>
          <a:xfrm xmlns:a="http://schemas.openxmlformats.org/drawingml/2006/main">
            <a:off x="7000875" y="1933575"/>
            <a:ext cx="1476375" cy="590550"/>
          </a:xfrm>
          <a:prstGeom xmlns:a="http://schemas.openxmlformats.org/drawingml/2006/main" prst="roundRect">
            <a:avLst>
              <a:gd name="adj" fmla="val 19355"/>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Document intake guard</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Upload, scan, hash and queue</a:t>
            </a:r>
          </a:p>
        </p:txBody>
      </p:sp>
      <p:sp>
        <p:nvSpPr>
          <p:cNvPr id="18" name="">
            <a:extLst xmlns:a="http://schemas.openxmlformats.org/drawingml/2006/main">
              <a:ext uri="{FF2B5EF4-FFF2-40B4-BE49-F238E27FC236}">
                <a16:creationId xmlns:a16="http://schemas.microsoft.com/office/drawing/2014/main" id="{B8DD85A3-DBC7-4314-846A-8F2A4094EE95}"/>
              </a:ext>
            </a:extLst>
          </p:cNvPr>
          <p:cNvSpPr>
            <a:spLocks xmlns:a="http://schemas.openxmlformats.org/drawingml/2006/main" noGrp="1"/>
          </p:cNvSpPr>
          <p:nvPr/>
        </p:nvSpPr>
        <p:spPr>
          <a:xfrm xmlns:a="http://schemas.openxmlformats.org/drawingml/2006/main">
            <a:off x="2266950" y="2857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2A9D8F"/>
                </a:solidFill>
                <a:latin typeface="Arial"/>
                <a:ea typeface="Arial"/>
                <a:cs typeface="Arial"/>
              </a:defRPr>
            </a:pPr>
            <a:r>
              <a:rPr sz="750" b="1">
                <a:solidFill>
                  <a:srgbClr val="2A9D8F"/>
                </a:solidFill>
                <a:latin typeface="Arial"/>
                <a:ea typeface="Arial"/>
                <a:cs typeface="Arial"/>
              </a:rPr>
              <a:t>BUSINESS SERVICES</a:t>
            </a:r>
          </a:p>
        </p:txBody>
      </p:sp>
      <p:sp>
        <p:nvSpPr>
          <p:cNvPr id="19" name="">
            <a:extLst xmlns:a="http://schemas.openxmlformats.org/drawingml/2006/main">
              <a:ext uri="{FF2B5EF4-FFF2-40B4-BE49-F238E27FC236}">
                <a16:creationId xmlns:a16="http://schemas.microsoft.com/office/drawing/2014/main" id="{D53B9D64-D3A3-4080-A221-A5CCECB8FA83}"/>
              </a:ext>
            </a:extLst>
          </p:cNvPr>
          <p:cNvSpPr>
            <a:spLocks xmlns:a="http://schemas.openxmlformats.org/drawingml/2006/main" noGrp="1"/>
          </p:cNvSpPr>
          <p:nvPr/>
        </p:nvSpPr>
        <p:spPr>
          <a:xfrm xmlns:a="http://schemas.openxmlformats.org/drawingml/2006/main">
            <a:off x="2286000" y="3143250"/>
            <a:ext cx="119062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Tender management</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Tender, clauses, corrigenda, requirements</a:t>
            </a:r>
          </a:p>
        </p:txBody>
      </p:sp>
      <p:sp>
        <p:nvSpPr>
          <p:cNvPr id="20" name="">
            <a:extLst xmlns:a="http://schemas.openxmlformats.org/drawingml/2006/main">
              <a:ext uri="{FF2B5EF4-FFF2-40B4-BE49-F238E27FC236}">
                <a16:creationId xmlns:a16="http://schemas.microsoft.com/office/drawing/2014/main" id="{B784B789-21F1-4632-B544-773838BFD3B4}"/>
              </a:ext>
            </a:extLst>
          </p:cNvPr>
          <p:cNvSpPr>
            <a:spLocks xmlns:a="http://schemas.openxmlformats.org/drawingml/2006/main" noGrp="1"/>
          </p:cNvSpPr>
          <p:nvPr/>
        </p:nvSpPr>
        <p:spPr>
          <a:xfrm xmlns:a="http://schemas.openxmlformats.org/drawingml/2006/main">
            <a:off x="3667125" y="3143250"/>
            <a:ext cx="119062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Evidence service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OCR fields, documents, confidence</a:t>
            </a:r>
          </a:p>
        </p:txBody>
      </p:sp>
      <p:sp>
        <p:nvSpPr>
          <p:cNvPr id="21" name="">
            <a:extLst xmlns:a="http://schemas.openxmlformats.org/drawingml/2006/main">
              <a:ext uri="{FF2B5EF4-FFF2-40B4-BE49-F238E27FC236}">
                <a16:creationId xmlns:a16="http://schemas.microsoft.com/office/drawing/2014/main" id="{4F9877E3-FD5B-4CB7-99E6-4839C4666950}"/>
              </a:ext>
            </a:extLst>
          </p:cNvPr>
          <p:cNvSpPr>
            <a:spLocks xmlns:a="http://schemas.openxmlformats.org/drawingml/2006/main" noGrp="1"/>
          </p:cNvSpPr>
          <p:nvPr/>
        </p:nvSpPr>
        <p:spPr>
          <a:xfrm xmlns:a="http://schemas.openxmlformats.org/drawingml/2006/main">
            <a:off x="5048250" y="3143250"/>
            <a:ext cx="119062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Verification orchestrator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Adapter jobs, freshness and conflicts</a:t>
            </a:r>
          </a:p>
        </p:txBody>
      </p:sp>
      <p:sp>
        <p:nvSpPr>
          <p:cNvPr id="22" name="">
            <a:extLst xmlns:a="http://schemas.openxmlformats.org/drawingml/2006/main">
              <a:ext uri="{FF2B5EF4-FFF2-40B4-BE49-F238E27FC236}">
                <a16:creationId xmlns:a16="http://schemas.microsoft.com/office/drawing/2014/main" id="{430098BA-8774-4A65-BCA6-3DF2EA61478A}"/>
              </a:ext>
            </a:extLst>
          </p:cNvPr>
          <p:cNvSpPr>
            <a:spLocks xmlns:a="http://schemas.openxmlformats.org/drawingml/2006/main" noGrp="1"/>
          </p:cNvSpPr>
          <p:nvPr/>
        </p:nvSpPr>
        <p:spPr>
          <a:xfrm xmlns:a="http://schemas.openxmlformats.org/drawingml/2006/main">
            <a:off x="6429375" y="3143250"/>
            <a:ext cx="1190625" cy="619125"/>
          </a:xfrm>
          <a:prstGeom xmlns:a="http://schemas.openxmlformats.org/drawingml/2006/main" prst="roundRect">
            <a:avLst>
              <a:gd name="adj" fmla="val 18462"/>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Compliance engine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Rules, findings, score and recommendation</a:t>
            </a:r>
          </a:p>
        </p:txBody>
      </p:sp>
      <p:sp>
        <p:nvSpPr>
          <p:cNvPr id="23" name="">
            <a:extLst xmlns:a="http://schemas.openxmlformats.org/drawingml/2006/main">
              <a:ext uri="{FF2B5EF4-FFF2-40B4-BE49-F238E27FC236}">
                <a16:creationId xmlns:a16="http://schemas.microsoft.com/office/drawing/2014/main" id="{60388D96-96EF-4F70-8AA1-B48EB4CCDA12}"/>
              </a:ext>
            </a:extLst>
          </p:cNvPr>
          <p:cNvSpPr>
            <a:spLocks xmlns:a="http://schemas.openxmlformats.org/drawingml/2006/main" noGrp="1"/>
          </p:cNvSpPr>
          <p:nvPr/>
        </p:nvSpPr>
        <p:spPr>
          <a:xfrm xmlns:a="http://schemas.openxmlformats.org/drawingml/2006/main">
            <a:off x="7810500" y="3143250"/>
            <a:ext cx="714375" cy="619125"/>
          </a:xfrm>
          <a:prstGeom xmlns:a="http://schemas.openxmlformats.org/drawingml/2006/main" prst="roundRect">
            <a:avLst>
              <a:gd name="adj" fmla="val 18462"/>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Decision</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Officer action</a:t>
            </a:r>
          </a:p>
        </p:txBody>
      </p:sp>
      <p:sp>
        <p:nvSpPr>
          <p:cNvPr id="24" name="">
            <a:extLst xmlns:a="http://schemas.openxmlformats.org/drawingml/2006/main">
              <a:ext uri="{FF2B5EF4-FFF2-40B4-BE49-F238E27FC236}">
                <a16:creationId xmlns:a16="http://schemas.microsoft.com/office/drawing/2014/main" id="{FE8CF387-EC99-4F3B-BD80-D36FA8EFDC5A}"/>
              </a:ext>
            </a:extLst>
          </p:cNvPr>
          <p:cNvSpPr>
            <a:spLocks xmlns:a="http://schemas.openxmlformats.org/drawingml/2006/main" noGrp="1"/>
          </p:cNvSpPr>
          <p:nvPr/>
        </p:nvSpPr>
        <p:spPr>
          <a:xfrm xmlns:a="http://schemas.openxmlformats.org/drawingml/2006/main">
            <a:off x="2266950" y="4095750"/>
            <a:ext cx="1333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73559B"/>
                </a:solidFill>
                <a:latin typeface="Arial"/>
                <a:ea typeface="Arial"/>
                <a:cs typeface="Arial"/>
              </a:defRPr>
            </a:pPr>
            <a:r>
              <a:rPr sz="750" b="1">
                <a:solidFill>
                  <a:srgbClr val="73559B"/>
                </a:solidFill>
                <a:latin typeface="Arial"/>
                <a:ea typeface="Arial"/>
                <a:cs typeface="Arial"/>
              </a:rPr>
              <a:t>CLOUD DATA SERVICES</a:t>
            </a:r>
          </a:p>
        </p:txBody>
      </p:sp>
      <p:sp>
        <p:nvSpPr>
          <p:cNvPr id="25" name="">
            <a:extLst xmlns:a="http://schemas.openxmlformats.org/drawingml/2006/main">
              <a:ext uri="{FF2B5EF4-FFF2-40B4-BE49-F238E27FC236}">
                <a16:creationId xmlns:a16="http://schemas.microsoft.com/office/drawing/2014/main" id="{96B1827A-544D-4FB8-BAD4-4E0F8ABF6CE1}"/>
              </a:ext>
            </a:extLst>
          </p:cNvPr>
          <p:cNvSpPr>
            <a:spLocks xmlns:a="http://schemas.openxmlformats.org/drawingml/2006/main" noGrp="1"/>
          </p:cNvSpPr>
          <p:nvPr/>
        </p:nvSpPr>
        <p:spPr>
          <a:xfrm xmlns:a="http://schemas.openxmlformats.org/drawingml/2006/main">
            <a:off x="2286000" y="4381500"/>
            <a:ext cx="1190625" cy="619125"/>
          </a:xfrm>
          <a:prstGeom xmlns:a="http://schemas.openxmlformats.org/drawingml/2006/main" prst="roundRect">
            <a:avLst>
              <a:gd name="adj" fmla="val 18462"/>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MongoDB</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Cases, users, rules, findings</a:t>
            </a:r>
          </a:p>
        </p:txBody>
      </p:sp>
      <p:sp>
        <p:nvSpPr>
          <p:cNvPr id="26" name="">
            <a:extLst xmlns:a="http://schemas.openxmlformats.org/drawingml/2006/main">
              <a:ext uri="{FF2B5EF4-FFF2-40B4-BE49-F238E27FC236}">
                <a16:creationId xmlns:a16="http://schemas.microsoft.com/office/drawing/2014/main" id="{8C2A0E47-ADEC-4B72-8D07-0DFF194DD30B}"/>
              </a:ext>
            </a:extLst>
          </p:cNvPr>
          <p:cNvSpPr>
            <a:spLocks xmlns:a="http://schemas.openxmlformats.org/drawingml/2006/main" noGrp="1"/>
          </p:cNvSpPr>
          <p:nvPr/>
        </p:nvSpPr>
        <p:spPr>
          <a:xfrm xmlns:a="http://schemas.openxmlformats.org/drawingml/2006/main">
            <a:off x="3667125" y="4381500"/>
            <a:ext cx="1190625" cy="619125"/>
          </a:xfrm>
          <a:prstGeom xmlns:a="http://schemas.openxmlformats.org/drawingml/2006/main" prst="roundRect">
            <a:avLst>
              <a:gd name="adj" fmla="val 18462"/>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Cloud object storage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PDFs, images, versions, exports</a:t>
            </a:r>
          </a:p>
        </p:txBody>
      </p:sp>
      <p:sp>
        <p:nvSpPr>
          <p:cNvPr id="27" name="">
            <a:extLst xmlns:a="http://schemas.openxmlformats.org/drawingml/2006/main">
              <a:ext uri="{FF2B5EF4-FFF2-40B4-BE49-F238E27FC236}">
                <a16:creationId xmlns:a16="http://schemas.microsoft.com/office/drawing/2014/main" id="{49ADB7C5-B014-4D90-B665-331DADE5768B}"/>
              </a:ext>
            </a:extLst>
          </p:cNvPr>
          <p:cNvSpPr>
            <a:spLocks xmlns:a="http://schemas.openxmlformats.org/drawingml/2006/main" noGrp="1"/>
          </p:cNvSpPr>
          <p:nvPr/>
        </p:nvSpPr>
        <p:spPr>
          <a:xfrm xmlns:a="http://schemas.openxmlformats.org/drawingml/2006/main">
            <a:off x="5048250" y="4381500"/>
            <a:ext cx="1190625" cy="619125"/>
          </a:xfrm>
          <a:prstGeom xmlns:a="http://schemas.openxmlformats.org/drawingml/2006/main" prst="roundRect">
            <a:avLst>
              <a:gd name="adj" fmla="val 18462"/>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Redis and BullMQ</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OCR, adapters, retries and schedules</a:t>
            </a:r>
          </a:p>
        </p:txBody>
      </p:sp>
      <p:sp>
        <p:nvSpPr>
          <p:cNvPr id="28" name="">
            <a:extLst xmlns:a="http://schemas.openxmlformats.org/drawingml/2006/main">
              <a:ext uri="{FF2B5EF4-FFF2-40B4-BE49-F238E27FC236}">
                <a16:creationId xmlns:a16="http://schemas.microsoft.com/office/drawing/2014/main" id="{44FDE4AC-1A0C-4059-93A6-3FC0D87D2736}"/>
              </a:ext>
            </a:extLst>
          </p:cNvPr>
          <p:cNvSpPr>
            <a:spLocks xmlns:a="http://schemas.openxmlformats.org/drawingml/2006/main" noGrp="1"/>
          </p:cNvSpPr>
          <p:nvPr/>
        </p:nvSpPr>
        <p:spPr>
          <a:xfrm xmlns:a="http://schemas.openxmlformats.org/drawingml/2006/main">
            <a:off x="6429375" y="4381500"/>
            <a:ext cx="1190625" cy="619125"/>
          </a:xfrm>
          <a:prstGeom xmlns:a="http://schemas.openxmlformats.org/drawingml/2006/main" prst="roundRect">
            <a:avLst>
              <a:gd name="adj" fmla="val 18462"/>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Audit store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Access, evidence, rule and decision events</a:t>
            </a:r>
          </a:p>
        </p:txBody>
      </p:sp>
      <p:sp>
        <p:nvSpPr>
          <p:cNvPr id="29" name="">
            <a:extLst xmlns:a="http://schemas.openxmlformats.org/drawingml/2006/main">
              <a:ext uri="{FF2B5EF4-FFF2-40B4-BE49-F238E27FC236}">
                <a16:creationId xmlns:a16="http://schemas.microsoft.com/office/drawing/2014/main" id="{5A28BF5A-E2A3-4D7A-8182-05DE0BDAE8BD}"/>
              </a:ext>
            </a:extLst>
          </p:cNvPr>
          <p:cNvSpPr>
            <a:spLocks xmlns:a="http://schemas.openxmlformats.org/drawingml/2006/main" noGrp="1"/>
          </p:cNvSpPr>
          <p:nvPr/>
        </p:nvSpPr>
        <p:spPr>
          <a:xfrm xmlns:a="http://schemas.openxmlformats.org/drawingml/2006/main">
            <a:off x="7810500" y="4381500"/>
            <a:ext cx="714375" cy="619125"/>
          </a:xfrm>
          <a:prstGeom xmlns:a="http://schemas.openxmlformats.org/drawingml/2006/main" prst="roundRect">
            <a:avLst>
              <a:gd name="adj" fmla="val 18462"/>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Rule registry</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Versions</a:t>
            </a:r>
          </a:p>
        </p:txBody>
      </p:sp>
      <p:sp>
        <p:nvSpPr>
          <p:cNvPr id="30" name="">
            <a:extLst xmlns:a="http://schemas.openxmlformats.org/drawingml/2006/main">
              <a:ext uri="{FF2B5EF4-FFF2-40B4-BE49-F238E27FC236}">
                <a16:creationId xmlns:a16="http://schemas.microsoft.com/office/drawing/2014/main" id="{3DAA1848-219C-43BC-93F2-7D0D243287A4}"/>
              </a:ext>
            </a:extLst>
          </p:cNvPr>
          <p:cNvSpPr>
            <a:spLocks xmlns:a="http://schemas.openxmlformats.org/drawingml/2006/main" noGrp="1"/>
          </p:cNvSpPr>
          <p:nvPr/>
        </p:nvSpPr>
        <p:spPr>
          <a:xfrm xmlns:a="http://schemas.openxmlformats.org/drawingml/2006/main">
            <a:off x="9048750" y="1428750"/>
            <a:ext cx="2781300" cy="4667250"/>
          </a:xfrm>
          <a:prstGeom xmlns:a="http://schemas.openxmlformats.org/drawingml/2006/main" prst="roundRect">
            <a:avLst>
              <a:gd name="adj" fmla="val 4110"/>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900" b="1">
                <a:solidFill>
                  <a:srgbClr val="73559B"/>
                </a:solidFill>
                <a:latin typeface="Arial"/>
                <a:ea typeface="Arial"/>
                <a:cs typeface="Arial"/>
              </a:defRPr>
            </a:pPr>
            <a:r>
              <a:rPr sz="900" b="1">
                <a:solidFill>
                  <a:srgbClr val="73559B"/>
                </a:solidFill>
                <a:latin typeface="Arial"/>
                <a:ea typeface="Arial"/>
                <a:cs typeface="Arial"/>
              </a:rPr>
              <a:t>INTEGRATION CONTROL PLANE</a:t>
            </a:r>
          </a:p>
        </p:txBody>
      </p:sp>
      <p:sp>
        <p:nvSpPr>
          <p:cNvPr id="31" name="">
            <a:extLst xmlns:a="http://schemas.openxmlformats.org/drawingml/2006/main">
              <a:ext uri="{FF2B5EF4-FFF2-40B4-BE49-F238E27FC236}">
                <a16:creationId xmlns:a16="http://schemas.microsoft.com/office/drawing/2014/main" id="{DD8B2003-92D1-49D3-8ADD-CE4BE9C7D53A}"/>
              </a:ext>
            </a:extLst>
          </p:cNvPr>
          <p:cNvSpPr>
            <a:spLocks xmlns:a="http://schemas.openxmlformats.org/drawingml/2006/main" noGrp="1"/>
          </p:cNvSpPr>
          <p:nvPr/>
        </p:nvSpPr>
        <p:spPr>
          <a:xfrm xmlns:a="http://schemas.openxmlformats.org/drawingml/2006/main">
            <a:off x="9286875" y="1952625"/>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Source registry and policy</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Purpose, consent, credentials, rate and freshness rules</a:t>
            </a:r>
          </a:p>
        </p:txBody>
      </p:sp>
      <p:sp>
        <p:nvSpPr>
          <p:cNvPr id="32" name="">
            <a:extLst xmlns:a="http://schemas.openxmlformats.org/drawingml/2006/main">
              <a:ext uri="{FF2B5EF4-FFF2-40B4-BE49-F238E27FC236}">
                <a16:creationId xmlns:a16="http://schemas.microsoft.com/office/drawing/2014/main" id="{6A07F87E-F7F4-4F97-909C-77EFEF943744}"/>
              </a:ext>
            </a:extLst>
          </p:cNvPr>
          <p:cNvSpPr>
            <a:spLocks xmlns:a="http://schemas.openxmlformats.org/drawingml/2006/main" noGrp="1"/>
          </p:cNvSpPr>
          <p:nvPr/>
        </p:nvSpPr>
        <p:spPr>
          <a:xfrm xmlns:a="http://schemas.openxmlformats.org/drawingml/2006/main">
            <a:off x="9286875" y="2809875"/>
            <a:ext cx="2286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Adapter gateway</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Normalises every source into one verification contract</a:t>
            </a:r>
          </a:p>
        </p:txBody>
      </p:sp>
      <p:sp>
        <p:nvSpPr>
          <p:cNvPr id="33" name="">
            <a:extLst xmlns:a="http://schemas.openxmlformats.org/drawingml/2006/main">
              <a:ext uri="{FF2B5EF4-FFF2-40B4-BE49-F238E27FC236}">
                <a16:creationId xmlns:a16="http://schemas.microsoft.com/office/drawing/2014/main" id="{12C4F3B7-6091-4537-B3B6-41033E7C07D1}"/>
              </a:ext>
            </a:extLst>
          </p:cNvPr>
          <p:cNvSpPr>
            <a:spLocks xmlns:a="http://schemas.openxmlformats.org/drawingml/2006/main" noGrp="1"/>
          </p:cNvSpPr>
          <p:nvPr/>
        </p:nvSpPr>
        <p:spPr>
          <a:xfrm xmlns:a="http://schemas.openxmlformats.org/drawingml/2006/main">
            <a:off x="9286875" y="3810000"/>
            <a:ext cx="1047750" cy="666750"/>
          </a:xfrm>
          <a:prstGeom xmlns:a="http://schemas.openxmlformats.org/drawingml/2006/main" prst="roundRect">
            <a:avLst>
              <a:gd name="adj" fmla="val 17143"/>
            </a:avLst>
          </a:prstGeom>
          <a:solidFill xmlns:a="http://schemas.openxmlformats.org/drawingml/2006/main">
            <a:srgbClr val="E7F3E8"/>
          </a:solidFill>
          <a:ln xmlns:a="http://schemas.openxmlformats.org/drawingml/2006/main" w="14288">
            <a:solidFill>
              <a:srgbClr val="4B8F58"/>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Mock platform</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Synthetic bidder data and demo APIs</a:t>
            </a:r>
          </a:p>
        </p:txBody>
      </p:sp>
      <p:sp>
        <p:nvSpPr>
          <p:cNvPr id="34" name="">
            <a:extLst xmlns:a="http://schemas.openxmlformats.org/drawingml/2006/main">
              <a:ext uri="{FF2B5EF4-FFF2-40B4-BE49-F238E27FC236}">
                <a16:creationId xmlns:a16="http://schemas.microsoft.com/office/drawing/2014/main" id="{99040FC9-EA51-4C94-A394-7D5D2905B0D1}"/>
              </a:ext>
            </a:extLst>
          </p:cNvPr>
          <p:cNvSpPr>
            <a:spLocks xmlns:a="http://schemas.openxmlformats.org/drawingml/2006/main" noGrp="1"/>
          </p:cNvSpPr>
          <p:nvPr/>
        </p:nvSpPr>
        <p:spPr>
          <a:xfrm xmlns:a="http://schemas.openxmlformats.org/drawingml/2006/main">
            <a:off x="10525125" y="3810000"/>
            <a:ext cx="1047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Approved sources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API Setu and provider APIs</a:t>
            </a:r>
          </a:p>
        </p:txBody>
      </p:sp>
      <p:sp>
        <p:nvSpPr>
          <p:cNvPr id="35" name="">
            <a:extLst xmlns:a="http://schemas.openxmlformats.org/drawingml/2006/main">
              <a:ext uri="{FF2B5EF4-FFF2-40B4-BE49-F238E27FC236}">
                <a16:creationId xmlns:a16="http://schemas.microsoft.com/office/drawing/2014/main" id="{95EF3AD7-0852-402F-B636-4EFA9F2C254C}"/>
              </a:ext>
            </a:extLst>
          </p:cNvPr>
          <p:cNvSpPr>
            <a:spLocks xmlns:a="http://schemas.openxmlformats.org/drawingml/2006/main" noGrp="1"/>
          </p:cNvSpPr>
          <p:nvPr/>
        </p:nvSpPr>
        <p:spPr>
          <a:xfrm xmlns:a="http://schemas.openxmlformats.org/drawingml/2006/main">
            <a:off x="9334500" y="48101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Demo and production use the same adapter contract. The source policy decides which one runs.</a:t>
            </a:r>
          </a:p>
        </p:txBody>
      </p:sp>
      <p:sp>
        <p:nvSpPr>
          <p:cNvPr id="36" name="">
            <a:extLst xmlns:a="http://schemas.openxmlformats.org/drawingml/2006/main">
              <a:ext uri="{FF2B5EF4-FFF2-40B4-BE49-F238E27FC236}">
                <a16:creationId xmlns:a16="http://schemas.microsoft.com/office/drawing/2014/main" id="{E5F8597E-C2CE-4324-977F-E8A17570FC65}"/>
              </a:ext>
            </a:extLst>
          </p:cNvPr>
          <p:cNvSpPr>
            <a:spLocks xmlns:a="http://schemas.openxmlformats.org/drawingml/2006/main" noGrp="1"/>
          </p:cNvSpPr>
          <p:nvPr/>
        </p:nvSpPr>
        <p:spPr>
          <a:xfrm xmlns:a="http://schemas.openxmlformats.org/drawingml/2006/main">
            <a:off x="1647825" y="2333625"/>
            <a:ext cx="63817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37" name="">
            <a:extLst xmlns:a="http://schemas.openxmlformats.org/drawingml/2006/main">
              <a:ext uri="{FF2B5EF4-FFF2-40B4-BE49-F238E27FC236}">
                <a16:creationId xmlns:a16="http://schemas.microsoft.com/office/drawing/2014/main" id="{2F67C49D-1C4C-45A9-A207-B8F1CC9603EF}"/>
              </a:ext>
            </a:extLst>
          </p:cNvPr>
          <p:cNvSpPr>
            <a:spLocks xmlns:a="http://schemas.openxmlformats.org/drawingml/2006/main" noGrp="1"/>
          </p:cNvSpPr>
          <p:nvPr/>
        </p:nvSpPr>
        <p:spPr>
          <a:xfrm xmlns:a="http://schemas.openxmlformats.org/drawingml/2006/main">
            <a:off x="2181225" y="2286000"/>
            <a:ext cx="104775" cy="104775"/>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1B05518-FA91-4F08-BCD2-9E0221D949E3}"/>
              </a:ext>
            </a:extLst>
          </p:cNvPr>
          <p:cNvSpPr>
            <a:spLocks xmlns:a="http://schemas.openxmlformats.org/drawingml/2006/main" noGrp="1"/>
          </p:cNvSpPr>
          <p:nvPr/>
        </p:nvSpPr>
        <p:spPr>
          <a:xfrm xmlns:a="http://schemas.openxmlformats.org/drawingml/2006/main">
            <a:off x="1647825" y="3400425"/>
            <a:ext cx="63817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39" name="">
            <a:extLst xmlns:a="http://schemas.openxmlformats.org/drawingml/2006/main">
              <a:ext uri="{FF2B5EF4-FFF2-40B4-BE49-F238E27FC236}">
                <a16:creationId xmlns:a16="http://schemas.microsoft.com/office/drawing/2014/main" id="{C15799F0-99D0-4654-BD7C-4B67D0BD707A}"/>
              </a:ext>
            </a:extLst>
          </p:cNvPr>
          <p:cNvSpPr>
            <a:spLocks xmlns:a="http://schemas.openxmlformats.org/drawingml/2006/main" noGrp="1"/>
          </p:cNvSpPr>
          <p:nvPr/>
        </p:nvSpPr>
        <p:spPr>
          <a:xfrm xmlns:a="http://schemas.openxmlformats.org/drawingml/2006/main">
            <a:off x="2181225" y="3352800"/>
            <a:ext cx="104775" cy="104775"/>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1F02C97-B997-40D9-890A-9E2155124065}"/>
              </a:ext>
            </a:extLst>
          </p:cNvPr>
          <p:cNvSpPr>
            <a:spLocks xmlns:a="http://schemas.openxmlformats.org/drawingml/2006/main" noGrp="1"/>
          </p:cNvSpPr>
          <p:nvPr/>
        </p:nvSpPr>
        <p:spPr>
          <a:xfrm xmlns:a="http://schemas.openxmlformats.org/drawingml/2006/main">
            <a:off x="1647825" y="4467225"/>
            <a:ext cx="63817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41" name="">
            <a:extLst xmlns:a="http://schemas.openxmlformats.org/drawingml/2006/main">
              <a:ext uri="{FF2B5EF4-FFF2-40B4-BE49-F238E27FC236}">
                <a16:creationId xmlns:a16="http://schemas.microsoft.com/office/drawing/2014/main" id="{3DF4252B-9F61-4399-BFF7-8F46C8BA2388}"/>
              </a:ext>
            </a:extLst>
          </p:cNvPr>
          <p:cNvSpPr>
            <a:spLocks xmlns:a="http://schemas.openxmlformats.org/drawingml/2006/main" noGrp="1"/>
          </p:cNvSpPr>
          <p:nvPr/>
        </p:nvSpPr>
        <p:spPr>
          <a:xfrm xmlns:a="http://schemas.openxmlformats.org/drawingml/2006/main">
            <a:off x="2181225" y="4419600"/>
            <a:ext cx="104775" cy="104775"/>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904A8C3-D15B-4D42-862B-660D4A309529}"/>
              </a:ext>
            </a:extLst>
          </p:cNvPr>
          <p:cNvSpPr>
            <a:spLocks xmlns:a="http://schemas.openxmlformats.org/drawingml/2006/main" noGrp="1"/>
          </p:cNvSpPr>
          <p:nvPr/>
        </p:nvSpPr>
        <p:spPr>
          <a:xfrm xmlns:a="http://schemas.openxmlformats.org/drawingml/2006/main">
            <a:off x="3571875" y="2228850"/>
            <a:ext cx="23812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43" name="">
            <a:extLst xmlns:a="http://schemas.openxmlformats.org/drawingml/2006/main">
              <a:ext uri="{FF2B5EF4-FFF2-40B4-BE49-F238E27FC236}">
                <a16:creationId xmlns:a16="http://schemas.microsoft.com/office/drawing/2014/main" id="{CAA6E189-5A8D-41A0-90E5-FD0EF24A4EF4}"/>
              </a:ext>
            </a:extLst>
          </p:cNvPr>
          <p:cNvSpPr>
            <a:spLocks xmlns:a="http://schemas.openxmlformats.org/drawingml/2006/main" noGrp="1"/>
          </p:cNvSpPr>
          <p:nvPr/>
        </p:nvSpPr>
        <p:spPr>
          <a:xfrm xmlns:a="http://schemas.openxmlformats.org/drawingml/2006/main">
            <a:off x="3724275" y="2181225"/>
            <a:ext cx="104775" cy="104775"/>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ADFDE034-113B-4D63-B237-78D0F558C68A}"/>
              </a:ext>
            </a:extLst>
          </p:cNvPr>
          <p:cNvSpPr>
            <a:spLocks xmlns:a="http://schemas.openxmlformats.org/drawingml/2006/main" noGrp="1"/>
          </p:cNvSpPr>
          <p:nvPr/>
        </p:nvSpPr>
        <p:spPr>
          <a:xfrm xmlns:a="http://schemas.openxmlformats.org/drawingml/2006/main">
            <a:off x="5000625" y="2228850"/>
            <a:ext cx="23812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45" name="">
            <a:extLst xmlns:a="http://schemas.openxmlformats.org/drawingml/2006/main">
              <a:ext uri="{FF2B5EF4-FFF2-40B4-BE49-F238E27FC236}">
                <a16:creationId xmlns:a16="http://schemas.microsoft.com/office/drawing/2014/main" id="{24BFE741-875B-4D68-8F9A-BD188C7567AA}"/>
              </a:ext>
            </a:extLst>
          </p:cNvPr>
          <p:cNvSpPr>
            <a:spLocks xmlns:a="http://schemas.openxmlformats.org/drawingml/2006/main" noGrp="1"/>
          </p:cNvSpPr>
          <p:nvPr/>
        </p:nvSpPr>
        <p:spPr>
          <a:xfrm xmlns:a="http://schemas.openxmlformats.org/drawingml/2006/main">
            <a:off x="5153025" y="2181225"/>
            <a:ext cx="104775" cy="104775"/>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891CBDE-0C8C-42C7-A82D-878AF5694345}"/>
              </a:ext>
            </a:extLst>
          </p:cNvPr>
          <p:cNvSpPr>
            <a:spLocks xmlns:a="http://schemas.openxmlformats.org/drawingml/2006/main" noGrp="1"/>
          </p:cNvSpPr>
          <p:nvPr/>
        </p:nvSpPr>
        <p:spPr>
          <a:xfrm xmlns:a="http://schemas.openxmlformats.org/drawingml/2006/main">
            <a:off x="6762750" y="2228850"/>
            <a:ext cx="23812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47" name="">
            <a:extLst xmlns:a="http://schemas.openxmlformats.org/drawingml/2006/main">
              <a:ext uri="{FF2B5EF4-FFF2-40B4-BE49-F238E27FC236}">
                <a16:creationId xmlns:a16="http://schemas.microsoft.com/office/drawing/2014/main" id="{8EB4517D-45F9-43E9-8755-97A271C89EBE}"/>
              </a:ext>
            </a:extLst>
          </p:cNvPr>
          <p:cNvSpPr>
            <a:spLocks xmlns:a="http://schemas.openxmlformats.org/drawingml/2006/main" noGrp="1"/>
          </p:cNvSpPr>
          <p:nvPr/>
        </p:nvSpPr>
        <p:spPr>
          <a:xfrm xmlns:a="http://schemas.openxmlformats.org/drawingml/2006/main">
            <a:off x="6915150" y="218122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3C0F76B-6B05-4CC8-AD76-DDA88A6F3F20}"/>
              </a:ext>
            </a:extLst>
          </p:cNvPr>
          <p:cNvSpPr>
            <a:spLocks xmlns:a="http://schemas.openxmlformats.org/drawingml/2006/main" noGrp="1"/>
          </p:cNvSpPr>
          <p:nvPr/>
        </p:nvSpPr>
        <p:spPr>
          <a:xfrm xmlns:a="http://schemas.openxmlformats.org/drawingml/2006/main">
            <a:off x="6000750" y="2590800"/>
            <a:ext cx="0" cy="38100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49" name="">
            <a:extLst xmlns:a="http://schemas.openxmlformats.org/drawingml/2006/main">
              <a:ext uri="{FF2B5EF4-FFF2-40B4-BE49-F238E27FC236}">
                <a16:creationId xmlns:a16="http://schemas.microsoft.com/office/drawing/2014/main" id="{A6C8AC0B-E135-499F-B048-1D95307227B9}"/>
              </a:ext>
            </a:extLst>
          </p:cNvPr>
          <p:cNvSpPr>
            <a:spLocks xmlns:a="http://schemas.openxmlformats.org/drawingml/2006/main" noGrp="1"/>
          </p:cNvSpPr>
          <p:nvPr/>
        </p:nvSpPr>
        <p:spPr>
          <a:xfrm xmlns:a="http://schemas.openxmlformats.org/drawingml/2006/main">
            <a:off x="2876550" y="2971800"/>
            <a:ext cx="528637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0" name="">
            <a:extLst xmlns:a="http://schemas.openxmlformats.org/drawingml/2006/main">
              <a:ext uri="{FF2B5EF4-FFF2-40B4-BE49-F238E27FC236}">
                <a16:creationId xmlns:a16="http://schemas.microsoft.com/office/drawing/2014/main" id="{4E7FEBF4-8A31-4951-8246-11D49F3F85F3}"/>
              </a:ext>
            </a:extLst>
          </p:cNvPr>
          <p:cNvSpPr>
            <a:spLocks xmlns:a="http://schemas.openxmlformats.org/drawingml/2006/main" noGrp="1"/>
          </p:cNvSpPr>
          <p:nvPr/>
        </p:nvSpPr>
        <p:spPr>
          <a:xfrm xmlns:a="http://schemas.openxmlformats.org/drawingml/2006/main">
            <a:off x="2876550" y="2971800"/>
            <a:ext cx="0" cy="1714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1" name="">
            <a:extLst xmlns:a="http://schemas.openxmlformats.org/drawingml/2006/main">
              <a:ext uri="{FF2B5EF4-FFF2-40B4-BE49-F238E27FC236}">
                <a16:creationId xmlns:a16="http://schemas.microsoft.com/office/drawing/2014/main" id="{EE9D8517-84DC-4378-A499-5568782614DD}"/>
              </a:ext>
            </a:extLst>
          </p:cNvPr>
          <p:cNvSpPr>
            <a:spLocks xmlns:a="http://schemas.openxmlformats.org/drawingml/2006/main" noGrp="1"/>
          </p:cNvSpPr>
          <p:nvPr/>
        </p:nvSpPr>
        <p:spPr>
          <a:xfrm xmlns:a="http://schemas.openxmlformats.org/drawingml/2006/main">
            <a:off x="2828925" y="3048000"/>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6AC38EBE-7FFA-440F-A719-889F1D6B443E}"/>
              </a:ext>
            </a:extLst>
          </p:cNvPr>
          <p:cNvSpPr>
            <a:spLocks xmlns:a="http://schemas.openxmlformats.org/drawingml/2006/main" noGrp="1"/>
          </p:cNvSpPr>
          <p:nvPr/>
        </p:nvSpPr>
        <p:spPr>
          <a:xfrm xmlns:a="http://schemas.openxmlformats.org/drawingml/2006/main">
            <a:off x="4257675" y="2971800"/>
            <a:ext cx="0" cy="1714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3" name="">
            <a:extLst xmlns:a="http://schemas.openxmlformats.org/drawingml/2006/main">
              <a:ext uri="{FF2B5EF4-FFF2-40B4-BE49-F238E27FC236}">
                <a16:creationId xmlns:a16="http://schemas.microsoft.com/office/drawing/2014/main" id="{227E18F3-9371-4D85-940E-0EE067ECD4B2}"/>
              </a:ext>
            </a:extLst>
          </p:cNvPr>
          <p:cNvSpPr>
            <a:spLocks xmlns:a="http://schemas.openxmlformats.org/drawingml/2006/main" noGrp="1"/>
          </p:cNvSpPr>
          <p:nvPr/>
        </p:nvSpPr>
        <p:spPr>
          <a:xfrm xmlns:a="http://schemas.openxmlformats.org/drawingml/2006/main">
            <a:off x="4210050" y="3048000"/>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6C08BC4C-EA2E-4A46-9E7F-A8F4931F13D5}"/>
              </a:ext>
            </a:extLst>
          </p:cNvPr>
          <p:cNvSpPr>
            <a:spLocks xmlns:a="http://schemas.openxmlformats.org/drawingml/2006/main" noGrp="1"/>
          </p:cNvSpPr>
          <p:nvPr/>
        </p:nvSpPr>
        <p:spPr>
          <a:xfrm xmlns:a="http://schemas.openxmlformats.org/drawingml/2006/main">
            <a:off x="5638800" y="2971800"/>
            <a:ext cx="0" cy="1714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5" name="">
            <a:extLst xmlns:a="http://schemas.openxmlformats.org/drawingml/2006/main">
              <a:ext uri="{FF2B5EF4-FFF2-40B4-BE49-F238E27FC236}">
                <a16:creationId xmlns:a16="http://schemas.microsoft.com/office/drawing/2014/main" id="{A3362FBD-0A12-48B8-B897-2E96023D893F}"/>
              </a:ext>
            </a:extLst>
          </p:cNvPr>
          <p:cNvSpPr>
            <a:spLocks xmlns:a="http://schemas.openxmlformats.org/drawingml/2006/main" noGrp="1"/>
          </p:cNvSpPr>
          <p:nvPr/>
        </p:nvSpPr>
        <p:spPr>
          <a:xfrm xmlns:a="http://schemas.openxmlformats.org/drawingml/2006/main">
            <a:off x="5591175" y="3048000"/>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FCC07AD-D993-4932-B3F1-66FCCDD5D101}"/>
              </a:ext>
            </a:extLst>
          </p:cNvPr>
          <p:cNvSpPr>
            <a:spLocks xmlns:a="http://schemas.openxmlformats.org/drawingml/2006/main" noGrp="1"/>
          </p:cNvSpPr>
          <p:nvPr/>
        </p:nvSpPr>
        <p:spPr>
          <a:xfrm xmlns:a="http://schemas.openxmlformats.org/drawingml/2006/main">
            <a:off x="7019925" y="2971800"/>
            <a:ext cx="0" cy="1714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7" name="">
            <a:extLst xmlns:a="http://schemas.openxmlformats.org/drawingml/2006/main">
              <a:ext uri="{FF2B5EF4-FFF2-40B4-BE49-F238E27FC236}">
                <a16:creationId xmlns:a16="http://schemas.microsoft.com/office/drawing/2014/main" id="{19DA7DBA-857A-49D7-BA77-876CB4FB67C2}"/>
              </a:ext>
            </a:extLst>
          </p:cNvPr>
          <p:cNvSpPr>
            <a:spLocks xmlns:a="http://schemas.openxmlformats.org/drawingml/2006/main" noGrp="1"/>
          </p:cNvSpPr>
          <p:nvPr/>
        </p:nvSpPr>
        <p:spPr>
          <a:xfrm xmlns:a="http://schemas.openxmlformats.org/drawingml/2006/main">
            <a:off x="6972300" y="3048000"/>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479D8E8-C631-4C45-A331-6C7852CE62B8}"/>
              </a:ext>
            </a:extLst>
          </p:cNvPr>
          <p:cNvSpPr>
            <a:spLocks xmlns:a="http://schemas.openxmlformats.org/drawingml/2006/main" noGrp="1"/>
          </p:cNvSpPr>
          <p:nvPr/>
        </p:nvSpPr>
        <p:spPr>
          <a:xfrm xmlns:a="http://schemas.openxmlformats.org/drawingml/2006/main">
            <a:off x="8162925" y="2971800"/>
            <a:ext cx="0" cy="1714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9" name="">
            <a:extLst xmlns:a="http://schemas.openxmlformats.org/drawingml/2006/main">
              <a:ext uri="{FF2B5EF4-FFF2-40B4-BE49-F238E27FC236}">
                <a16:creationId xmlns:a16="http://schemas.microsoft.com/office/drawing/2014/main" id="{CDD1A449-0471-44FC-BCD1-60CADCBB628A}"/>
              </a:ext>
            </a:extLst>
          </p:cNvPr>
          <p:cNvSpPr>
            <a:spLocks xmlns:a="http://schemas.openxmlformats.org/drawingml/2006/main" noGrp="1"/>
          </p:cNvSpPr>
          <p:nvPr/>
        </p:nvSpPr>
        <p:spPr>
          <a:xfrm xmlns:a="http://schemas.openxmlformats.org/drawingml/2006/main">
            <a:off x="8115300" y="3048000"/>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BA78B0CC-F8A9-4568-867B-883A806A1F46}"/>
              </a:ext>
            </a:extLst>
          </p:cNvPr>
          <p:cNvSpPr>
            <a:spLocks xmlns:a="http://schemas.openxmlformats.org/drawingml/2006/main" noGrp="1"/>
          </p:cNvSpPr>
          <p:nvPr/>
        </p:nvSpPr>
        <p:spPr>
          <a:xfrm xmlns:a="http://schemas.openxmlformats.org/drawingml/2006/main">
            <a:off x="5638800" y="3762375"/>
            <a:ext cx="0" cy="447675"/>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1" name="">
            <a:extLst xmlns:a="http://schemas.openxmlformats.org/drawingml/2006/main">
              <a:ext uri="{FF2B5EF4-FFF2-40B4-BE49-F238E27FC236}">
                <a16:creationId xmlns:a16="http://schemas.microsoft.com/office/drawing/2014/main" id="{DCEF33C5-3AAD-4FC4-BDA0-B579EE9F4794}"/>
              </a:ext>
            </a:extLst>
          </p:cNvPr>
          <p:cNvSpPr>
            <a:spLocks xmlns:a="http://schemas.openxmlformats.org/drawingml/2006/main" noGrp="1"/>
          </p:cNvSpPr>
          <p:nvPr/>
        </p:nvSpPr>
        <p:spPr>
          <a:xfrm xmlns:a="http://schemas.openxmlformats.org/drawingml/2006/main">
            <a:off x="2876550" y="4210050"/>
            <a:ext cx="5286375" cy="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2" name="">
            <a:extLst xmlns:a="http://schemas.openxmlformats.org/drawingml/2006/main">
              <a:ext uri="{FF2B5EF4-FFF2-40B4-BE49-F238E27FC236}">
                <a16:creationId xmlns:a16="http://schemas.microsoft.com/office/drawing/2014/main" id="{34B4E5A6-1CFD-496D-B7FB-08344B8B3BB1}"/>
              </a:ext>
            </a:extLst>
          </p:cNvPr>
          <p:cNvSpPr>
            <a:spLocks xmlns:a="http://schemas.openxmlformats.org/drawingml/2006/main" noGrp="1"/>
          </p:cNvSpPr>
          <p:nvPr/>
        </p:nvSpPr>
        <p:spPr>
          <a:xfrm xmlns:a="http://schemas.openxmlformats.org/drawingml/2006/main">
            <a:off x="2876550" y="4210050"/>
            <a:ext cx="0" cy="1714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3" name="">
            <a:extLst xmlns:a="http://schemas.openxmlformats.org/drawingml/2006/main">
              <a:ext uri="{FF2B5EF4-FFF2-40B4-BE49-F238E27FC236}">
                <a16:creationId xmlns:a16="http://schemas.microsoft.com/office/drawing/2014/main" id="{ED45786F-86FF-4C82-94A7-3C301C337BD4}"/>
              </a:ext>
            </a:extLst>
          </p:cNvPr>
          <p:cNvSpPr>
            <a:spLocks xmlns:a="http://schemas.openxmlformats.org/drawingml/2006/main" noGrp="1"/>
          </p:cNvSpPr>
          <p:nvPr/>
        </p:nvSpPr>
        <p:spPr>
          <a:xfrm xmlns:a="http://schemas.openxmlformats.org/drawingml/2006/main">
            <a:off x="2828925" y="4295775"/>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3CA0BAB6-696B-4B95-ACCE-D96D08E9B70A}"/>
              </a:ext>
            </a:extLst>
          </p:cNvPr>
          <p:cNvSpPr>
            <a:spLocks xmlns:a="http://schemas.openxmlformats.org/drawingml/2006/main" noGrp="1"/>
          </p:cNvSpPr>
          <p:nvPr/>
        </p:nvSpPr>
        <p:spPr>
          <a:xfrm xmlns:a="http://schemas.openxmlformats.org/drawingml/2006/main">
            <a:off x="4257675" y="4210050"/>
            <a:ext cx="0" cy="1714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5" name="">
            <a:extLst xmlns:a="http://schemas.openxmlformats.org/drawingml/2006/main">
              <a:ext uri="{FF2B5EF4-FFF2-40B4-BE49-F238E27FC236}">
                <a16:creationId xmlns:a16="http://schemas.microsoft.com/office/drawing/2014/main" id="{54E07103-E9E6-46FC-AFCB-B3BF2ED4F3AC}"/>
              </a:ext>
            </a:extLst>
          </p:cNvPr>
          <p:cNvSpPr>
            <a:spLocks xmlns:a="http://schemas.openxmlformats.org/drawingml/2006/main" noGrp="1"/>
          </p:cNvSpPr>
          <p:nvPr/>
        </p:nvSpPr>
        <p:spPr>
          <a:xfrm xmlns:a="http://schemas.openxmlformats.org/drawingml/2006/main">
            <a:off x="4210050" y="4295775"/>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A9B49578-8405-47DE-A08F-82A5C9E2825F}"/>
              </a:ext>
            </a:extLst>
          </p:cNvPr>
          <p:cNvSpPr>
            <a:spLocks xmlns:a="http://schemas.openxmlformats.org/drawingml/2006/main" noGrp="1"/>
          </p:cNvSpPr>
          <p:nvPr/>
        </p:nvSpPr>
        <p:spPr>
          <a:xfrm xmlns:a="http://schemas.openxmlformats.org/drawingml/2006/main">
            <a:off x="5638800" y="4210050"/>
            <a:ext cx="0" cy="1714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7" name="">
            <a:extLst xmlns:a="http://schemas.openxmlformats.org/drawingml/2006/main">
              <a:ext uri="{FF2B5EF4-FFF2-40B4-BE49-F238E27FC236}">
                <a16:creationId xmlns:a16="http://schemas.microsoft.com/office/drawing/2014/main" id="{2FAF0BB1-A6A2-412D-8E94-832D0FDCA85A}"/>
              </a:ext>
            </a:extLst>
          </p:cNvPr>
          <p:cNvSpPr>
            <a:spLocks xmlns:a="http://schemas.openxmlformats.org/drawingml/2006/main" noGrp="1"/>
          </p:cNvSpPr>
          <p:nvPr/>
        </p:nvSpPr>
        <p:spPr>
          <a:xfrm xmlns:a="http://schemas.openxmlformats.org/drawingml/2006/main">
            <a:off x="5591175" y="4295775"/>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4FBE3AAD-22E3-4AE8-8E7F-AB12D9C91169}"/>
              </a:ext>
            </a:extLst>
          </p:cNvPr>
          <p:cNvSpPr>
            <a:spLocks xmlns:a="http://schemas.openxmlformats.org/drawingml/2006/main" noGrp="1"/>
          </p:cNvSpPr>
          <p:nvPr/>
        </p:nvSpPr>
        <p:spPr>
          <a:xfrm xmlns:a="http://schemas.openxmlformats.org/drawingml/2006/main">
            <a:off x="7019925" y="4210050"/>
            <a:ext cx="0" cy="1714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9" name="">
            <a:extLst xmlns:a="http://schemas.openxmlformats.org/drawingml/2006/main">
              <a:ext uri="{FF2B5EF4-FFF2-40B4-BE49-F238E27FC236}">
                <a16:creationId xmlns:a16="http://schemas.microsoft.com/office/drawing/2014/main" id="{B2BF818B-F896-41A9-8DC3-4BAC935F8E30}"/>
              </a:ext>
            </a:extLst>
          </p:cNvPr>
          <p:cNvSpPr>
            <a:spLocks xmlns:a="http://schemas.openxmlformats.org/drawingml/2006/main" noGrp="1"/>
          </p:cNvSpPr>
          <p:nvPr/>
        </p:nvSpPr>
        <p:spPr>
          <a:xfrm xmlns:a="http://schemas.openxmlformats.org/drawingml/2006/main">
            <a:off x="6972300" y="4295775"/>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AEF3EEB6-6158-4949-9F90-4A4E438B961B}"/>
              </a:ext>
            </a:extLst>
          </p:cNvPr>
          <p:cNvSpPr>
            <a:spLocks xmlns:a="http://schemas.openxmlformats.org/drawingml/2006/main" noGrp="1"/>
          </p:cNvSpPr>
          <p:nvPr/>
        </p:nvSpPr>
        <p:spPr>
          <a:xfrm xmlns:a="http://schemas.openxmlformats.org/drawingml/2006/main">
            <a:off x="8162925" y="4210050"/>
            <a:ext cx="0" cy="1714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71" name="">
            <a:extLst xmlns:a="http://schemas.openxmlformats.org/drawingml/2006/main">
              <a:ext uri="{FF2B5EF4-FFF2-40B4-BE49-F238E27FC236}">
                <a16:creationId xmlns:a16="http://schemas.microsoft.com/office/drawing/2014/main" id="{148B13AA-FE40-47E9-BF9C-CF15B3044FA1}"/>
              </a:ext>
            </a:extLst>
          </p:cNvPr>
          <p:cNvSpPr>
            <a:spLocks xmlns:a="http://schemas.openxmlformats.org/drawingml/2006/main" noGrp="1"/>
          </p:cNvSpPr>
          <p:nvPr/>
        </p:nvSpPr>
        <p:spPr>
          <a:xfrm xmlns:a="http://schemas.openxmlformats.org/drawingml/2006/main">
            <a:off x="8115300" y="4295775"/>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BE6C1A95-DD29-4397-9DFD-EE8AD821183B}"/>
              </a:ext>
            </a:extLst>
          </p:cNvPr>
          <p:cNvSpPr>
            <a:spLocks xmlns:a="http://schemas.openxmlformats.org/drawingml/2006/main" noGrp="1"/>
          </p:cNvSpPr>
          <p:nvPr/>
        </p:nvSpPr>
        <p:spPr>
          <a:xfrm xmlns:a="http://schemas.openxmlformats.org/drawingml/2006/main">
            <a:off x="6238875" y="3448050"/>
            <a:ext cx="30480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3" name="">
            <a:extLst xmlns:a="http://schemas.openxmlformats.org/drawingml/2006/main">
              <a:ext uri="{FF2B5EF4-FFF2-40B4-BE49-F238E27FC236}">
                <a16:creationId xmlns:a16="http://schemas.microsoft.com/office/drawing/2014/main" id="{12675E50-B1D0-4B05-8ECC-D9A81F8B534C}"/>
              </a:ext>
            </a:extLst>
          </p:cNvPr>
          <p:cNvSpPr>
            <a:spLocks xmlns:a="http://schemas.openxmlformats.org/drawingml/2006/main" noGrp="1"/>
          </p:cNvSpPr>
          <p:nvPr/>
        </p:nvSpPr>
        <p:spPr>
          <a:xfrm xmlns:a="http://schemas.openxmlformats.org/drawingml/2006/main">
            <a:off x="9182100" y="3400425"/>
            <a:ext cx="104775" cy="104775"/>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7433A27-FABB-46AD-B91B-916405E9EFA6}"/>
              </a:ext>
            </a:extLst>
          </p:cNvPr>
          <p:cNvSpPr>
            <a:spLocks xmlns:a="http://schemas.openxmlformats.org/drawingml/2006/main" noGrp="1"/>
          </p:cNvSpPr>
          <p:nvPr/>
        </p:nvSpPr>
        <p:spPr>
          <a:xfrm xmlns:a="http://schemas.openxmlformats.org/drawingml/2006/main">
            <a:off x="10429875" y="2505075"/>
            <a:ext cx="0" cy="30480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5" name="">
            <a:extLst xmlns:a="http://schemas.openxmlformats.org/drawingml/2006/main">
              <a:ext uri="{FF2B5EF4-FFF2-40B4-BE49-F238E27FC236}">
                <a16:creationId xmlns:a16="http://schemas.microsoft.com/office/drawing/2014/main" id="{8184861A-A9DC-4C5C-9C19-F8A3D9549FE2}"/>
              </a:ext>
            </a:extLst>
          </p:cNvPr>
          <p:cNvSpPr>
            <a:spLocks xmlns:a="http://schemas.openxmlformats.org/drawingml/2006/main" noGrp="1"/>
          </p:cNvSpPr>
          <p:nvPr/>
        </p:nvSpPr>
        <p:spPr>
          <a:xfrm xmlns:a="http://schemas.openxmlformats.org/drawingml/2006/main">
            <a:off x="10382250" y="2695575"/>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C56B9242-2ED5-41B6-A820-67D5AB4EC6C8}"/>
              </a:ext>
            </a:extLst>
          </p:cNvPr>
          <p:cNvSpPr>
            <a:spLocks xmlns:a="http://schemas.openxmlformats.org/drawingml/2006/main" noGrp="1"/>
          </p:cNvSpPr>
          <p:nvPr/>
        </p:nvSpPr>
        <p:spPr>
          <a:xfrm xmlns:a="http://schemas.openxmlformats.org/drawingml/2006/main">
            <a:off x="10334625" y="4143375"/>
            <a:ext cx="1905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7" name="">
            <a:extLst xmlns:a="http://schemas.openxmlformats.org/drawingml/2006/main">
              <a:ext uri="{FF2B5EF4-FFF2-40B4-BE49-F238E27FC236}">
                <a16:creationId xmlns:a16="http://schemas.microsoft.com/office/drawing/2014/main" id="{F8FA55CE-D81A-4832-9EA3-D6A9B3BD0951}"/>
              </a:ext>
            </a:extLst>
          </p:cNvPr>
          <p:cNvSpPr>
            <a:spLocks xmlns:a="http://schemas.openxmlformats.org/drawingml/2006/main" noGrp="1"/>
          </p:cNvSpPr>
          <p:nvPr/>
        </p:nvSpPr>
        <p:spPr>
          <a:xfrm xmlns:a="http://schemas.openxmlformats.org/drawingml/2006/main">
            <a:off x="10429875" y="4095750"/>
            <a:ext cx="104775" cy="104775"/>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FD8BD339-AF74-428A-9E30-02A5A5FA65F4}"/>
              </a:ext>
            </a:extLst>
          </p:cNvPr>
          <p:cNvSpPr>
            <a:spLocks xmlns:a="http://schemas.openxmlformats.org/drawingml/2006/main" noGrp="1"/>
          </p:cNvSpPr>
          <p:nvPr/>
        </p:nvSpPr>
        <p:spPr>
          <a:xfrm xmlns:a="http://schemas.openxmlformats.org/drawingml/2006/main">
            <a:off x="7477125" y="3495675"/>
            <a:ext cx="819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73559B"/>
                </a:solidFill>
                <a:latin typeface="Arial"/>
                <a:ea typeface="Arial"/>
                <a:cs typeface="Arial"/>
              </a:defRPr>
            </a:pPr>
            <a:r>
              <a:rPr sz="675" b="1">
                <a:solidFill>
                  <a:srgbClr val="73559B"/>
                </a:solidFill>
                <a:latin typeface="Arial"/>
                <a:ea typeface="Arial"/>
                <a:cs typeface="Arial"/>
              </a:rPr>
              <a:t>source request</a:t>
            </a:r>
          </a:p>
        </p:txBody>
      </p:sp>
    </p:spTree>
    <p:extLst>
      <p:ext uri="{BB962C8B-B14F-4D97-AF65-F5344CB8AC3E}">
        <p14:creationId xmlns:p14="http://schemas.microsoft.com/office/powerpoint/2010/main" val="13632413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164DF34-35CA-4B94-9CE6-058A6D79A3DB}"/>
              </a:ext>
            </a:extLst>
          </p:cNvPr>
          <p:cNvSpPr>
            <a:spLocks xmlns:a="http://schemas.openxmlformats.org/drawingml/2006/main" noGrp="1"/>
          </p:cNvSpPr>
          <p:nvPr/>
        </p:nvSpPr>
        <p:spPr>
          <a:xfrm xmlns:a="http://schemas.openxmlformats.org/drawingml/2006/main">
            <a:off x="400050" y="2476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6324F"/>
                </a:solidFill>
                <a:latin typeface="Arial"/>
                <a:ea typeface="Arial"/>
                <a:cs typeface="Arial"/>
              </a:defRPr>
            </a:pPr>
            <a:r>
              <a:rPr sz="1125" b="1">
                <a:solidFill>
                  <a:srgbClr val="16324F"/>
                </a:solidFill>
                <a:latin typeface="Arial"/>
                <a:ea typeface="Arial"/>
                <a:cs typeface="Arial"/>
              </a:rPr>
              <a:t>BIDSURE</a:t>
            </a:r>
          </a:p>
        </p:txBody>
      </p:sp>
      <p:sp>
        <p:nvSpPr>
          <p:cNvPr id="2" name="">
            <a:extLst xmlns:a="http://schemas.openxmlformats.org/drawingml/2006/main">
              <a:ext uri="{FF2B5EF4-FFF2-40B4-BE49-F238E27FC236}">
                <a16:creationId xmlns:a16="http://schemas.microsoft.com/office/drawing/2014/main" id="{FFA036B2-8693-4235-8C00-92968CDFD557}"/>
              </a:ext>
            </a:extLst>
          </p:cNvPr>
          <p:cNvSpPr>
            <a:spLocks xmlns:a="http://schemas.openxmlformats.org/drawingml/2006/main" noGrp="1"/>
          </p:cNvSpPr>
          <p:nvPr/>
        </p:nvSpPr>
        <p:spPr>
          <a:xfrm xmlns:a="http://schemas.openxmlformats.org/drawingml/2006/main">
            <a:off x="400050" y="5048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75" b="1">
                <a:solidFill>
                  <a:srgbClr val="1B2936"/>
                </a:solidFill>
                <a:latin typeface="Arial"/>
                <a:ea typeface="Arial"/>
                <a:cs typeface="Arial"/>
              </a:defRPr>
            </a:pPr>
            <a:r>
              <a:rPr sz="2175" b="1">
                <a:solidFill>
                  <a:srgbClr val="1B2936"/>
                </a:solidFill>
                <a:latin typeface="Arial"/>
                <a:ea typeface="Arial"/>
                <a:cs typeface="Arial"/>
              </a:rPr>
              <a:t>Bid Processing and Verification Workflow</a:t>
            </a:r>
          </a:p>
        </p:txBody>
      </p:sp>
      <p:sp>
        <p:nvSpPr>
          <p:cNvPr id="3" name="">
            <a:extLst xmlns:a="http://schemas.openxmlformats.org/drawingml/2006/main">
              <a:ext uri="{FF2B5EF4-FFF2-40B4-BE49-F238E27FC236}">
                <a16:creationId xmlns:a16="http://schemas.microsoft.com/office/drawing/2014/main" id="{66B668FB-3671-42AA-B454-31345720011E}"/>
              </a:ext>
            </a:extLst>
          </p:cNvPr>
          <p:cNvSpPr>
            <a:spLocks xmlns:a="http://schemas.openxmlformats.org/drawingml/2006/main" noGrp="1"/>
          </p:cNvSpPr>
          <p:nvPr/>
        </p:nvSpPr>
        <p:spPr>
          <a:xfrm xmlns:a="http://schemas.openxmlformats.org/drawingml/2006/main">
            <a:off x="419100" y="9334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0">
                <a:solidFill>
                  <a:srgbClr val="52616B"/>
                </a:solidFill>
                <a:latin typeface="Arial"/>
                <a:ea typeface="Arial"/>
                <a:cs typeface="Arial"/>
              </a:defRPr>
            </a:pPr>
            <a:r>
              <a:rPr sz="900" b="0">
                <a:solidFill>
                  <a:srgbClr val="52616B"/>
                </a:solidFill>
                <a:latin typeface="Arial"/>
                <a:ea typeface="Arial"/>
                <a:cs typeface="Arial"/>
              </a:rPr>
              <a:t>The platform keeps every stage visible so officers can understand what happened, why it happened and what requires action</a:t>
            </a:r>
          </a:p>
        </p:txBody>
      </p:sp>
      <p:sp>
        <p:nvSpPr>
          <p:cNvPr id="4" name="">
            <a:extLst xmlns:a="http://schemas.openxmlformats.org/drawingml/2006/main">
              <a:ext uri="{FF2B5EF4-FFF2-40B4-BE49-F238E27FC236}">
                <a16:creationId xmlns:a16="http://schemas.microsoft.com/office/drawing/2014/main" id="{E661402C-4D33-4274-BB20-EF199C12EEEC}"/>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8EA1AC"/>
            </a:solidFill>
            <a:prstDash val="solid"/>
          </a:ln>
        </p:spPr>
      </p:sp>
      <p:sp>
        <p:nvSpPr>
          <p:cNvPr id="5" name="">
            <a:extLst xmlns:a="http://schemas.openxmlformats.org/drawingml/2006/main">
              <a:ext uri="{FF2B5EF4-FFF2-40B4-BE49-F238E27FC236}">
                <a16:creationId xmlns:a16="http://schemas.microsoft.com/office/drawing/2014/main" id="{A15DC72C-A67C-45B9-8626-02DA8ECD7B61}"/>
              </a:ext>
            </a:extLst>
          </p:cNvPr>
          <p:cNvSpPr>
            <a:spLocks xmlns:a="http://schemas.openxmlformats.org/drawingml/2006/main" noGrp="1"/>
          </p:cNvSpPr>
          <p:nvPr/>
        </p:nvSpPr>
        <p:spPr>
          <a:xfrm xmlns:a="http://schemas.openxmlformats.org/drawingml/2006/main">
            <a:off x="400050" y="654367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SIH26100 | Architecture set 2 of 5</a:t>
            </a:r>
          </a:p>
        </p:txBody>
      </p:sp>
      <p:sp>
        <p:nvSpPr>
          <p:cNvPr id="6" name="">
            <a:extLst xmlns:a="http://schemas.openxmlformats.org/drawingml/2006/main">
              <a:ext uri="{FF2B5EF4-FFF2-40B4-BE49-F238E27FC236}">
                <a16:creationId xmlns:a16="http://schemas.microsoft.com/office/drawing/2014/main" id="{21A9C0FB-C4C4-47EC-ABF8-A7393FCB52B8}"/>
              </a:ext>
            </a:extLst>
          </p:cNvPr>
          <p:cNvSpPr>
            <a:spLocks xmlns:a="http://schemas.openxmlformats.org/drawingml/2006/main" noGrp="1"/>
          </p:cNvSpPr>
          <p:nvPr/>
        </p:nvSpPr>
        <p:spPr>
          <a:xfrm xmlns:a="http://schemas.openxmlformats.org/drawingml/2006/main">
            <a:off x="9601200" y="6543675"/>
            <a:ext cx="2190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Node.js + Express + TypeScript</a:t>
            </a:r>
          </a:p>
        </p:txBody>
      </p:sp>
      <p:sp>
        <p:nvSpPr>
          <p:cNvPr id="7" name="">
            <a:extLst xmlns:a="http://schemas.openxmlformats.org/drawingml/2006/main">
              <a:ext uri="{FF2B5EF4-FFF2-40B4-BE49-F238E27FC236}">
                <a16:creationId xmlns:a16="http://schemas.microsoft.com/office/drawing/2014/main" id="{1DA7C254-4DBF-4323-9293-9CEC7908447F}"/>
              </a:ext>
            </a:extLst>
          </p:cNvPr>
          <p:cNvSpPr>
            <a:spLocks xmlns:a="http://schemas.openxmlformats.org/drawingml/2006/main" noGrp="1"/>
          </p:cNvSpPr>
          <p:nvPr/>
        </p:nvSpPr>
        <p:spPr>
          <a:xfrm xmlns:a="http://schemas.openxmlformats.org/drawingml/2006/main">
            <a:off x="514350" y="15621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C9921E"/>
                </a:solidFill>
                <a:latin typeface="Arial"/>
                <a:ea typeface="Arial"/>
                <a:cs typeface="Arial"/>
              </a:defRPr>
            </a:pPr>
            <a:r>
              <a:rPr sz="900" b="1">
                <a:solidFill>
                  <a:srgbClr val="C9921E"/>
                </a:solidFill>
                <a:latin typeface="Arial"/>
                <a:ea typeface="Arial"/>
                <a:cs typeface="Arial"/>
              </a:rPr>
              <a:t>Bidder path</a:t>
            </a:r>
          </a:p>
        </p:txBody>
      </p:sp>
      <p:sp>
        <p:nvSpPr>
          <p:cNvPr id="8" name="">
            <a:extLst xmlns:a="http://schemas.openxmlformats.org/drawingml/2006/main">
              <a:ext uri="{FF2B5EF4-FFF2-40B4-BE49-F238E27FC236}">
                <a16:creationId xmlns:a16="http://schemas.microsoft.com/office/drawing/2014/main" id="{E58F5022-424E-45A7-B46B-131009E65ED1}"/>
              </a:ext>
            </a:extLst>
          </p:cNvPr>
          <p:cNvSpPr>
            <a:spLocks xmlns:a="http://schemas.openxmlformats.org/drawingml/2006/main" noGrp="1"/>
          </p:cNvSpPr>
          <p:nvPr/>
        </p:nvSpPr>
        <p:spPr>
          <a:xfrm xmlns:a="http://schemas.openxmlformats.org/drawingml/2006/main">
            <a:off x="514350" y="33718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2A9D8F"/>
                </a:solidFill>
                <a:latin typeface="Arial"/>
                <a:ea typeface="Arial"/>
                <a:cs typeface="Arial"/>
              </a:defRPr>
            </a:pPr>
            <a:r>
              <a:rPr sz="900" b="1">
                <a:solidFill>
                  <a:srgbClr val="2A9D8F"/>
                </a:solidFill>
                <a:latin typeface="Arial"/>
                <a:ea typeface="Arial"/>
                <a:cs typeface="Arial"/>
              </a:rPr>
              <a:t>System path</a:t>
            </a:r>
          </a:p>
        </p:txBody>
      </p:sp>
      <p:sp>
        <p:nvSpPr>
          <p:cNvPr id="9" name="">
            <a:extLst xmlns:a="http://schemas.openxmlformats.org/drawingml/2006/main">
              <a:ext uri="{FF2B5EF4-FFF2-40B4-BE49-F238E27FC236}">
                <a16:creationId xmlns:a16="http://schemas.microsoft.com/office/drawing/2014/main" id="{50EF08F4-4568-434F-8E30-FD19C0AEF4E1}"/>
              </a:ext>
            </a:extLst>
          </p:cNvPr>
          <p:cNvSpPr>
            <a:spLocks xmlns:a="http://schemas.openxmlformats.org/drawingml/2006/main" noGrp="1"/>
          </p:cNvSpPr>
          <p:nvPr/>
        </p:nvSpPr>
        <p:spPr>
          <a:xfrm xmlns:a="http://schemas.openxmlformats.org/drawingml/2006/main">
            <a:off x="514350" y="52387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4B88B5"/>
                </a:solidFill>
                <a:latin typeface="Arial"/>
                <a:ea typeface="Arial"/>
                <a:cs typeface="Arial"/>
              </a:defRPr>
            </a:pPr>
            <a:r>
              <a:rPr sz="900" b="1">
                <a:solidFill>
                  <a:srgbClr val="4B88B5"/>
                </a:solidFill>
                <a:latin typeface="Arial"/>
                <a:ea typeface="Arial"/>
                <a:cs typeface="Arial"/>
              </a:rPr>
              <a:t>Officer path</a:t>
            </a:r>
          </a:p>
        </p:txBody>
      </p:sp>
      <p:sp>
        <p:nvSpPr>
          <p:cNvPr id="10" name="">
            <a:extLst xmlns:a="http://schemas.openxmlformats.org/drawingml/2006/main">
              <a:ext uri="{FF2B5EF4-FFF2-40B4-BE49-F238E27FC236}">
                <a16:creationId xmlns:a16="http://schemas.microsoft.com/office/drawing/2014/main" id="{6A0CE980-E5DE-4562-8EC8-37CB8795A667}"/>
              </a:ext>
            </a:extLst>
          </p:cNvPr>
          <p:cNvSpPr>
            <a:spLocks xmlns:a="http://schemas.openxmlformats.org/drawingml/2006/main" noGrp="1"/>
          </p:cNvSpPr>
          <p:nvPr/>
        </p:nvSpPr>
        <p:spPr>
          <a:xfrm xmlns:a="http://schemas.openxmlformats.org/drawingml/2006/main">
            <a:off x="1619250" y="1476375"/>
            <a:ext cx="1428750" cy="666750"/>
          </a:xfrm>
          <a:prstGeom xmlns:a="http://schemas.openxmlformats.org/drawingml/2006/main" prst="roundRect">
            <a:avLst>
              <a:gd name="adj" fmla="val 17143"/>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1  Register and authenticate</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OTP or SSO, organisation profile, user role</a:t>
            </a:r>
          </a:p>
        </p:txBody>
      </p:sp>
      <p:sp>
        <p:nvSpPr>
          <p:cNvPr id="11" name="">
            <a:extLst xmlns:a="http://schemas.openxmlformats.org/drawingml/2006/main">
              <a:ext uri="{FF2B5EF4-FFF2-40B4-BE49-F238E27FC236}">
                <a16:creationId xmlns:a16="http://schemas.microsoft.com/office/drawing/2014/main" id="{D3BF0812-0E33-4C1E-BBAC-9CF5538F0F9F}"/>
              </a:ext>
            </a:extLst>
          </p:cNvPr>
          <p:cNvSpPr>
            <a:spLocks xmlns:a="http://schemas.openxmlformats.org/drawingml/2006/main" noGrp="1"/>
          </p:cNvSpPr>
          <p:nvPr/>
        </p:nvSpPr>
        <p:spPr>
          <a:xfrm xmlns:a="http://schemas.openxmlformats.org/drawingml/2006/main">
            <a:off x="3476625" y="1476375"/>
            <a:ext cx="1428750" cy="666750"/>
          </a:xfrm>
          <a:prstGeom xmlns:a="http://schemas.openxmlformats.org/drawingml/2006/main" prst="roundRect">
            <a:avLst>
              <a:gd name="adj" fmla="val 17143"/>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2  Create tender workspace</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Tender version, clauses, documents and corrigenda</a:t>
            </a:r>
          </a:p>
        </p:txBody>
      </p:sp>
      <p:sp>
        <p:nvSpPr>
          <p:cNvPr id="12" name="">
            <a:extLst xmlns:a="http://schemas.openxmlformats.org/drawingml/2006/main">
              <a:ext uri="{FF2B5EF4-FFF2-40B4-BE49-F238E27FC236}">
                <a16:creationId xmlns:a16="http://schemas.microsoft.com/office/drawing/2014/main" id="{A8D10330-1BF4-4413-98AC-C3F3BB9BD7C0}"/>
              </a:ext>
            </a:extLst>
          </p:cNvPr>
          <p:cNvSpPr>
            <a:spLocks xmlns:a="http://schemas.openxmlformats.org/drawingml/2006/main" noGrp="1"/>
          </p:cNvSpPr>
          <p:nvPr/>
        </p:nvSpPr>
        <p:spPr>
          <a:xfrm xmlns:a="http://schemas.openxmlformats.org/drawingml/2006/main">
            <a:off x="5334000" y="1476375"/>
            <a:ext cx="1428750" cy="666750"/>
          </a:xfrm>
          <a:prstGeom xmlns:a="http://schemas.openxmlformats.org/drawingml/2006/main" prst="roundRect">
            <a:avLst>
              <a:gd name="adj" fmla="val 17143"/>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3  Submit bid package</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Documents, declarations, certificates and metadata</a:t>
            </a:r>
          </a:p>
        </p:txBody>
      </p:sp>
      <p:sp>
        <p:nvSpPr>
          <p:cNvPr id="13" name="">
            <a:extLst xmlns:a="http://schemas.openxmlformats.org/drawingml/2006/main">
              <a:ext uri="{FF2B5EF4-FFF2-40B4-BE49-F238E27FC236}">
                <a16:creationId xmlns:a16="http://schemas.microsoft.com/office/drawing/2014/main" id="{57DECD32-313A-403F-8E2C-7BBA7B3B19D6}"/>
              </a:ext>
            </a:extLst>
          </p:cNvPr>
          <p:cNvSpPr>
            <a:spLocks xmlns:a="http://schemas.openxmlformats.org/drawingml/2006/main" noGrp="1"/>
          </p:cNvSpPr>
          <p:nvPr/>
        </p:nvSpPr>
        <p:spPr>
          <a:xfrm xmlns:a="http://schemas.openxmlformats.org/drawingml/2006/main">
            <a:off x="7191375" y="1476375"/>
            <a:ext cx="1428750" cy="666750"/>
          </a:xfrm>
          <a:prstGeom xmlns:a="http://schemas.openxmlformats.org/drawingml/2006/main" prst="roundRect">
            <a:avLst>
              <a:gd name="adj" fmla="val 17143"/>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4  Pre-check status</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Bidder sees missing or expired documents before submission</a:t>
            </a:r>
          </a:p>
        </p:txBody>
      </p:sp>
      <p:sp>
        <p:nvSpPr>
          <p:cNvPr id="14" name="">
            <a:extLst xmlns:a="http://schemas.openxmlformats.org/drawingml/2006/main">
              <a:ext uri="{FF2B5EF4-FFF2-40B4-BE49-F238E27FC236}">
                <a16:creationId xmlns:a16="http://schemas.microsoft.com/office/drawing/2014/main" id="{93E51227-3E41-4C97-B848-075C85A3ECF5}"/>
              </a:ext>
            </a:extLst>
          </p:cNvPr>
          <p:cNvSpPr>
            <a:spLocks xmlns:a="http://schemas.openxmlformats.org/drawingml/2006/main" noGrp="1"/>
          </p:cNvSpPr>
          <p:nvPr/>
        </p:nvSpPr>
        <p:spPr>
          <a:xfrm xmlns:a="http://schemas.openxmlformats.org/drawingml/2006/main">
            <a:off x="3048000" y="1809750"/>
            <a:ext cx="42862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15" name="">
            <a:extLst xmlns:a="http://schemas.openxmlformats.org/drawingml/2006/main">
              <a:ext uri="{FF2B5EF4-FFF2-40B4-BE49-F238E27FC236}">
                <a16:creationId xmlns:a16="http://schemas.microsoft.com/office/drawing/2014/main" id="{A8DF7DF1-E1AD-497E-AB8C-20AAB225BEF6}"/>
              </a:ext>
            </a:extLst>
          </p:cNvPr>
          <p:cNvSpPr>
            <a:spLocks xmlns:a="http://schemas.openxmlformats.org/drawingml/2006/main" noGrp="1"/>
          </p:cNvSpPr>
          <p:nvPr/>
        </p:nvSpPr>
        <p:spPr>
          <a:xfrm xmlns:a="http://schemas.openxmlformats.org/drawingml/2006/main">
            <a:off x="3371850" y="1762125"/>
            <a:ext cx="104775" cy="104775"/>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3CD0433-686E-49B2-9ABE-39F55223E962}"/>
              </a:ext>
            </a:extLst>
          </p:cNvPr>
          <p:cNvSpPr>
            <a:spLocks xmlns:a="http://schemas.openxmlformats.org/drawingml/2006/main" noGrp="1"/>
          </p:cNvSpPr>
          <p:nvPr/>
        </p:nvSpPr>
        <p:spPr>
          <a:xfrm xmlns:a="http://schemas.openxmlformats.org/drawingml/2006/main">
            <a:off x="4905375" y="1809750"/>
            <a:ext cx="42862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17" name="">
            <a:extLst xmlns:a="http://schemas.openxmlformats.org/drawingml/2006/main">
              <a:ext uri="{FF2B5EF4-FFF2-40B4-BE49-F238E27FC236}">
                <a16:creationId xmlns:a16="http://schemas.microsoft.com/office/drawing/2014/main" id="{7E98CDFD-A13F-4DFB-8FFE-E97EB3E4AD1A}"/>
              </a:ext>
            </a:extLst>
          </p:cNvPr>
          <p:cNvSpPr>
            <a:spLocks xmlns:a="http://schemas.openxmlformats.org/drawingml/2006/main" noGrp="1"/>
          </p:cNvSpPr>
          <p:nvPr/>
        </p:nvSpPr>
        <p:spPr>
          <a:xfrm xmlns:a="http://schemas.openxmlformats.org/drawingml/2006/main">
            <a:off x="5229225" y="1762125"/>
            <a:ext cx="104775" cy="104775"/>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D1CD5C4-8EA8-452A-9817-EB7F689BAA73}"/>
              </a:ext>
            </a:extLst>
          </p:cNvPr>
          <p:cNvSpPr>
            <a:spLocks xmlns:a="http://schemas.openxmlformats.org/drawingml/2006/main" noGrp="1"/>
          </p:cNvSpPr>
          <p:nvPr/>
        </p:nvSpPr>
        <p:spPr>
          <a:xfrm xmlns:a="http://schemas.openxmlformats.org/drawingml/2006/main">
            <a:off x="6762750" y="1809750"/>
            <a:ext cx="42862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19" name="">
            <a:extLst xmlns:a="http://schemas.openxmlformats.org/drawingml/2006/main">
              <a:ext uri="{FF2B5EF4-FFF2-40B4-BE49-F238E27FC236}">
                <a16:creationId xmlns:a16="http://schemas.microsoft.com/office/drawing/2014/main" id="{7865864D-4A24-4550-A809-5BADF54FB1A9}"/>
              </a:ext>
            </a:extLst>
          </p:cNvPr>
          <p:cNvSpPr>
            <a:spLocks xmlns:a="http://schemas.openxmlformats.org/drawingml/2006/main" noGrp="1"/>
          </p:cNvSpPr>
          <p:nvPr/>
        </p:nvSpPr>
        <p:spPr>
          <a:xfrm xmlns:a="http://schemas.openxmlformats.org/drawingml/2006/main">
            <a:off x="7086600" y="1762125"/>
            <a:ext cx="104775" cy="104775"/>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6B38317-660D-4861-9BA4-28DD83BDDF47}"/>
              </a:ext>
            </a:extLst>
          </p:cNvPr>
          <p:cNvSpPr>
            <a:spLocks xmlns:a="http://schemas.openxmlformats.org/drawingml/2006/main" noGrp="1"/>
          </p:cNvSpPr>
          <p:nvPr/>
        </p:nvSpPr>
        <p:spPr>
          <a:xfrm xmlns:a="http://schemas.openxmlformats.org/drawingml/2006/main">
            <a:off x="1619250" y="3238500"/>
            <a:ext cx="1428750" cy="762000"/>
          </a:xfrm>
          <a:prstGeom xmlns:a="http://schemas.openxmlformats.org/drawingml/2006/main" prst="roundRect">
            <a:avLst>
              <a:gd name="adj" fmla="val 15000"/>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5  Intake and evidence creation</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Virus scan, file hash, OCR, document type, extracted fields</a:t>
            </a:r>
          </a:p>
        </p:txBody>
      </p:sp>
      <p:sp>
        <p:nvSpPr>
          <p:cNvPr id="21" name="">
            <a:extLst xmlns:a="http://schemas.openxmlformats.org/drawingml/2006/main">
              <a:ext uri="{FF2B5EF4-FFF2-40B4-BE49-F238E27FC236}">
                <a16:creationId xmlns:a16="http://schemas.microsoft.com/office/drawing/2014/main" id="{61FE7B70-DA51-4B1F-9474-459846A3CD95}"/>
              </a:ext>
            </a:extLst>
          </p:cNvPr>
          <p:cNvSpPr>
            <a:spLocks xmlns:a="http://schemas.openxmlformats.org/drawingml/2006/main" noGrp="1"/>
          </p:cNvSpPr>
          <p:nvPr/>
        </p:nvSpPr>
        <p:spPr>
          <a:xfrm xmlns:a="http://schemas.openxmlformats.org/drawingml/2006/main">
            <a:off x="3476625" y="3238500"/>
            <a:ext cx="1428750" cy="762000"/>
          </a:xfrm>
          <a:prstGeom xmlns:a="http://schemas.openxmlformats.org/drawingml/2006/main" prst="roundRect">
            <a:avLst>
              <a:gd name="adj" fmla="val 15000"/>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6  Source verification</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Mock or approved adapter returns normalised status and freshness</a:t>
            </a:r>
          </a:p>
        </p:txBody>
      </p:sp>
      <p:sp>
        <p:nvSpPr>
          <p:cNvPr id="22" name="">
            <a:extLst xmlns:a="http://schemas.openxmlformats.org/drawingml/2006/main">
              <a:ext uri="{FF2B5EF4-FFF2-40B4-BE49-F238E27FC236}">
                <a16:creationId xmlns:a16="http://schemas.microsoft.com/office/drawing/2014/main" id="{1CA21EE3-E8CC-4BE0-AEA8-543BEC8743BC}"/>
              </a:ext>
            </a:extLst>
          </p:cNvPr>
          <p:cNvSpPr>
            <a:spLocks xmlns:a="http://schemas.openxmlformats.org/drawingml/2006/main" noGrp="1"/>
          </p:cNvSpPr>
          <p:nvPr/>
        </p:nvSpPr>
        <p:spPr>
          <a:xfrm xmlns:a="http://schemas.openxmlformats.org/drawingml/2006/main">
            <a:off x="5334000" y="3238500"/>
            <a:ext cx="1428750" cy="762000"/>
          </a:xfrm>
          <a:prstGeom xmlns:a="http://schemas.openxmlformats.org/drawingml/2006/main" prst="roundRect">
            <a:avLst>
              <a:gd name="adj" fmla="val 15000"/>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7  Rule evaluation</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Tender requirement plus evidence plus source result</a:t>
            </a:r>
          </a:p>
        </p:txBody>
      </p:sp>
      <p:sp>
        <p:nvSpPr>
          <p:cNvPr id="23" name="">
            <a:extLst xmlns:a="http://schemas.openxmlformats.org/drawingml/2006/main">
              <a:ext uri="{FF2B5EF4-FFF2-40B4-BE49-F238E27FC236}">
                <a16:creationId xmlns:a16="http://schemas.microsoft.com/office/drawing/2014/main" id="{109ECF75-67D6-478C-96EC-A8B9C51C7345}"/>
              </a:ext>
            </a:extLst>
          </p:cNvPr>
          <p:cNvSpPr>
            <a:spLocks xmlns:a="http://schemas.openxmlformats.org/drawingml/2006/main" noGrp="1"/>
          </p:cNvSpPr>
          <p:nvPr/>
        </p:nvSpPr>
        <p:spPr>
          <a:xfrm xmlns:a="http://schemas.openxmlformats.org/drawingml/2006/main">
            <a:off x="7191375" y="3238500"/>
            <a:ext cx="1428750" cy="762000"/>
          </a:xfrm>
          <a:prstGeom xmlns:a="http://schemas.openxmlformats.org/drawingml/2006/main" prst="roundRect">
            <a:avLst>
              <a:gd name="adj" fmla="val 15000"/>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8  Risk and recommendation</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Pass, fail, pending or review required with reasons</a:t>
            </a:r>
          </a:p>
        </p:txBody>
      </p:sp>
      <p:sp>
        <p:nvSpPr>
          <p:cNvPr id="24" name="">
            <a:extLst xmlns:a="http://schemas.openxmlformats.org/drawingml/2006/main">
              <a:ext uri="{FF2B5EF4-FFF2-40B4-BE49-F238E27FC236}">
                <a16:creationId xmlns:a16="http://schemas.microsoft.com/office/drawing/2014/main" id="{F25D4B53-0A66-496F-B49C-7D5F56C6E374}"/>
              </a:ext>
            </a:extLst>
          </p:cNvPr>
          <p:cNvSpPr>
            <a:spLocks xmlns:a="http://schemas.openxmlformats.org/drawingml/2006/main" noGrp="1"/>
          </p:cNvSpPr>
          <p:nvPr/>
        </p:nvSpPr>
        <p:spPr>
          <a:xfrm xmlns:a="http://schemas.openxmlformats.org/drawingml/2006/main">
            <a:off x="3048000" y="3619500"/>
            <a:ext cx="42862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5" name="">
            <a:extLst xmlns:a="http://schemas.openxmlformats.org/drawingml/2006/main">
              <a:ext uri="{FF2B5EF4-FFF2-40B4-BE49-F238E27FC236}">
                <a16:creationId xmlns:a16="http://schemas.microsoft.com/office/drawing/2014/main" id="{494B4413-CF2D-4AAC-B1AA-A56649DF70A4}"/>
              </a:ext>
            </a:extLst>
          </p:cNvPr>
          <p:cNvSpPr>
            <a:spLocks xmlns:a="http://schemas.openxmlformats.org/drawingml/2006/main" noGrp="1"/>
          </p:cNvSpPr>
          <p:nvPr/>
        </p:nvSpPr>
        <p:spPr>
          <a:xfrm xmlns:a="http://schemas.openxmlformats.org/drawingml/2006/main">
            <a:off x="3371850" y="35718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464E564-5BA5-496E-9F9E-AF000383562B}"/>
              </a:ext>
            </a:extLst>
          </p:cNvPr>
          <p:cNvSpPr>
            <a:spLocks xmlns:a="http://schemas.openxmlformats.org/drawingml/2006/main" noGrp="1"/>
          </p:cNvSpPr>
          <p:nvPr/>
        </p:nvSpPr>
        <p:spPr>
          <a:xfrm xmlns:a="http://schemas.openxmlformats.org/drawingml/2006/main">
            <a:off x="4905375" y="3619500"/>
            <a:ext cx="42862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7" name="">
            <a:extLst xmlns:a="http://schemas.openxmlformats.org/drawingml/2006/main">
              <a:ext uri="{FF2B5EF4-FFF2-40B4-BE49-F238E27FC236}">
                <a16:creationId xmlns:a16="http://schemas.microsoft.com/office/drawing/2014/main" id="{A9D420F9-0411-4AEF-A38C-568CDFA16184}"/>
              </a:ext>
            </a:extLst>
          </p:cNvPr>
          <p:cNvSpPr>
            <a:spLocks xmlns:a="http://schemas.openxmlformats.org/drawingml/2006/main" noGrp="1"/>
          </p:cNvSpPr>
          <p:nvPr/>
        </p:nvSpPr>
        <p:spPr>
          <a:xfrm xmlns:a="http://schemas.openxmlformats.org/drawingml/2006/main">
            <a:off x="5229225" y="35718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E760B0E-3F26-4EEF-AB1A-2323994392B1}"/>
              </a:ext>
            </a:extLst>
          </p:cNvPr>
          <p:cNvSpPr>
            <a:spLocks xmlns:a="http://schemas.openxmlformats.org/drawingml/2006/main" noGrp="1"/>
          </p:cNvSpPr>
          <p:nvPr/>
        </p:nvSpPr>
        <p:spPr>
          <a:xfrm xmlns:a="http://schemas.openxmlformats.org/drawingml/2006/main">
            <a:off x="6762750" y="3619500"/>
            <a:ext cx="42862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9" name="">
            <a:extLst xmlns:a="http://schemas.openxmlformats.org/drawingml/2006/main">
              <a:ext uri="{FF2B5EF4-FFF2-40B4-BE49-F238E27FC236}">
                <a16:creationId xmlns:a16="http://schemas.microsoft.com/office/drawing/2014/main" id="{AC2F7ECB-56A1-46A6-BCA9-669ACAEDB273}"/>
              </a:ext>
            </a:extLst>
          </p:cNvPr>
          <p:cNvSpPr>
            <a:spLocks xmlns:a="http://schemas.openxmlformats.org/drawingml/2006/main" noGrp="1"/>
          </p:cNvSpPr>
          <p:nvPr/>
        </p:nvSpPr>
        <p:spPr>
          <a:xfrm xmlns:a="http://schemas.openxmlformats.org/drawingml/2006/main">
            <a:off x="7086600" y="35718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0FEC47C-50FD-4732-BA12-E4B4C80E3161}"/>
              </a:ext>
            </a:extLst>
          </p:cNvPr>
          <p:cNvSpPr>
            <a:spLocks xmlns:a="http://schemas.openxmlformats.org/drawingml/2006/main" noGrp="1"/>
          </p:cNvSpPr>
          <p:nvPr/>
        </p:nvSpPr>
        <p:spPr>
          <a:xfrm xmlns:a="http://schemas.openxmlformats.org/drawingml/2006/main">
            <a:off x="6048375" y="2143125"/>
            <a:ext cx="0" cy="904875"/>
          </a:xfrm>
          <a:prstGeom xmlns:a="http://schemas.openxmlformats.org/drawingml/2006/main" prst="line">
            <a:avLst/>
          </a:prstGeom>
          <a:noFill xmlns:a="http://schemas.openxmlformats.org/drawingml/2006/main"/>
          <a:ln xmlns:a="http://schemas.openxmlformats.org/drawingml/2006/main" w="19050">
            <a:solidFill>
              <a:srgbClr val="2A9D8F"/>
            </a:solidFill>
            <a:prstDash val="dash"/>
          </a:ln>
        </p:spPr>
      </p:sp>
      <p:sp>
        <p:nvSpPr>
          <p:cNvPr id="31" name="">
            <a:extLst xmlns:a="http://schemas.openxmlformats.org/drawingml/2006/main">
              <a:ext uri="{FF2B5EF4-FFF2-40B4-BE49-F238E27FC236}">
                <a16:creationId xmlns:a16="http://schemas.microsoft.com/office/drawing/2014/main" id="{6116447F-5F5F-42E3-99A0-1E7E904E820E}"/>
              </a:ext>
            </a:extLst>
          </p:cNvPr>
          <p:cNvSpPr>
            <a:spLocks xmlns:a="http://schemas.openxmlformats.org/drawingml/2006/main" noGrp="1"/>
          </p:cNvSpPr>
          <p:nvPr/>
        </p:nvSpPr>
        <p:spPr>
          <a:xfrm xmlns:a="http://schemas.openxmlformats.org/drawingml/2006/main">
            <a:off x="6000750" y="2933700"/>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3FBB39D-E6D7-4007-ADC0-C8E91FF4E367}"/>
              </a:ext>
            </a:extLst>
          </p:cNvPr>
          <p:cNvSpPr>
            <a:spLocks xmlns:a="http://schemas.openxmlformats.org/drawingml/2006/main" noGrp="1"/>
          </p:cNvSpPr>
          <p:nvPr/>
        </p:nvSpPr>
        <p:spPr>
          <a:xfrm xmlns:a="http://schemas.openxmlformats.org/drawingml/2006/main">
            <a:off x="3476625" y="5048250"/>
            <a:ext cx="1524000" cy="704850"/>
          </a:xfrm>
          <a:prstGeom xmlns:a="http://schemas.openxmlformats.org/drawingml/2006/main" prst="roundRect">
            <a:avLst>
              <a:gd name="adj" fmla="val 16216"/>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9  Officer evidence review</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Open source, document and rule evidence before deciding</a:t>
            </a:r>
          </a:p>
        </p:txBody>
      </p:sp>
      <p:sp>
        <p:nvSpPr>
          <p:cNvPr id="33" name="">
            <a:extLst xmlns:a="http://schemas.openxmlformats.org/drawingml/2006/main">
              <a:ext uri="{FF2B5EF4-FFF2-40B4-BE49-F238E27FC236}">
                <a16:creationId xmlns:a16="http://schemas.microsoft.com/office/drawing/2014/main" id="{ADCB1C3C-313F-4494-A610-5C4A492373D3}"/>
              </a:ext>
            </a:extLst>
          </p:cNvPr>
          <p:cNvSpPr>
            <a:spLocks xmlns:a="http://schemas.openxmlformats.org/drawingml/2006/main" noGrp="1"/>
          </p:cNvSpPr>
          <p:nvPr/>
        </p:nvSpPr>
        <p:spPr>
          <a:xfrm xmlns:a="http://schemas.openxmlformats.org/drawingml/2006/main">
            <a:off x="5429250" y="5048250"/>
            <a:ext cx="1524000" cy="704850"/>
          </a:xfrm>
          <a:prstGeom xmlns:a="http://schemas.openxmlformats.org/drawingml/2006/main" prst="roundRect">
            <a:avLst>
              <a:gd name="adj" fmla="val 16216"/>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10  Officer action</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Qualify, clarify, escalate or disqualify with reason</a:t>
            </a:r>
          </a:p>
        </p:txBody>
      </p:sp>
      <p:sp>
        <p:nvSpPr>
          <p:cNvPr id="34" name="">
            <a:extLst xmlns:a="http://schemas.openxmlformats.org/drawingml/2006/main">
              <a:ext uri="{FF2B5EF4-FFF2-40B4-BE49-F238E27FC236}">
                <a16:creationId xmlns:a16="http://schemas.microsoft.com/office/drawing/2014/main" id="{52175406-A8ED-4EEB-9460-A7500C2C4C53}"/>
              </a:ext>
            </a:extLst>
          </p:cNvPr>
          <p:cNvSpPr>
            <a:spLocks xmlns:a="http://schemas.openxmlformats.org/drawingml/2006/main" noGrp="1"/>
          </p:cNvSpPr>
          <p:nvPr/>
        </p:nvSpPr>
        <p:spPr>
          <a:xfrm xmlns:a="http://schemas.openxmlformats.org/drawingml/2006/main">
            <a:off x="7381875" y="5048250"/>
            <a:ext cx="1524000" cy="704850"/>
          </a:xfrm>
          <a:prstGeom xmlns:a="http://schemas.openxmlformats.org/drawingml/2006/main" prst="roundRect">
            <a:avLst>
              <a:gd name="adj" fmla="val 16216"/>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11  Audit and report</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Frozen decision input, event log and export</a:t>
            </a:r>
          </a:p>
        </p:txBody>
      </p:sp>
      <p:sp>
        <p:nvSpPr>
          <p:cNvPr id="35" name="">
            <a:extLst xmlns:a="http://schemas.openxmlformats.org/drawingml/2006/main">
              <a:ext uri="{FF2B5EF4-FFF2-40B4-BE49-F238E27FC236}">
                <a16:creationId xmlns:a16="http://schemas.microsoft.com/office/drawing/2014/main" id="{2C7B38E5-AE97-4475-B478-0B3D4185FA84}"/>
              </a:ext>
            </a:extLst>
          </p:cNvPr>
          <p:cNvSpPr>
            <a:spLocks xmlns:a="http://schemas.openxmlformats.org/drawingml/2006/main" noGrp="1"/>
          </p:cNvSpPr>
          <p:nvPr/>
        </p:nvSpPr>
        <p:spPr>
          <a:xfrm xmlns:a="http://schemas.openxmlformats.org/drawingml/2006/main">
            <a:off x="5000625" y="5400675"/>
            <a:ext cx="42862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36" name="">
            <a:extLst xmlns:a="http://schemas.openxmlformats.org/drawingml/2006/main">
              <a:ext uri="{FF2B5EF4-FFF2-40B4-BE49-F238E27FC236}">
                <a16:creationId xmlns:a16="http://schemas.microsoft.com/office/drawing/2014/main" id="{CE1968CA-E79F-4E85-9A10-76B31E260BB0}"/>
              </a:ext>
            </a:extLst>
          </p:cNvPr>
          <p:cNvSpPr>
            <a:spLocks xmlns:a="http://schemas.openxmlformats.org/drawingml/2006/main" noGrp="1"/>
          </p:cNvSpPr>
          <p:nvPr/>
        </p:nvSpPr>
        <p:spPr>
          <a:xfrm xmlns:a="http://schemas.openxmlformats.org/drawingml/2006/main">
            <a:off x="5276850" y="5353050"/>
            <a:ext cx="104775" cy="104775"/>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D76D672-20BC-491A-B427-DA3E469D10DE}"/>
              </a:ext>
            </a:extLst>
          </p:cNvPr>
          <p:cNvSpPr>
            <a:spLocks xmlns:a="http://schemas.openxmlformats.org/drawingml/2006/main" noGrp="1"/>
          </p:cNvSpPr>
          <p:nvPr/>
        </p:nvSpPr>
        <p:spPr>
          <a:xfrm xmlns:a="http://schemas.openxmlformats.org/drawingml/2006/main">
            <a:off x="6953250" y="5400675"/>
            <a:ext cx="42862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38" name="">
            <a:extLst xmlns:a="http://schemas.openxmlformats.org/drawingml/2006/main">
              <a:ext uri="{FF2B5EF4-FFF2-40B4-BE49-F238E27FC236}">
                <a16:creationId xmlns:a16="http://schemas.microsoft.com/office/drawing/2014/main" id="{46408B4C-F6D5-4C24-9E02-ED799D2D4490}"/>
              </a:ext>
            </a:extLst>
          </p:cNvPr>
          <p:cNvSpPr>
            <a:spLocks xmlns:a="http://schemas.openxmlformats.org/drawingml/2006/main" noGrp="1"/>
          </p:cNvSpPr>
          <p:nvPr/>
        </p:nvSpPr>
        <p:spPr>
          <a:xfrm xmlns:a="http://schemas.openxmlformats.org/drawingml/2006/main">
            <a:off x="7229475" y="5353050"/>
            <a:ext cx="104775" cy="104775"/>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8ED7313-87D4-4854-9C6F-7A17D9A75841}"/>
              </a:ext>
            </a:extLst>
          </p:cNvPr>
          <p:cNvSpPr>
            <a:spLocks xmlns:a="http://schemas.openxmlformats.org/drawingml/2006/main" noGrp="1"/>
          </p:cNvSpPr>
          <p:nvPr/>
        </p:nvSpPr>
        <p:spPr>
          <a:xfrm xmlns:a="http://schemas.openxmlformats.org/drawingml/2006/main">
            <a:off x="7905750" y="4000500"/>
            <a:ext cx="0" cy="857250"/>
          </a:xfrm>
          <a:prstGeom xmlns:a="http://schemas.openxmlformats.org/drawingml/2006/main" prst="line">
            <a:avLst/>
          </a:prstGeom>
          <a:noFill xmlns:a="http://schemas.openxmlformats.org/drawingml/2006/main"/>
          <a:ln xmlns:a="http://schemas.openxmlformats.org/drawingml/2006/main" w="19050">
            <a:solidFill>
              <a:srgbClr val="4B88B5"/>
            </a:solidFill>
            <a:prstDash val="dash"/>
          </a:ln>
        </p:spPr>
      </p:sp>
      <p:sp>
        <p:nvSpPr>
          <p:cNvPr id="40" name="">
            <a:extLst xmlns:a="http://schemas.openxmlformats.org/drawingml/2006/main">
              <a:ext uri="{FF2B5EF4-FFF2-40B4-BE49-F238E27FC236}">
                <a16:creationId xmlns:a16="http://schemas.microsoft.com/office/drawing/2014/main" id="{1D45460A-BFCD-490B-9278-5615D6249B4B}"/>
              </a:ext>
            </a:extLst>
          </p:cNvPr>
          <p:cNvSpPr>
            <a:spLocks xmlns:a="http://schemas.openxmlformats.org/drawingml/2006/main" noGrp="1"/>
          </p:cNvSpPr>
          <p:nvPr/>
        </p:nvSpPr>
        <p:spPr>
          <a:xfrm xmlns:a="http://schemas.openxmlformats.org/drawingml/2006/main">
            <a:off x="7858125" y="4743450"/>
            <a:ext cx="104775" cy="104775"/>
          </a:xfrm>
          <a:prstGeom xmlns:a="http://schemas.openxmlformats.org/drawingml/2006/main" prst="downArrow">
            <a:avLst/>
          </a:prstGeom>
          <a:solidFill xmlns:a="http://schemas.openxmlformats.org/drawingml/2006/main">
            <a:srgbClr val="4B88B5"/>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63E90BE-8ABB-4086-825E-7275AEFA5B82}"/>
              </a:ext>
            </a:extLst>
          </p:cNvPr>
          <p:cNvSpPr>
            <a:spLocks xmlns:a="http://schemas.openxmlformats.org/drawingml/2006/main" noGrp="1"/>
          </p:cNvSpPr>
          <p:nvPr/>
        </p:nvSpPr>
        <p:spPr>
          <a:xfrm xmlns:a="http://schemas.openxmlformats.org/drawingml/2006/main">
            <a:off x="9191625" y="1428750"/>
            <a:ext cx="2571750" cy="4333875"/>
          </a:xfrm>
          <a:prstGeom xmlns:a="http://schemas.openxmlformats.org/drawingml/2006/main" prst="roundRect">
            <a:avLst>
              <a:gd name="adj" fmla="val 4444"/>
            </a:avLst>
          </a:prstGeom>
          <a:solidFill xmlns:a="http://schemas.openxmlformats.org/drawingml/2006/main">
            <a:srgbClr val="F5F8FA"/>
          </a:solidFill>
          <a:ln xmlns:a="http://schemas.openxmlformats.org/drawingml/2006/main" w="14288">
            <a:solidFill>
              <a:srgbClr val="45606E"/>
            </a:solidFill>
            <a:prstDash val="solid"/>
          </a:ln>
        </p:spPr>
        <p:txBody>
          <a:bodyPr xmlns:a="http://schemas.openxmlformats.org/drawingml/2006/main"/>
          <a:lstStyle xmlns:a="http://schemas.openxmlformats.org/drawingml/2006/main"/>
          <a:p xmlns:a="http://schemas.openxmlformats.org/drawingml/2006/main">
            <a:pPr>
              <a:defRPr sz="900" b="1">
                <a:solidFill>
                  <a:srgbClr val="45606E"/>
                </a:solidFill>
                <a:latin typeface="Arial"/>
                <a:ea typeface="Arial"/>
                <a:cs typeface="Arial"/>
              </a:defRPr>
            </a:pPr>
            <a:r>
              <a:rPr sz="900" b="1">
                <a:solidFill>
                  <a:srgbClr val="45606E"/>
                </a:solidFill>
                <a:latin typeface="Arial"/>
                <a:ea typeface="Arial"/>
                <a:cs typeface="Arial"/>
              </a:rPr>
              <a:t>CONDITIONS AND EXCEPTIONS</a:t>
            </a:r>
          </a:p>
        </p:txBody>
      </p:sp>
      <p:sp>
        <p:nvSpPr>
          <p:cNvPr id="42" name="">
            <a:extLst xmlns:a="http://schemas.openxmlformats.org/drawingml/2006/main">
              <a:ext uri="{FF2B5EF4-FFF2-40B4-BE49-F238E27FC236}">
                <a16:creationId xmlns:a16="http://schemas.microsoft.com/office/drawing/2014/main" id="{E622F0D3-6BB6-48A8-8123-00B01DA25EC3}"/>
              </a:ext>
            </a:extLst>
          </p:cNvPr>
          <p:cNvSpPr>
            <a:spLocks xmlns:a="http://schemas.openxmlformats.org/drawingml/2006/main" noGrp="1"/>
          </p:cNvSpPr>
          <p:nvPr/>
        </p:nvSpPr>
        <p:spPr>
          <a:xfrm xmlns:a="http://schemas.openxmlformats.org/drawingml/2006/main">
            <a:off x="9429750" y="1952625"/>
            <a:ext cx="2095500" cy="600075"/>
          </a:xfrm>
          <a:prstGeom xmlns:a="http://schemas.openxmlformats.org/drawingml/2006/main" prst="roundRect">
            <a:avLst>
              <a:gd name="adj" fmla="val 19048"/>
            </a:avLst>
          </a:prstGeom>
          <a:solidFill xmlns:a="http://schemas.openxmlformats.org/drawingml/2006/main">
            <a:srgbClr val="FBE7E8"/>
          </a:solidFill>
          <a:ln xmlns:a="http://schemas.openxmlformats.org/drawingml/2006/main" w="14288">
            <a:solidFill>
              <a:srgbClr val="B65A5A"/>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Low OCR confidence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Route to manual evidence correction. Do not evaluate uncertain values as a pass.</a:t>
            </a:r>
          </a:p>
        </p:txBody>
      </p:sp>
      <p:sp>
        <p:nvSpPr>
          <p:cNvPr id="43" name="">
            <a:extLst xmlns:a="http://schemas.openxmlformats.org/drawingml/2006/main">
              <a:ext uri="{FF2B5EF4-FFF2-40B4-BE49-F238E27FC236}">
                <a16:creationId xmlns:a16="http://schemas.microsoft.com/office/drawing/2014/main" id="{BE0FB294-AE19-4FAD-9338-8EC108A99AE8}"/>
              </a:ext>
            </a:extLst>
          </p:cNvPr>
          <p:cNvSpPr>
            <a:spLocks xmlns:a="http://schemas.openxmlformats.org/drawingml/2006/main" noGrp="1"/>
          </p:cNvSpPr>
          <p:nvPr/>
        </p:nvSpPr>
        <p:spPr>
          <a:xfrm xmlns:a="http://schemas.openxmlformats.org/drawingml/2006/main">
            <a:off x="9429750" y="2809875"/>
            <a:ext cx="2095500" cy="600075"/>
          </a:xfrm>
          <a:prstGeom xmlns:a="http://schemas.openxmlformats.org/drawingml/2006/main" prst="roundRect">
            <a:avLst>
              <a:gd name="adj" fmla="val 19048"/>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Source unavailable or rate limited</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Set Pending Re-verification. Retry under source policy.</a:t>
            </a:r>
          </a:p>
        </p:txBody>
      </p:sp>
      <p:sp>
        <p:nvSpPr>
          <p:cNvPr id="44" name="">
            <a:extLst xmlns:a="http://schemas.openxmlformats.org/drawingml/2006/main">
              <a:ext uri="{FF2B5EF4-FFF2-40B4-BE49-F238E27FC236}">
                <a16:creationId xmlns:a16="http://schemas.microsoft.com/office/drawing/2014/main" id="{DFA667B8-DA29-4E5E-8517-05CB00DC7685}"/>
              </a:ext>
            </a:extLst>
          </p:cNvPr>
          <p:cNvSpPr>
            <a:spLocks xmlns:a="http://schemas.openxmlformats.org/drawingml/2006/main" noGrp="1"/>
          </p:cNvSpPr>
          <p:nvPr/>
        </p:nvSpPr>
        <p:spPr>
          <a:xfrm xmlns:a="http://schemas.openxmlformats.org/drawingml/2006/main">
            <a:off x="9429750" y="3667125"/>
            <a:ext cx="2095500" cy="600075"/>
          </a:xfrm>
          <a:prstGeom xmlns:a="http://schemas.openxmlformats.org/drawingml/2006/main" prst="roundRect">
            <a:avLst>
              <a:gd name="adj" fmla="val 19048"/>
            </a:avLst>
          </a:prstGeom>
          <a:solidFill xmlns:a="http://schemas.openxmlformats.org/drawingml/2006/main">
            <a:srgbClr val="FBE7E8"/>
          </a:solidFill>
          <a:ln xmlns:a="http://schemas.openxmlformats.org/drawingml/2006/main" w="14288">
            <a:solidFill>
              <a:srgbClr val="B65A5A"/>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Mandatory requirement failed</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Show the rule, linked evidence and permitted officer action.</a:t>
            </a:r>
          </a:p>
        </p:txBody>
      </p:sp>
      <p:sp>
        <p:nvSpPr>
          <p:cNvPr id="45" name="">
            <a:extLst xmlns:a="http://schemas.openxmlformats.org/drawingml/2006/main">
              <a:ext uri="{FF2B5EF4-FFF2-40B4-BE49-F238E27FC236}">
                <a16:creationId xmlns:a16="http://schemas.microsoft.com/office/drawing/2014/main" id="{D3FAC502-4AC0-4D2D-ADEE-D2C9B4BC594A}"/>
              </a:ext>
            </a:extLst>
          </p:cNvPr>
          <p:cNvSpPr>
            <a:spLocks xmlns:a="http://schemas.openxmlformats.org/drawingml/2006/main" noGrp="1"/>
          </p:cNvSpPr>
          <p:nvPr/>
        </p:nvSpPr>
        <p:spPr>
          <a:xfrm xmlns:a="http://schemas.openxmlformats.org/drawingml/2006/main">
            <a:off x="9429750" y="4524375"/>
            <a:ext cx="2095500" cy="600075"/>
          </a:xfrm>
          <a:prstGeom xmlns:a="http://schemas.openxmlformats.org/drawingml/2006/main" prst="roundRect">
            <a:avLst>
              <a:gd name="adj" fmla="val 19048"/>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Data conflict</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Set Review Required. Preserve both sources and their timestamps.</a:t>
            </a:r>
          </a:p>
        </p:txBody>
      </p:sp>
    </p:spTree>
    <p:extLst>
      <p:ext uri="{BB962C8B-B14F-4D97-AF65-F5344CB8AC3E}">
        <p14:creationId xmlns:p14="http://schemas.microsoft.com/office/powerpoint/2010/main" val="12781381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4D52F2D-478B-4A41-BA55-D75E700344D1}"/>
              </a:ext>
            </a:extLst>
          </p:cNvPr>
          <p:cNvSpPr>
            <a:spLocks xmlns:a="http://schemas.openxmlformats.org/drawingml/2006/main" noGrp="1"/>
          </p:cNvSpPr>
          <p:nvPr/>
        </p:nvSpPr>
        <p:spPr>
          <a:xfrm xmlns:a="http://schemas.openxmlformats.org/drawingml/2006/main">
            <a:off x="400050" y="2476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6324F"/>
                </a:solidFill>
                <a:latin typeface="Arial"/>
                <a:ea typeface="Arial"/>
                <a:cs typeface="Arial"/>
              </a:defRPr>
            </a:pPr>
            <a:r>
              <a:rPr sz="1125" b="1">
                <a:solidFill>
                  <a:srgbClr val="16324F"/>
                </a:solidFill>
                <a:latin typeface="Arial"/>
                <a:ea typeface="Arial"/>
                <a:cs typeface="Arial"/>
              </a:rPr>
              <a:t>BIDSURE</a:t>
            </a:r>
          </a:p>
        </p:txBody>
      </p:sp>
      <p:sp>
        <p:nvSpPr>
          <p:cNvPr id="2" name="">
            <a:extLst xmlns:a="http://schemas.openxmlformats.org/drawingml/2006/main">
              <a:ext uri="{FF2B5EF4-FFF2-40B4-BE49-F238E27FC236}">
                <a16:creationId xmlns:a16="http://schemas.microsoft.com/office/drawing/2014/main" id="{523FACCC-E881-4D26-81A1-AA468EFEA4BE}"/>
              </a:ext>
            </a:extLst>
          </p:cNvPr>
          <p:cNvSpPr>
            <a:spLocks xmlns:a="http://schemas.openxmlformats.org/drawingml/2006/main" noGrp="1"/>
          </p:cNvSpPr>
          <p:nvPr/>
        </p:nvSpPr>
        <p:spPr>
          <a:xfrm xmlns:a="http://schemas.openxmlformats.org/drawingml/2006/main">
            <a:off x="400050" y="5048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75" b="1">
                <a:solidFill>
                  <a:srgbClr val="1B2936"/>
                </a:solidFill>
                <a:latin typeface="Arial"/>
                <a:ea typeface="Arial"/>
                <a:cs typeface="Arial"/>
              </a:defRPr>
            </a:pPr>
            <a:r>
              <a:rPr sz="2175" b="1">
                <a:solidFill>
                  <a:srgbClr val="1B2936"/>
                </a:solidFill>
                <a:latin typeface="Arial"/>
                <a:ea typeface="Arial"/>
                <a:cs typeface="Arial"/>
              </a:rPr>
              <a:t>AI and Document Intelligence Architecture</a:t>
            </a:r>
          </a:p>
        </p:txBody>
      </p:sp>
      <p:sp>
        <p:nvSpPr>
          <p:cNvPr id="3" name="">
            <a:extLst xmlns:a="http://schemas.openxmlformats.org/drawingml/2006/main">
              <a:ext uri="{FF2B5EF4-FFF2-40B4-BE49-F238E27FC236}">
                <a16:creationId xmlns:a16="http://schemas.microsoft.com/office/drawing/2014/main" id="{34F2F159-B72D-4A24-9924-74A85303EC18}"/>
              </a:ext>
            </a:extLst>
          </p:cNvPr>
          <p:cNvSpPr>
            <a:spLocks xmlns:a="http://schemas.openxmlformats.org/drawingml/2006/main" noGrp="1"/>
          </p:cNvSpPr>
          <p:nvPr/>
        </p:nvSpPr>
        <p:spPr>
          <a:xfrm xmlns:a="http://schemas.openxmlformats.org/drawingml/2006/main">
            <a:off x="419100" y="9334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0">
                <a:solidFill>
                  <a:srgbClr val="52616B"/>
                </a:solidFill>
                <a:latin typeface="Arial"/>
                <a:ea typeface="Arial"/>
                <a:cs typeface="Arial"/>
              </a:defRPr>
            </a:pPr>
            <a:r>
              <a:rPr sz="900" b="0">
                <a:solidFill>
                  <a:srgbClr val="52616B"/>
                </a:solidFill>
                <a:latin typeface="Arial"/>
                <a:ea typeface="Arial"/>
                <a:cs typeface="Arial"/>
              </a:rPr>
              <a:t>AI structures evidence and produces explanations. Rules and officers control the compliance outcome</a:t>
            </a:r>
          </a:p>
        </p:txBody>
      </p:sp>
      <p:sp>
        <p:nvSpPr>
          <p:cNvPr id="4" name="">
            <a:extLst xmlns:a="http://schemas.openxmlformats.org/drawingml/2006/main">
              <a:ext uri="{FF2B5EF4-FFF2-40B4-BE49-F238E27FC236}">
                <a16:creationId xmlns:a16="http://schemas.microsoft.com/office/drawing/2014/main" id="{DF7C7225-DE1C-4A1A-8A76-BBBE09858901}"/>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8EA1AC"/>
            </a:solidFill>
            <a:prstDash val="solid"/>
          </a:ln>
        </p:spPr>
      </p:sp>
      <p:sp>
        <p:nvSpPr>
          <p:cNvPr id="5" name="">
            <a:extLst xmlns:a="http://schemas.openxmlformats.org/drawingml/2006/main">
              <a:ext uri="{FF2B5EF4-FFF2-40B4-BE49-F238E27FC236}">
                <a16:creationId xmlns:a16="http://schemas.microsoft.com/office/drawing/2014/main" id="{524ACC04-3D5E-47DA-90F7-F4FFF44C46B8}"/>
              </a:ext>
            </a:extLst>
          </p:cNvPr>
          <p:cNvSpPr>
            <a:spLocks xmlns:a="http://schemas.openxmlformats.org/drawingml/2006/main" noGrp="1"/>
          </p:cNvSpPr>
          <p:nvPr/>
        </p:nvSpPr>
        <p:spPr>
          <a:xfrm xmlns:a="http://schemas.openxmlformats.org/drawingml/2006/main">
            <a:off x="400050" y="654367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SIH26100 | Architecture set 3 of 5</a:t>
            </a:r>
          </a:p>
        </p:txBody>
      </p:sp>
      <p:sp>
        <p:nvSpPr>
          <p:cNvPr id="6" name="">
            <a:extLst xmlns:a="http://schemas.openxmlformats.org/drawingml/2006/main">
              <a:ext uri="{FF2B5EF4-FFF2-40B4-BE49-F238E27FC236}">
                <a16:creationId xmlns:a16="http://schemas.microsoft.com/office/drawing/2014/main" id="{5CAE32D3-1264-439D-A56D-5FF51EE5864C}"/>
              </a:ext>
            </a:extLst>
          </p:cNvPr>
          <p:cNvSpPr>
            <a:spLocks xmlns:a="http://schemas.openxmlformats.org/drawingml/2006/main" noGrp="1"/>
          </p:cNvSpPr>
          <p:nvPr/>
        </p:nvSpPr>
        <p:spPr>
          <a:xfrm xmlns:a="http://schemas.openxmlformats.org/drawingml/2006/main">
            <a:off x="9601200" y="6543675"/>
            <a:ext cx="2190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Node.js + Express + TypeScript</a:t>
            </a:r>
          </a:p>
        </p:txBody>
      </p:sp>
      <p:sp>
        <p:nvSpPr>
          <p:cNvPr id="7" name="">
            <a:extLst xmlns:a="http://schemas.openxmlformats.org/drawingml/2006/main">
              <a:ext uri="{FF2B5EF4-FFF2-40B4-BE49-F238E27FC236}">
                <a16:creationId xmlns:a16="http://schemas.microsoft.com/office/drawing/2014/main" id="{D94EE817-C9A5-4066-BF70-0E014C30C407}"/>
              </a:ext>
            </a:extLst>
          </p:cNvPr>
          <p:cNvSpPr>
            <a:spLocks xmlns:a="http://schemas.openxmlformats.org/drawingml/2006/main" noGrp="1"/>
          </p:cNvSpPr>
          <p:nvPr/>
        </p:nvSpPr>
        <p:spPr>
          <a:xfrm xmlns:a="http://schemas.openxmlformats.org/drawingml/2006/main">
            <a:off x="400050" y="1428750"/>
            <a:ext cx="2095500" cy="4476750"/>
          </a:xfrm>
          <a:prstGeom xmlns:a="http://schemas.openxmlformats.org/drawingml/2006/main" prst="roundRect">
            <a:avLst>
              <a:gd name="adj" fmla="val 5455"/>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900" b="1">
                <a:solidFill>
                  <a:srgbClr val="C9921E"/>
                </a:solidFill>
                <a:latin typeface="Arial"/>
                <a:ea typeface="Arial"/>
                <a:cs typeface="Arial"/>
              </a:defRPr>
            </a:pPr>
            <a:r>
              <a:rPr sz="900" b="1">
                <a:solidFill>
                  <a:srgbClr val="C9921E"/>
                </a:solidFill>
                <a:latin typeface="Arial"/>
                <a:ea typeface="Arial"/>
                <a:cs typeface="Arial"/>
              </a:rPr>
              <a:t>UNTRUSTED INPUTS</a:t>
            </a:r>
          </a:p>
        </p:txBody>
      </p:sp>
      <p:sp>
        <p:nvSpPr>
          <p:cNvPr id="8" name="">
            <a:extLst xmlns:a="http://schemas.openxmlformats.org/drawingml/2006/main">
              <a:ext uri="{FF2B5EF4-FFF2-40B4-BE49-F238E27FC236}">
                <a16:creationId xmlns:a16="http://schemas.microsoft.com/office/drawing/2014/main" id="{5504B2FA-CF61-438F-85D5-D41EFE3A5867}"/>
              </a:ext>
            </a:extLst>
          </p:cNvPr>
          <p:cNvSpPr>
            <a:spLocks xmlns:a="http://schemas.openxmlformats.org/drawingml/2006/main" noGrp="1"/>
          </p:cNvSpPr>
          <p:nvPr/>
        </p:nvSpPr>
        <p:spPr>
          <a:xfrm xmlns:a="http://schemas.openxmlformats.org/drawingml/2006/main">
            <a:off x="647700" y="2000250"/>
            <a:ext cx="16002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Tender documents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ATC, STC, corrigenda and requirement clauses</a:t>
            </a:r>
          </a:p>
        </p:txBody>
      </p:sp>
      <p:sp>
        <p:nvSpPr>
          <p:cNvPr id="9" name="">
            <a:extLst xmlns:a="http://schemas.openxmlformats.org/drawingml/2006/main">
              <a:ext uri="{FF2B5EF4-FFF2-40B4-BE49-F238E27FC236}">
                <a16:creationId xmlns:a16="http://schemas.microsoft.com/office/drawing/2014/main" id="{CA9083DA-18EA-462C-9C91-D733A8AA69B4}"/>
              </a:ext>
            </a:extLst>
          </p:cNvPr>
          <p:cNvSpPr>
            <a:spLocks xmlns:a="http://schemas.openxmlformats.org/drawingml/2006/main" noGrp="1"/>
          </p:cNvSpPr>
          <p:nvPr/>
        </p:nvSpPr>
        <p:spPr>
          <a:xfrm xmlns:a="http://schemas.openxmlformats.org/drawingml/2006/main">
            <a:off x="647700" y="2857500"/>
            <a:ext cx="16002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Bidder documents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Certificates, declarations, authorisations and financial evidence</a:t>
            </a:r>
          </a:p>
        </p:txBody>
      </p:sp>
      <p:sp>
        <p:nvSpPr>
          <p:cNvPr id="10" name="">
            <a:extLst xmlns:a="http://schemas.openxmlformats.org/drawingml/2006/main">
              <a:ext uri="{FF2B5EF4-FFF2-40B4-BE49-F238E27FC236}">
                <a16:creationId xmlns:a16="http://schemas.microsoft.com/office/drawing/2014/main" id="{DE52D027-F8BD-4BDE-AC61-83FE76BF59E5}"/>
              </a:ext>
            </a:extLst>
          </p:cNvPr>
          <p:cNvSpPr>
            <a:spLocks xmlns:a="http://schemas.openxmlformats.org/drawingml/2006/main" noGrp="1"/>
          </p:cNvSpPr>
          <p:nvPr/>
        </p:nvSpPr>
        <p:spPr>
          <a:xfrm xmlns:a="http://schemas.openxmlformats.org/drawingml/2006/main">
            <a:off x="647700" y="3714750"/>
            <a:ext cx="16002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Source responses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Mock and provider responses in source-specific formats</a:t>
            </a:r>
          </a:p>
        </p:txBody>
      </p:sp>
      <p:sp>
        <p:nvSpPr>
          <p:cNvPr id="11" name="">
            <a:extLst xmlns:a="http://schemas.openxmlformats.org/drawingml/2006/main">
              <a:ext uri="{FF2B5EF4-FFF2-40B4-BE49-F238E27FC236}">
                <a16:creationId xmlns:a16="http://schemas.microsoft.com/office/drawing/2014/main" id="{912109F8-5133-4328-9EDA-7E383DBD4A72}"/>
              </a:ext>
            </a:extLst>
          </p:cNvPr>
          <p:cNvSpPr>
            <a:spLocks xmlns:a="http://schemas.openxmlformats.org/drawingml/2006/main" noGrp="1"/>
          </p:cNvSpPr>
          <p:nvPr/>
        </p:nvSpPr>
        <p:spPr>
          <a:xfrm xmlns:a="http://schemas.openxmlformats.org/drawingml/2006/main">
            <a:off x="647700" y="476250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Documents can contain misleading text. BidSure treats every uploaded document as data, never as instructions.</a:t>
            </a:r>
          </a:p>
        </p:txBody>
      </p:sp>
      <p:sp>
        <p:nvSpPr>
          <p:cNvPr id="12" name="">
            <a:extLst xmlns:a="http://schemas.openxmlformats.org/drawingml/2006/main">
              <a:ext uri="{FF2B5EF4-FFF2-40B4-BE49-F238E27FC236}">
                <a16:creationId xmlns:a16="http://schemas.microsoft.com/office/drawing/2014/main" id="{BC1BF0EA-F1B9-4EE2-8C66-6338E3F96B4B}"/>
              </a:ext>
            </a:extLst>
          </p:cNvPr>
          <p:cNvSpPr>
            <a:spLocks xmlns:a="http://schemas.openxmlformats.org/drawingml/2006/main" noGrp="1"/>
          </p:cNvSpPr>
          <p:nvPr/>
        </p:nvSpPr>
        <p:spPr>
          <a:xfrm xmlns:a="http://schemas.openxmlformats.org/drawingml/2006/main">
            <a:off x="2762250" y="1428750"/>
            <a:ext cx="5905500" cy="4476750"/>
          </a:xfrm>
          <a:prstGeom xmlns:a="http://schemas.openxmlformats.org/drawingml/2006/main" prst="roundRect">
            <a:avLst>
              <a:gd name="adj" fmla="val 2553"/>
            </a:avLst>
          </a:prstGeom>
          <a:solidFill xmlns:a="http://schemas.openxmlformats.org/drawingml/2006/main">
            <a:srgbClr val="F5F8FA"/>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900" b="1">
                <a:solidFill>
                  <a:srgbClr val="2A9D8F"/>
                </a:solidFill>
                <a:latin typeface="Arial"/>
                <a:ea typeface="Arial"/>
                <a:cs typeface="Arial"/>
              </a:defRPr>
            </a:pPr>
            <a:r>
              <a:rPr sz="900" b="1">
                <a:solidFill>
                  <a:srgbClr val="2A9D8F"/>
                </a:solidFill>
                <a:latin typeface="Arial"/>
                <a:ea typeface="Arial"/>
                <a:cs typeface="Arial"/>
              </a:rPr>
              <a:t>CONTROLLED AI AND EVIDENCE PIPELINE</a:t>
            </a:r>
          </a:p>
        </p:txBody>
      </p:sp>
      <p:sp>
        <p:nvSpPr>
          <p:cNvPr id="13" name="">
            <a:extLst xmlns:a="http://schemas.openxmlformats.org/drawingml/2006/main">
              <a:ext uri="{FF2B5EF4-FFF2-40B4-BE49-F238E27FC236}">
                <a16:creationId xmlns:a16="http://schemas.microsoft.com/office/drawing/2014/main" id="{22661446-F50F-4FB2-B822-F1F718A4EB5C}"/>
              </a:ext>
            </a:extLst>
          </p:cNvPr>
          <p:cNvSpPr>
            <a:spLocks xmlns:a="http://schemas.openxmlformats.org/drawingml/2006/main" noGrp="1"/>
          </p:cNvSpPr>
          <p:nvPr/>
        </p:nvSpPr>
        <p:spPr>
          <a:xfrm xmlns:a="http://schemas.openxmlformats.org/drawingml/2006/main">
            <a:off x="3048000" y="1952625"/>
            <a:ext cx="1190625" cy="666750"/>
          </a:xfrm>
          <a:prstGeom xmlns:a="http://schemas.openxmlformats.org/drawingml/2006/main" prst="roundRect">
            <a:avLst>
              <a:gd name="adj" fmla="val 17143"/>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File guard</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Type and size checks, virus scan, hash, object storage</a:t>
            </a:r>
          </a:p>
        </p:txBody>
      </p:sp>
      <p:sp>
        <p:nvSpPr>
          <p:cNvPr id="14" name="">
            <a:extLst xmlns:a="http://schemas.openxmlformats.org/drawingml/2006/main">
              <a:ext uri="{FF2B5EF4-FFF2-40B4-BE49-F238E27FC236}">
                <a16:creationId xmlns:a16="http://schemas.microsoft.com/office/drawing/2014/main" id="{E5B8D916-1DF9-4069-B37C-426BB077E121}"/>
              </a:ext>
            </a:extLst>
          </p:cNvPr>
          <p:cNvSpPr>
            <a:spLocks xmlns:a="http://schemas.openxmlformats.org/drawingml/2006/main" noGrp="1"/>
          </p:cNvSpPr>
          <p:nvPr/>
        </p:nvSpPr>
        <p:spPr>
          <a:xfrm xmlns:a="http://schemas.openxmlformats.org/drawingml/2006/main">
            <a:off x="4524375" y="1952625"/>
            <a:ext cx="1190625" cy="666750"/>
          </a:xfrm>
          <a:prstGeom xmlns:a="http://schemas.openxmlformats.org/drawingml/2006/main" prst="roundRect">
            <a:avLst>
              <a:gd name="adj" fmla="val 17143"/>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OCR worker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Page text, bounding boxes and confidence</a:t>
            </a:r>
          </a:p>
        </p:txBody>
      </p:sp>
      <p:sp>
        <p:nvSpPr>
          <p:cNvPr id="15" name="">
            <a:extLst xmlns:a="http://schemas.openxmlformats.org/drawingml/2006/main">
              <a:ext uri="{FF2B5EF4-FFF2-40B4-BE49-F238E27FC236}">
                <a16:creationId xmlns:a16="http://schemas.microsoft.com/office/drawing/2014/main" id="{1761EC90-5338-4DB4-951D-749C201811AD}"/>
              </a:ext>
            </a:extLst>
          </p:cNvPr>
          <p:cNvSpPr>
            <a:spLocks xmlns:a="http://schemas.openxmlformats.org/drawingml/2006/main" noGrp="1"/>
          </p:cNvSpPr>
          <p:nvPr/>
        </p:nvSpPr>
        <p:spPr>
          <a:xfrm xmlns:a="http://schemas.openxmlformats.org/drawingml/2006/main">
            <a:off x="6000750" y="1952625"/>
            <a:ext cx="1190625" cy="666750"/>
          </a:xfrm>
          <a:prstGeom xmlns:a="http://schemas.openxmlformats.org/drawingml/2006/main" prst="roundRect">
            <a:avLst>
              <a:gd name="adj" fmla="val 17143"/>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Classifier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Document type and issuer pattern</a:t>
            </a:r>
          </a:p>
        </p:txBody>
      </p:sp>
      <p:sp>
        <p:nvSpPr>
          <p:cNvPr id="16" name="">
            <a:extLst xmlns:a="http://schemas.openxmlformats.org/drawingml/2006/main">
              <a:ext uri="{FF2B5EF4-FFF2-40B4-BE49-F238E27FC236}">
                <a16:creationId xmlns:a16="http://schemas.microsoft.com/office/drawing/2014/main" id="{4181994A-4B6D-4503-B570-EEDDAEA3DFD9}"/>
              </a:ext>
            </a:extLst>
          </p:cNvPr>
          <p:cNvSpPr>
            <a:spLocks xmlns:a="http://schemas.openxmlformats.org/drawingml/2006/main" noGrp="1"/>
          </p:cNvSpPr>
          <p:nvPr/>
        </p:nvSpPr>
        <p:spPr>
          <a:xfrm xmlns:a="http://schemas.openxmlformats.org/drawingml/2006/main">
            <a:off x="7477125" y="1952625"/>
            <a:ext cx="904875" cy="666750"/>
          </a:xfrm>
          <a:prstGeom xmlns:a="http://schemas.openxmlformats.org/drawingml/2006/main" prst="roundRect">
            <a:avLst>
              <a:gd name="adj" fmla="val 17143"/>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LLM extraction</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Schema-only output</a:t>
            </a:r>
          </a:p>
        </p:txBody>
      </p:sp>
      <p:sp>
        <p:nvSpPr>
          <p:cNvPr id="17" name="">
            <a:extLst xmlns:a="http://schemas.openxmlformats.org/drawingml/2006/main">
              <a:ext uri="{FF2B5EF4-FFF2-40B4-BE49-F238E27FC236}">
                <a16:creationId xmlns:a16="http://schemas.microsoft.com/office/drawing/2014/main" id="{0642372C-D0FD-401C-89E7-FBBFADD6F0CF}"/>
              </a:ext>
            </a:extLst>
          </p:cNvPr>
          <p:cNvSpPr>
            <a:spLocks xmlns:a="http://schemas.openxmlformats.org/drawingml/2006/main" noGrp="1"/>
          </p:cNvSpPr>
          <p:nvPr/>
        </p:nvSpPr>
        <p:spPr>
          <a:xfrm xmlns:a="http://schemas.openxmlformats.org/drawingml/2006/main">
            <a:off x="4238625" y="2286000"/>
            <a:ext cx="285750"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18" name="">
            <a:extLst xmlns:a="http://schemas.openxmlformats.org/drawingml/2006/main">
              <a:ext uri="{FF2B5EF4-FFF2-40B4-BE49-F238E27FC236}">
                <a16:creationId xmlns:a16="http://schemas.microsoft.com/office/drawing/2014/main" id="{70C29FC8-3343-47A1-99D8-273010A1C652}"/>
              </a:ext>
            </a:extLst>
          </p:cNvPr>
          <p:cNvSpPr>
            <a:spLocks xmlns:a="http://schemas.openxmlformats.org/drawingml/2006/main" noGrp="1"/>
          </p:cNvSpPr>
          <p:nvPr/>
        </p:nvSpPr>
        <p:spPr>
          <a:xfrm xmlns:a="http://schemas.openxmlformats.org/drawingml/2006/main">
            <a:off x="4419600" y="22383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0EF566A-8050-48B4-ABCC-7AC9985E64A0}"/>
              </a:ext>
            </a:extLst>
          </p:cNvPr>
          <p:cNvSpPr>
            <a:spLocks xmlns:a="http://schemas.openxmlformats.org/drawingml/2006/main" noGrp="1"/>
          </p:cNvSpPr>
          <p:nvPr/>
        </p:nvSpPr>
        <p:spPr>
          <a:xfrm xmlns:a="http://schemas.openxmlformats.org/drawingml/2006/main">
            <a:off x="5715000" y="2286000"/>
            <a:ext cx="285750"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0" name="">
            <a:extLst xmlns:a="http://schemas.openxmlformats.org/drawingml/2006/main">
              <a:ext uri="{FF2B5EF4-FFF2-40B4-BE49-F238E27FC236}">
                <a16:creationId xmlns:a16="http://schemas.microsoft.com/office/drawing/2014/main" id="{250FAAD9-8A95-4226-9772-036CA6B881DD}"/>
              </a:ext>
            </a:extLst>
          </p:cNvPr>
          <p:cNvSpPr>
            <a:spLocks xmlns:a="http://schemas.openxmlformats.org/drawingml/2006/main" noGrp="1"/>
          </p:cNvSpPr>
          <p:nvPr/>
        </p:nvSpPr>
        <p:spPr>
          <a:xfrm xmlns:a="http://schemas.openxmlformats.org/drawingml/2006/main">
            <a:off x="5895975" y="22383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821CD0C-E773-4E08-8E56-F88CB1F24E9E}"/>
              </a:ext>
            </a:extLst>
          </p:cNvPr>
          <p:cNvSpPr>
            <a:spLocks xmlns:a="http://schemas.openxmlformats.org/drawingml/2006/main" noGrp="1"/>
          </p:cNvSpPr>
          <p:nvPr/>
        </p:nvSpPr>
        <p:spPr>
          <a:xfrm xmlns:a="http://schemas.openxmlformats.org/drawingml/2006/main">
            <a:off x="7191375" y="2286000"/>
            <a:ext cx="285750"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2" name="">
            <a:extLst xmlns:a="http://schemas.openxmlformats.org/drawingml/2006/main">
              <a:ext uri="{FF2B5EF4-FFF2-40B4-BE49-F238E27FC236}">
                <a16:creationId xmlns:a16="http://schemas.microsoft.com/office/drawing/2014/main" id="{51B21A68-38B6-412A-B5AC-29B2C4FAF7E2}"/>
              </a:ext>
            </a:extLst>
          </p:cNvPr>
          <p:cNvSpPr>
            <a:spLocks xmlns:a="http://schemas.openxmlformats.org/drawingml/2006/main" noGrp="1"/>
          </p:cNvSpPr>
          <p:nvPr/>
        </p:nvSpPr>
        <p:spPr>
          <a:xfrm xmlns:a="http://schemas.openxmlformats.org/drawingml/2006/main">
            <a:off x="7372350" y="22383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D8526D4-6362-48DD-A22E-3739092B03C6}"/>
              </a:ext>
            </a:extLst>
          </p:cNvPr>
          <p:cNvSpPr>
            <a:spLocks xmlns:a="http://schemas.openxmlformats.org/drawingml/2006/main" noGrp="1"/>
          </p:cNvSpPr>
          <p:nvPr/>
        </p:nvSpPr>
        <p:spPr>
          <a:xfrm xmlns:a="http://schemas.openxmlformats.org/drawingml/2006/main">
            <a:off x="3762375" y="3333750"/>
            <a:ext cx="1524000" cy="723900"/>
          </a:xfrm>
          <a:prstGeom xmlns:a="http://schemas.openxmlformats.org/drawingml/2006/main" prst="roundRect">
            <a:avLst>
              <a:gd name="adj" fmla="val 15789"/>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Evidence validator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Schema validation, confidence thresholds, entity matching and duplicate detection</a:t>
            </a:r>
          </a:p>
        </p:txBody>
      </p:sp>
      <p:sp>
        <p:nvSpPr>
          <p:cNvPr id="24" name="">
            <a:extLst xmlns:a="http://schemas.openxmlformats.org/drawingml/2006/main">
              <a:ext uri="{FF2B5EF4-FFF2-40B4-BE49-F238E27FC236}">
                <a16:creationId xmlns:a16="http://schemas.microsoft.com/office/drawing/2014/main" id="{7369699C-EB92-4743-8C85-66F132034440}"/>
              </a:ext>
            </a:extLst>
          </p:cNvPr>
          <p:cNvSpPr>
            <a:spLocks xmlns:a="http://schemas.openxmlformats.org/drawingml/2006/main" noGrp="1"/>
          </p:cNvSpPr>
          <p:nvPr/>
        </p:nvSpPr>
        <p:spPr>
          <a:xfrm xmlns:a="http://schemas.openxmlformats.org/drawingml/2006/main">
            <a:off x="5619750" y="3333750"/>
            <a:ext cx="1381125" cy="723900"/>
          </a:xfrm>
          <a:prstGeom xmlns:a="http://schemas.openxmlformats.org/drawingml/2006/main" prst="roundRect">
            <a:avLst>
              <a:gd name="adj" fmla="val 15789"/>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Evidence graph</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Requirement, field, page, source and confidence links</a:t>
            </a:r>
          </a:p>
        </p:txBody>
      </p:sp>
      <p:sp>
        <p:nvSpPr>
          <p:cNvPr id="25" name="">
            <a:extLst xmlns:a="http://schemas.openxmlformats.org/drawingml/2006/main">
              <a:ext uri="{FF2B5EF4-FFF2-40B4-BE49-F238E27FC236}">
                <a16:creationId xmlns:a16="http://schemas.microsoft.com/office/drawing/2014/main" id="{A6AFF67A-3DB5-46EB-8B87-63A75379884F}"/>
              </a:ext>
            </a:extLst>
          </p:cNvPr>
          <p:cNvSpPr>
            <a:spLocks xmlns:a="http://schemas.openxmlformats.org/drawingml/2006/main" noGrp="1"/>
          </p:cNvSpPr>
          <p:nvPr/>
        </p:nvSpPr>
        <p:spPr>
          <a:xfrm xmlns:a="http://schemas.openxmlformats.org/drawingml/2006/main">
            <a:off x="7334250" y="3333750"/>
            <a:ext cx="1047750" cy="723900"/>
          </a:xfrm>
          <a:prstGeom xmlns:a="http://schemas.openxmlformats.org/drawingml/2006/main" prst="roundRect">
            <a:avLst>
              <a:gd name="adj" fmla="val 15789"/>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Rule engine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Deterministic policy evaluation</a:t>
            </a:r>
          </a:p>
        </p:txBody>
      </p:sp>
      <p:sp>
        <p:nvSpPr>
          <p:cNvPr id="26" name="">
            <a:extLst xmlns:a="http://schemas.openxmlformats.org/drawingml/2006/main">
              <a:ext uri="{FF2B5EF4-FFF2-40B4-BE49-F238E27FC236}">
                <a16:creationId xmlns:a16="http://schemas.microsoft.com/office/drawing/2014/main" id="{81D0C193-8A5A-4F12-BEC1-3BFD27F69C56}"/>
              </a:ext>
            </a:extLst>
          </p:cNvPr>
          <p:cNvSpPr>
            <a:spLocks xmlns:a="http://schemas.openxmlformats.org/drawingml/2006/main" noGrp="1"/>
          </p:cNvSpPr>
          <p:nvPr/>
        </p:nvSpPr>
        <p:spPr>
          <a:xfrm xmlns:a="http://schemas.openxmlformats.org/drawingml/2006/main">
            <a:off x="7934325" y="2619375"/>
            <a:ext cx="0" cy="523875"/>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7" name="">
            <a:extLst xmlns:a="http://schemas.openxmlformats.org/drawingml/2006/main">
              <a:ext uri="{FF2B5EF4-FFF2-40B4-BE49-F238E27FC236}">
                <a16:creationId xmlns:a16="http://schemas.microsoft.com/office/drawing/2014/main" id="{5E4FD094-E71E-4923-9A0B-BF52430A06F4}"/>
              </a:ext>
            </a:extLst>
          </p:cNvPr>
          <p:cNvSpPr>
            <a:spLocks xmlns:a="http://schemas.openxmlformats.org/drawingml/2006/main" noGrp="1"/>
          </p:cNvSpPr>
          <p:nvPr/>
        </p:nvSpPr>
        <p:spPr>
          <a:xfrm xmlns:a="http://schemas.openxmlformats.org/drawingml/2006/main">
            <a:off x="7886700" y="3028950"/>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5A4DD92-1971-4EFE-BD38-270E9027436F}"/>
              </a:ext>
            </a:extLst>
          </p:cNvPr>
          <p:cNvSpPr>
            <a:spLocks xmlns:a="http://schemas.openxmlformats.org/drawingml/2006/main" noGrp="1"/>
          </p:cNvSpPr>
          <p:nvPr/>
        </p:nvSpPr>
        <p:spPr>
          <a:xfrm xmlns:a="http://schemas.openxmlformats.org/drawingml/2006/main">
            <a:off x="5286375" y="3695700"/>
            <a:ext cx="33337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29" name="">
            <a:extLst xmlns:a="http://schemas.openxmlformats.org/drawingml/2006/main">
              <a:ext uri="{FF2B5EF4-FFF2-40B4-BE49-F238E27FC236}">
                <a16:creationId xmlns:a16="http://schemas.microsoft.com/office/drawing/2014/main" id="{5467B6F3-087E-4399-846A-265A022A72A8}"/>
              </a:ext>
            </a:extLst>
          </p:cNvPr>
          <p:cNvSpPr>
            <a:spLocks xmlns:a="http://schemas.openxmlformats.org/drawingml/2006/main" noGrp="1"/>
          </p:cNvSpPr>
          <p:nvPr/>
        </p:nvSpPr>
        <p:spPr>
          <a:xfrm xmlns:a="http://schemas.openxmlformats.org/drawingml/2006/main">
            <a:off x="5514975" y="3648075"/>
            <a:ext cx="104775" cy="104775"/>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10AEEE1-C138-4FC0-89EF-E1A391782C67}"/>
              </a:ext>
            </a:extLst>
          </p:cNvPr>
          <p:cNvSpPr>
            <a:spLocks xmlns:a="http://schemas.openxmlformats.org/drawingml/2006/main" noGrp="1"/>
          </p:cNvSpPr>
          <p:nvPr/>
        </p:nvSpPr>
        <p:spPr>
          <a:xfrm xmlns:a="http://schemas.openxmlformats.org/drawingml/2006/main">
            <a:off x="7000875" y="3695700"/>
            <a:ext cx="33337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31" name="">
            <a:extLst xmlns:a="http://schemas.openxmlformats.org/drawingml/2006/main">
              <a:ext uri="{FF2B5EF4-FFF2-40B4-BE49-F238E27FC236}">
                <a16:creationId xmlns:a16="http://schemas.microsoft.com/office/drawing/2014/main" id="{96C62C8C-77F0-488E-97DD-669262639A76}"/>
              </a:ext>
            </a:extLst>
          </p:cNvPr>
          <p:cNvSpPr>
            <a:spLocks xmlns:a="http://schemas.openxmlformats.org/drawingml/2006/main" noGrp="1"/>
          </p:cNvSpPr>
          <p:nvPr/>
        </p:nvSpPr>
        <p:spPr>
          <a:xfrm xmlns:a="http://schemas.openxmlformats.org/drawingml/2006/main">
            <a:off x="7229475" y="3648075"/>
            <a:ext cx="104775" cy="104775"/>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0258D86-49CF-46CC-A5D2-ECE5480BCFBC}"/>
              </a:ext>
            </a:extLst>
          </p:cNvPr>
          <p:cNvSpPr>
            <a:spLocks xmlns:a="http://schemas.openxmlformats.org/drawingml/2006/main" noGrp="1"/>
          </p:cNvSpPr>
          <p:nvPr/>
        </p:nvSpPr>
        <p:spPr>
          <a:xfrm xmlns:a="http://schemas.openxmlformats.org/drawingml/2006/main">
            <a:off x="4714875" y="4572000"/>
            <a:ext cx="1428750" cy="666750"/>
          </a:xfrm>
          <a:prstGeom xmlns:a="http://schemas.openxmlformats.org/drawingml/2006/main" prst="roundRect">
            <a:avLst>
              <a:gd name="adj" fmla="val 17143"/>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AI explanation layer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Plain-language finding summary and clarification questions</a:t>
            </a:r>
          </a:p>
        </p:txBody>
      </p:sp>
      <p:sp>
        <p:nvSpPr>
          <p:cNvPr id="33" name="">
            <a:extLst xmlns:a="http://schemas.openxmlformats.org/drawingml/2006/main">
              <a:ext uri="{FF2B5EF4-FFF2-40B4-BE49-F238E27FC236}">
                <a16:creationId xmlns:a16="http://schemas.microsoft.com/office/drawing/2014/main" id="{6C4570A0-6AB3-4A7D-A872-805CB3019A0E}"/>
              </a:ext>
            </a:extLst>
          </p:cNvPr>
          <p:cNvSpPr>
            <a:spLocks xmlns:a="http://schemas.openxmlformats.org/drawingml/2006/main" noGrp="1"/>
          </p:cNvSpPr>
          <p:nvPr/>
        </p:nvSpPr>
        <p:spPr>
          <a:xfrm xmlns:a="http://schemas.openxmlformats.org/drawingml/2006/main">
            <a:off x="6477000" y="4572000"/>
            <a:ext cx="1428750" cy="666750"/>
          </a:xfrm>
          <a:prstGeom xmlns:a="http://schemas.openxmlformats.org/drawingml/2006/main" prst="roundRect">
            <a:avLst>
              <a:gd name="adj" fmla="val 17143"/>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Officer review</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Evidence-linked action and reason capture</a:t>
            </a:r>
          </a:p>
        </p:txBody>
      </p:sp>
      <p:sp>
        <p:nvSpPr>
          <p:cNvPr id="34" name="">
            <a:extLst xmlns:a="http://schemas.openxmlformats.org/drawingml/2006/main">
              <a:ext uri="{FF2B5EF4-FFF2-40B4-BE49-F238E27FC236}">
                <a16:creationId xmlns:a16="http://schemas.microsoft.com/office/drawing/2014/main" id="{0DE9FC31-857F-425F-94DB-5AA4F43ADE23}"/>
              </a:ext>
            </a:extLst>
          </p:cNvPr>
          <p:cNvSpPr>
            <a:spLocks xmlns:a="http://schemas.openxmlformats.org/drawingml/2006/main" noGrp="1"/>
          </p:cNvSpPr>
          <p:nvPr/>
        </p:nvSpPr>
        <p:spPr>
          <a:xfrm xmlns:a="http://schemas.openxmlformats.org/drawingml/2006/main">
            <a:off x="6143625" y="4905375"/>
            <a:ext cx="333375" cy="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35" name="">
            <a:extLst xmlns:a="http://schemas.openxmlformats.org/drawingml/2006/main">
              <a:ext uri="{FF2B5EF4-FFF2-40B4-BE49-F238E27FC236}">
                <a16:creationId xmlns:a16="http://schemas.microsoft.com/office/drawing/2014/main" id="{B9BA756F-8295-4A8C-BD83-3BA93D2A89F8}"/>
              </a:ext>
            </a:extLst>
          </p:cNvPr>
          <p:cNvSpPr>
            <a:spLocks xmlns:a="http://schemas.openxmlformats.org/drawingml/2006/main" noGrp="1"/>
          </p:cNvSpPr>
          <p:nvPr/>
        </p:nvSpPr>
        <p:spPr>
          <a:xfrm xmlns:a="http://schemas.openxmlformats.org/drawingml/2006/main">
            <a:off x="6372225" y="4857750"/>
            <a:ext cx="104775" cy="104775"/>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2251C49-B9A1-49A1-A7E4-59752516290D}"/>
              </a:ext>
            </a:extLst>
          </p:cNvPr>
          <p:cNvSpPr>
            <a:spLocks xmlns:a="http://schemas.openxmlformats.org/drawingml/2006/main" noGrp="1"/>
          </p:cNvSpPr>
          <p:nvPr/>
        </p:nvSpPr>
        <p:spPr>
          <a:xfrm xmlns:a="http://schemas.openxmlformats.org/drawingml/2006/main">
            <a:off x="6810375" y="4057650"/>
            <a:ext cx="0" cy="400050"/>
          </a:xfrm>
          <a:prstGeom xmlns:a="http://schemas.openxmlformats.org/drawingml/2006/main" prst="line">
            <a:avLst/>
          </a:prstGeom>
          <a:noFill xmlns:a="http://schemas.openxmlformats.org/drawingml/2006/main"/>
          <a:ln xmlns:a="http://schemas.openxmlformats.org/drawingml/2006/main" w="19050">
            <a:solidFill>
              <a:srgbClr val="C9921E"/>
            </a:solidFill>
            <a:prstDash val="dash"/>
          </a:ln>
        </p:spPr>
      </p:sp>
      <p:sp>
        <p:nvSpPr>
          <p:cNvPr id="37" name="">
            <a:extLst xmlns:a="http://schemas.openxmlformats.org/drawingml/2006/main">
              <a:ext uri="{FF2B5EF4-FFF2-40B4-BE49-F238E27FC236}">
                <a16:creationId xmlns:a16="http://schemas.microsoft.com/office/drawing/2014/main" id="{9BB042E0-4AE8-4374-96CA-92105B90D7C4}"/>
              </a:ext>
            </a:extLst>
          </p:cNvPr>
          <p:cNvSpPr>
            <a:spLocks xmlns:a="http://schemas.openxmlformats.org/drawingml/2006/main" noGrp="1"/>
          </p:cNvSpPr>
          <p:nvPr/>
        </p:nvSpPr>
        <p:spPr>
          <a:xfrm xmlns:a="http://schemas.openxmlformats.org/drawingml/2006/main">
            <a:off x="6762750" y="4343400"/>
            <a:ext cx="104775" cy="104775"/>
          </a:xfrm>
          <a:prstGeom xmlns:a="http://schemas.openxmlformats.org/drawingml/2006/main" prst="downArrow">
            <a:avLst/>
          </a:prstGeom>
          <a:solidFill xmlns:a="http://schemas.openxmlformats.org/drawingml/2006/main">
            <a:srgbClr val="C9921E"/>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9B92724-22B4-498F-9CE5-90CB9968B7E5}"/>
              </a:ext>
            </a:extLst>
          </p:cNvPr>
          <p:cNvSpPr>
            <a:spLocks xmlns:a="http://schemas.openxmlformats.org/drawingml/2006/main" noGrp="1"/>
          </p:cNvSpPr>
          <p:nvPr/>
        </p:nvSpPr>
        <p:spPr>
          <a:xfrm xmlns:a="http://schemas.openxmlformats.org/drawingml/2006/main">
            <a:off x="8953500" y="1428750"/>
            <a:ext cx="2809875" cy="4476750"/>
          </a:xfrm>
          <a:prstGeom xmlns:a="http://schemas.openxmlformats.org/drawingml/2006/main" prst="roundRect">
            <a:avLst>
              <a:gd name="adj" fmla="val 4068"/>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900" b="1">
                <a:solidFill>
                  <a:srgbClr val="73559B"/>
                </a:solidFill>
                <a:latin typeface="Arial"/>
                <a:ea typeface="Arial"/>
                <a:cs typeface="Arial"/>
              </a:defRPr>
            </a:pPr>
            <a:r>
              <a:rPr sz="900" b="1">
                <a:solidFill>
                  <a:srgbClr val="73559B"/>
                </a:solidFill>
                <a:latin typeface="Arial"/>
                <a:ea typeface="Arial"/>
                <a:cs typeface="Arial"/>
              </a:rPr>
              <a:t>MODEL SAFETY BOUNDARY</a:t>
            </a:r>
          </a:p>
        </p:txBody>
      </p:sp>
      <p:sp>
        <p:nvSpPr>
          <p:cNvPr id="39" name="">
            <a:extLst xmlns:a="http://schemas.openxmlformats.org/drawingml/2006/main">
              <a:ext uri="{FF2B5EF4-FFF2-40B4-BE49-F238E27FC236}">
                <a16:creationId xmlns:a16="http://schemas.microsoft.com/office/drawing/2014/main" id="{0D2A948F-D4E9-443F-991B-D1949375151F}"/>
              </a:ext>
            </a:extLst>
          </p:cNvPr>
          <p:cNvSpPr>
            <a:spLocks xmlns:a="http://schemas.openxmlformats.org/drawingml/2006/main" noGrp="1"/>
          </p:cNvSpPr>
          <p:nvPr/>
        </p:nvSpPr>
        <p:spPr>
          <a:xfrm xmlns:a="http://schemas.openxmlformats.org/drawingml/2006/main">
            <a:off x="9239250" y="1952625"/>
            <a:ext cx="2238375"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No direct source access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The model cannot call government APIs or use credentials.</a:t>
            </a:r>
          </a:p>
        </p:txBody>
      </p:sp>
      <p:sp>
        <p:nvSpPr>
          <p:cNvPr id="40" name="">
            <a:extLst xmlns:a="http://schemas.openxmlformats.org/drawingml/2006/main">
              <a:ext uri="{FF2B5EF4-FFF2-40B4-BE49-F238E27FC236}">
                <a16:creationId xmlns:a16="http://schemas.microsoft.com/office/drawing/2014/main" id="{10BA62C8-2826-402C-97DA-47C682CDD39C}"/>
              </a:ext>
            </a:extLst>
          </p:cNvPr>
          <p:cNvSpPr>
            <a:spLocks xmlns:a="http://schemas.openxmlformats.org/drawingml/2006/main" noGrp="1"/>
          </p:cNvSpPr>
          <p:nvPr/>
        </p:nvSpPr>
        <p:spPr>
          <a:xfrm xmlns:a="http://schemas.openxmlformats.org/drawingml/2006/main">
            <a:off x="9239250" y="2762250"/>
            <a:ext cx="2238375"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Prompt isolation</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Document text remains quoted input; system policy stays outside the document.</a:t>
            </a:r>
          </a:p>
        </p:txBody>
      </p:sp>
      <p:sp>
        <p:nvSpPr>
          <p:cNvPr id="41" name="">
            <a:extLst xmlns:a="http://schemas.openxmlformats.org/drawingml/2006/main">
              <a:ext uri="{FF2B5EF4-FFF2-40B4-BE49-F238E27FC236}">
                <a16:creationId xmlns:a16="http://schemas.microsoft.com/office/drawing/2014/main" id="{85491CDD-15EB-42FA-AF50-31498410796A}"/>
              </a:ext>
            </a:extLst>
          </p:cNvPr>
          <p:cNvSpPr>
            <a:spLocks xmlns:a="http://schemas.openxmlformats.org/drawingml/2006/main" noGrp="1"/>
          </p:cNvSpPr>
          <p:nvPr/>
        </p:nvSpPr>
        <p:spPr>
          <a:xfrm xmlns:a="http://schemas.openxmlformats.org/drawingml/2006/main">
            <a:off x="9239250" y="3571875"/>
            <a:ext cx="2238375"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Data minimisation</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Redact or use approved local inference before sending sensitive content to a model.</a:t>
            </a:r>
          </a:p>
        </p:txBody>
      </p:sp>
      <p:sp>
        <p:nvSpPr>
          <p:cNvPr id="42" name="">
            <a:extLst xmlns:a="http://schemas.openxmlformats.org/drawingml/2006/main">
              <a:ext uri="{FF2B5EF4-FFF2-40B4-BE49-F238E27FC236}">
                <a16:creationId xmlns:a16="http://schemas.microsoft.com/office/drawing/2014/main" id="{347FCE28-936D-4CD3-82E2-5B505315BA18}"/>
              </a:ext>
            </a:extLst>
          </p:cNvPr>
          <p:cNvSpPr>
            <a:spLocks xmlns:a="http://schemas.openxmlformats.org/drawingml/2006/main" noGrp="1"/>
          </p:cNvSpPr>
          <p:nvPr/>
        </p:nvSpPr>
        <p:spPr>
          <a:xfrm xmlns:a="http://schemas.openxmlformats.org/drawingml/2006/main">
            <a:off x="9239250" y="4381500"/>
            <a:ext cx="2238375"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Reproducibility</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Store model/version, prompt template, schema result and reviewer correction.</a:t>
            </a:r>
          </a:p>
        </p:txBody>
      </p:sp>
    </p:spTree>
    <p:extLst>
      <p:ext uri="{BB962C8B-B14F-4D97-AF65-F5344CB8AC3E}">
        <p14:creationId xmlns:p14="http://schemas.microsoft.com/office/powerpoint/2010/main" val="11454312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82F53102-EED0-4563-B32A-57BE7AD1C1C0}"/>
              </a:ext>
            </a:extLst>
          </p:cNvPr>
          <p:cNvSpPr>
            <a:spLocks xmlns:a="http://schemas.openxmlformats.org/drawingml/2006/main" noGrp="1"/>
          </p:cNvSpPr>
          <p:nvPr/>
        </p:nvSpPr>
        <p:spPr>
          <a:xfrm xmlns:a="http://schemas.openxmlformats.org/drawingml/2006/main">
            <a:off x="400050" y="2476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6324F"/>
                </a:solidFill>
                <a:latin typeface="Arial"/>
                <a:ea typeface="Arial"/>
                <a:cs typeface="Arial"/>
              </a:defRPr>
            </a:pPr>
            <a:r>
              <a:rPr sz="1125" b="1">
                <a:solidFill>
                  <a:srgbClr val="16324F"/>
                </a:solidFill>
                <a:latin typeface="Arial"/>
                <a:ea typeface="Arial"/>
                <a:cs typeface="Arial"/>
              </a:rPr>
              <a:t>BIDSURE</a:t>
            </a:r>
          </a:p>
        </p:txBody>
      </p:sp>
      <p:sp>
        <p:nvSpPr>
          <p:cNvPr id="2" name="">
            <a:extLst xmlns:a="http://schemas.openxmlformats.org/drawingml/2006/main">
              <a:ext uri="{FF2B5EF4-FFF2-40B4-BE49-F238E27FC236}">
                <a16:creationId xmlns:a16="http://schemas.microsoft.com/office/drawing/2014/main" id="{6B36F46F-48DC-4BED-A3F8-78F8131F05EF}"/>
              </a:ext>
            </a:extLst>
          </p:cNvPr>
          <p:cNvSpPr>
            <a:spLocks xmlns:a="http://schemas.openxmlformats.org/drawingml/2006/main" noGrp="1"/>
          </p:cNvSpPr>
          <p:nvPr/>
        </p:nvSpPr>
        <p:spPr>
          <a:xfrm xmlns:a="http://schemas.openxmlformats.org/drawingml/2006/main">
            <a:off x="400050" y="5048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75" b="1">
                <a:solidFill>
                  <a:srgbClr val="1B2936"/>
                </a:solidFill>
                <a:latin typeface="Arial"/>
                <a:ea typeface="Arial"/>
                <a:cs typeface="Arial"/>
              </a:defRPr>
            </a:pPr>
            <a:r>
              <a:rPr sz="2175" b="1">
                <a:solidFill>
                  <a:srgbClr val="1B2936"/>
                </a:solidFill>
                <a:latin typeface="Arial"/>
                <a:ea typeface="Arial"/>
                <a:cs typeface="Arial"/>
              </a:rPr>
              <a:t>Integration and Mock Platform Architecture</a:t>
            </a:r>
          </a:p>
        </p:txBody>
      </p:sp>
      <p:sp>
        <p:nvSpPr>
          <p:cNvPr id="3" name="">
            <a:extLst xmlns:a="http://schemas.openxmlformats.org/drawingml/2006/main">
              <a:ext uri="{FF2B5EF4-FFF2-40B4-BE49-F238E27FC236}">
                <a16:creationId xmlns:a16="http://schemas.microsoft.com/office/drawing/2014/main" id="{4FCDBB52-7BEB-47A7-B7D2-879076660586}"/>
              </a:ext>
            </a:extLst>
          </p:cNvPr>
          <p:cNvSpPr>
            <a:spLocks xmlns:a="http://schemas.openxmlformats.org/drawingml/2006/main" noGrp="1"/>
          </p:cNvSpPr>
          <p:nvPr/>
        </p:nvSpPr>
        <p:spPr>
          <a:xfrm xmlns:a="http://schemas.openxmlformats.org/drawingml/2006/main">
            <a:off x="419100" y="9334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0">
                <a:solidFill>
                  <a:srgbClr val="52616B"/>
                </a:solidFill>
                <a:latin typeface="Arial"/>
                <a:ea typeface="Arial"/>
                <a:cs typeface="Arial"/>
              </a:defRPr>
            </a:pPr>
            <a:r>
              <a:rPr sz="900" b="0">
                <a:solidFill>
                  <a:srgbClr val="52616B"/>
                </a:solidFill>
                <a:latin typeface="Arial"/>
                <a:ea typeface="Arial"/>
                <a:cs typeface="Arial"/>
              </a:rPr>
              <a:t>The same adapter contract supports SIH demo data today and approved government data sources later</a:t>
            </a:r>
          </a:p>
        </p:txBody>
      </p:sp>
      <p:sp>
        <p:nvSpPr>
          <p:cNvPr id="4" name="">
            <a:extLst xmlns:a="http://schemas.openxmlformats.org/drawingml/2006/main">
              <a:ext uri="{FF2B5EF4-FFF2-40B4-BE49-F238E27FC236}">
                <a16:creationId xmlns:a16="http://schemas.microsoft.com/office/drawing/2014/main" id="{D824EA82-0438-4170-84AA-EC70CACE1FF5}"/>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8EA1AC"/>
            </a:solidFill>
            <a:prstDash val="solid"/>
          </a:ln>
        </p:spPr>
      </p:sp>
      <p:sp>
        <p:nvSpPr>
          <p:cNvPr id="5" name="">
            <a:extLst xmlns:a="http://schemas.openxmlformats.org/drawingml/2006/main">
              <a:ext uri="{FF2B5EF4-FFF2-40B4-BE49-F238E27FC236}">
                <a16:creationId xmlns:a16="http://schemas.microsoft.com/office/drawing/2014/main" id="{EC203B19-A4B9-4777-B456-F5101BA968B1}"/>
              </a:ext>
            </a:extLst>
          </p:cNvPr>
          <p:cNvSpPr>
            <a:spLocks xmlns:a="http://schemas.openxmlformats.org/drawingml/2006/main" noGrp="1"/>
          </p:cNvSpPr>
          <p:nvPr/>
        </p:nvSpPr>
        <p:spPr>
          <a:xfrm xmlns:a="http://schemas.openxmlformats.org/drawingml/2006/main">
            <a:off x="400050" y="654367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SIH26100 | Architecture set 4 of 5</a:t>
            </a:r>
          </a:p>
        </p:txBody>
      </p:sp>
      <p:sp>
        <p:nvSpPr>
          <p:cNvPr id="6" name="">
            <a:extLst xmlns:a="http://schemas.openxmlformats.org/drawingml/2006/main">
              <a:ext uri="{FF2B5EF4-FFF2-40B4-BE49-F238E27FC236}">
                <a16:creationId xmlns:a16="http://schemas.microsoft.com/office/drawing/2014/main" id="{133A45EE-2000-4122-BC93-68661CA77693}"/>
              </a:ext>
            </a:extLst>
          </p:cNvPr>
          <p:cNvSpPr>
            <a:spLocks xmlns:a="http://schemas.openxmlformats.org/drawingml/2006/main" noGrp="1"/>
          </p:cNvSpPr>
          <p:nvPr/>
        </p:nvSpPr>
        <p:spPr>
          <a:xfrm xmlns:a="http://schemas.openxmlformats.org/drawingml/2006/main">
            <a:off x="9601200" y="6543675"/>
            <a:ext cx="2190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Node.js + Express + TypeScript</a:t>
            </a:r>
          </a:p>
        </p:txBody>
      </p:sp>
      <p:sp>
        <p:nvSpPr>
          <p:cNvPr id="7" name="">
            <a:extLst xmlns:a="http://schemas.openxmlformats.org/drawingml/2006/main">
              <a:ext uri="{FF2B5EF4-FFF2-40B4-BE49-F238E27FC236}">
                <a16:creationId xmlns:a16="http://schemas.microsoft.com/office/drawing/2014/main" id="{A146C02C-FCEA-41AD-98F7-5D4E307E592E}"/>
              </a:ext>
            </a:extLst>
          </p:cNvPr>
          <p:cNvSpPr>
            <a:spLocks xmlns:a="http://schemas.openxmlformats.org/drawingml/2006/main" noGrp="1"/>
          </p:cNvSpPr>
          <p:nvPr/>
        </p:nvSpPr>
        <p:spPr>
          <a:xfrm xmlns:a="http://schemas.openxmlformats.org/drawingml/2006/main">
            <a:off x="400050" y="1476375"/>
            <a:ext cx="3381375" cy="4286250"/>
          </a:xfrm>
          <a:prstGeom xmlns:a="http://schemas.openxmlformats.org/drawingml/2006/main" prst="roundRect">
            <a:avLst>
              <a:gd name="adj" fmla="val 3380"/>
            </a:avLst>
          </a:prstGeom>
          <a:solidFill xmlns:a="http://schemas.openxmlformats.org/drawingml/2006/main">
            <a:srgbClr val="F5F8FA"/>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900" b="1">
                <a:solidFill>
                  <a:srgbClr val="2A9D8F"/>
                </a:solidFill>
                <a:latin typeface="Arial"/>
                <a:ea typeface="Arial"/>
                <a:cs typeface="Arial"/>
              </a:defRPr>
            </a:pPr>
            <a:r>
              <a:rPr sz="900" b="1">
                <a:solidFill>
                  <a:srgbClr val="2A9D8F"/>
                </a:solidFill>
                <a:latin typeface="Arial"/>
                <a:ea typeface="Arial"/>
                <a:cs typeface="Arial"/>
              </a:rPr>
              <a:t>BIDSURE VERIFICATION CONTROL</a:t>
            </a:r>
          </a:p>
        </p:txBody>
      </p:sp>
      <p:sp>
        <p:nvSpPr>
          <p:cNvPr id="8" name="">
            <a:extLst xmlns:a="http://schemas.openxmlformats.org/drawingml/2006/main">
              <a:ext uri="{FF2B5EF4-FFF2-40B4-BE49-F238E27FC236}">
                <a16:creationId xmlns:a16="http://schemas.microsoft.com/office/drawing/2014/main" id="{B19DDE8A-42F8-43AE-98A0-6679C9E9868D}"/>
              </a:ext>
            </a:extLst>
          </p:cNvPr>
          <p:cNvSpPr>
            <a:spLocks xmlns:a="http://schemas.openxmlformats.org/drawingml/2006/main" noGrp="1"/>
          </p:cNvSpPr>
          <p:nvPr/>
        </p:nvSpPr>
        <p:spPr>
          <a:xfrm xmlns:a="http://schemas.openxmlformats.org/drawingml/2006/main">
            <a:off x="685800" y="2047875"/>
            <a:ext cx="1285875" cy="647700"/>
          </a:xfrm>
          <a:prstGeom xmlns:a="http://schemas.openxmlformats.org/drawingml/2006/main" prst="roundRect">
            <a:avLst>
              <a:gd name="adj" fmla="val 17647"/>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Source policy</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Purpose, consent, role, freshness and retention</a:t>
            </a:r>
          </a:p>
        </p:txBody>
      </p:sp>
      <p:sp>
        <p:nvSpPr>
          <p:cNvPr id="9" name="">
            <a:extLst xmlns:a="http://schemas.openxmlformats.org/drawingml/2006/main">
              <a:ext uri="{FF2B5EF4-FFF2-40B4-BE49-F238E27FC236}">
                <a16:creationId xmlns:a16="http://schemas.microsoft.com/office/drawing/2014/main" id="{FE0EF67F-2114-4B1E-AFF3-81EA642FC728}"/>
              </a:ext>
            </a:extLst>
          </p:cNvPr>
          <p:cNvSpPr>
            <a:spLocks xmlns:a="http://schemas.openxmlformats.org/drawingml/2006/main" noGrp="1"/>
          </p:cNvSpPr>
          <p:nvPr/>
        </p:nvSpPr>
        <p:spPr>
          <a:xfrm xmlns:a="http://schemas.openxmlformats.org/drawingml/2006/main">
            <a:off x="2209800" y="2047875"/>
            <a:ext cx="1285875" cy="647700"/>
          </a:xfrm>
          <a:prstGeom xmlns:a="http://schemas.openxmlformats.org/drawingml/2006/main" prst="roundRect">
            <a:avLst>
              <a:gd name="adj" fmla="val 17647"/>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Source registry</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Version, owner, endpoint and credential reference</a:t>
            </a:r>
          </a:p>
        </p:txBody>
      </p:sp>
      <p:sp>
        <p:nvSpPr>
          <p:cNvPr id="10" name="">
            <a:extLst xmlns:a="http://schemas.openxmlformats.org/drawingml/2006/main">
              <a:ext uri="{FF2B5EF4-FFF2-40B4-BE49-F238E27FC236}">
                <a16:creationId xmlns:a16="http://schemas.microsoft.com/office/drawing/2014/main" id="{029BDA4F-CFE8-49AC-8C31-6AF8193E3B4F}"/>
              </a:ext>
            </a:extLst>
          </p:cNvPr>
          <p:cNvSpPr>
            <a:spLocks xmlns:a="http://schemas.openxmlformats.org/drawingml/2006/main" noGrp="1"/>
          </p:cNvSpPr>
          <p:nvPr/>
        </p:nvSpPr>
        <p:spPr>
          <a:xfrm xmlns:a="http://schemas.openxmlformats.org/drawingml/2006/main">
            <a:off x="1143000" y="3190875"/>
            <a:ext cx="1905000" cy="742950"/>
          </a:xfrm>
          <a:prstGeom xmlns:a="http://schemas.openxmlformats.org/drawingml/2006/main" prst="roundRect">
            <a:avLst>
              <a:gd name="adj" fmla="val 15385"/>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Adapter orchestrator</a:t>
            </a:r>
          </a:p>
          <a:p xmlns:a="http://schemas.openxmlformats.org/drawingml/2006/main">
            <a:pPr>
              <a:defRPr sz="825">
                <a:solidFill>
                  <a:srgbClr val="1B2936"/>
                </a:solidFill>
                <a:latin typeface="Arial"/>
                <a:ea typeface="Arial"/>
                <a:cs typeface="Arial"/>
              </a:defRPr>
            </a:pPr>
            <a:r>
              <a:rPr sz="825">
                <a:solidFill>
                  <a:srgbClr val="1B2936"/>
                </a:solidFill>
                <a:latin typeface="Arial"/>
                <a:ea typeface="Arial"/>
                <a:cs typeface="Arial"/>
              </a:rPr>
              <a:t>Queue, retries, rate limits, circuit breaker and normalised result</a:t>
            </a:r>
          </a:p>
        </p:txBody>
      </p:sp>
      <p:sp>
        <p:nvSpPr>
          <p:cNvPr id="11" name="">
            <a:extLst xmlns:a="http://schemas.openxmlformats.org/drawingml/2006/main">
              <a:ext uri="{FF2B5EF4-FFF2-40B4-BE49-F238E27FC236}">
                <a16:creationId xmlns:a16="http://schemas.microsoft.com/office/drawing/2014/main" id="{138169AD-B6C0-44E6-BD57-7F0DC4415080}"/>
              </a:ext>
            </a:extLst>
          </p:cNvPr>
          <p:cNvSpPr>
            <a:spLocks xmlns:a="http://schemas.openxmlformats.org/drawingml/2006/main" noGrp="1"/>
          </p:cNvSpPr>
          <p:nvPr/>
        </p:nvSpPr>
        <p:spPr>
          <a:xfrm xmlns:a="http://schemas.openxmlformats.org/drawingml/2006/main">
            <a:off x="1143000" y="4429125"/>
            <a:ext cx="1905000" cy="685800"/>
          </a:xfrm>
          <a:prstGeom xmlns:a="http://schemas.openxmlformats.org/drawingml/2006/main" prst="roundRect">
            <a:avLst>
              <a:gd name="adj" fmla="val 16667"/>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Common verification contract</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Subject, purpose, status, evidence, freshness, response hash and audit ID</a:t>
            </a:r>
          </a:p>
        </p:txBody>
      </p:sp>
      <p:sp>
        <p:nvSpPr>
          <p:cNvPr id="12" name="">
            <a:extLst xmlns:a="http://schemas.openxmlformats.org/drawingml/2006/main">
              <a:ext uri="{FF2B5EF4-FFF2-40B4-BE49-F238E27FC236}">
                <a16:creationId xmlns:a16="http://schemas.microsoft.com/office/drawing/2014/main" id="{E7CEC705-E6E0-47E7-AB31-196936936731}"/>
              </a:ext>
            </a:extLst>
          </p:cNvPr>
          <p:cNvSpPr>
            <a:spLocks xmlns:a="http://schemas.openxmlformats.org/drawingml/2006/main" noGrp="1"/>
          </p:cNvSpPr>
          <p:nvPr/>
        </p:nvSpPr>
        <p:spPr>
          <a:xfrm xmlns:a="http://schemas.openxmlformats.org/drawingml/2006/main">
            <a:off x="2095500" y="2695575"/>
            <a:ext cx="0" cy="4000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13" name="">
            <a:extLst xmlns:a="http://schemas.openxmlformats.org/drawingml/2006/main">
              <a:ext uri="{FF2B5EF4-FFF2-40B4-BE49-F238E27FC236}">
                <a16:creationId xmlns:a16="http://schemas.microsoft.com/office/drawing/2014/main" id="{A03F33F2-23D5-4D3C-BF19-6DEC034DB6EE}"/>
              </a:ext>
            </a:extLst>
          </p:cNvPr>
          <p:cNvSpPr>
            <a:spLocks xmlns:a="http://schemas.openxmlformats.org/drawingml/2006/main" noGrp="1"/>
          </p:cNvSpPr>
          <p:nvPr/>
        </p:nvSpPr>
        <p:spPr>
          <a:xfrm xmlns:a="http://schemas.openxmlformats.org/drawingml/2006/main">
            <a:off x="2047875" y="2981325"/>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FE6B946-2230-4CAB-A248-0D9CE25874EA}"/>
              </a:ext>
            </a:extLst>
          </p:cNvPr>
          <p:cNvSpPr>
            <a:spLocks xmlns:a="http://schemas.openxmlformats.org/drawingml/2006/main" noGrp="1"/>
          </p:cNvSpPr>
          <p:nvPr/>
        </p:nvSpPr>
        <p:spPr>
          <a:xfrm xmlns:a="http://schemas.openxmlformats.org/drawingml/2006/main">
            <a:off x="2095500" y="3933825"/>
            <a:ext cx="0" cy="40005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15" name="">
            <a:extLst xmlns:a="http://schemas.openxmlformats.org/drawingml/2006/main">
              <a:ext uri="{FF2B5EF4-FFF2-40B4-BE49-F238E27FC236}">
                <a16:creationId xmlns:a16="http://schemas.microsoft.com/office/drawing/2014/main" id="{D0643C5C-5104-43C1-9C66-F0257754F185}"/>
              </a:ext>
            </a:extLst>
          </p:cNvPr>
          <p:cNvSpPr>
            <a:spLocks xmlns:a="http://schemas.openxmlformats.org/drawingml/2006/main" noGrp="1"/>
          </p:cNvSpPr>
          <p:nvPr/>
        </p:nvSpPr>
        <p:spPr>
          <a:xfrm xmlns:a="http://schemas.openxmlformats.org/drawingml/2006/main">
            <a:off x="2047875" y="4219575"/>
            <a:ext cx="104775" cy="104775"/>
          </a:xfrm>
          <a:prstGeom xmlns:a="http://schemas.openxmlformats.org/drawingml/2006/main" prst="downArrow">
            <a:avLst/>
          </a:prstGeom>
          <a:solidFill xmlns:a="http://schemas.openxmlformats.org/drawingml/2006/main">
            <a:srgbClr val="C9921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280E753-67E6-40CC-AB64-9F97E18AD395}"/>
              </a:ext>
            </a:extLst>
          </p:cNvPr>
          <p:cNvSpPr>
            <a:spLocks xmlns:a="http://schemas.openxmlformats.org/drawingml/2006/main" noGrp="1"/>
          </p:cNvSpPr>
          <p:nvPr/>
        </p:nvSpPr>
        <p:spPr>
          <a:xfrm xmlns:a="http://schemas.openxmlformats.org/drawingml/2006/main">
            <a:off x="4095750" y="1476375"/>
            <a:ext cx="3476625" cy="4286250"/>
          </a:xfrm>
          <a:prstGeom xmlns:a="http://schemas.openxmlformats.org/drawingml/2006/main" prst="roundRect">
            <a:avLst>
              <a:gd name="adj" fmla="val 3288"/>
            </a:avLst>
          </a:prstGeom>
          <a:solidFill xmlns:a="http://schemas.openxmlformats.org/drawingml/2006/main">
            <a:srgbClr val="E7F3E8"/>
          </a:solidFill>
          <a:ln xmlns:a="http://schemas.openxmlformats.org/drawingml/2006/main" w="14288">
            <a:solidFill>
              <a:srgbClr val="4B8F58"/>
            </a:solidFill>
            <a:prstDash val="solid"/>
          </a:ln>
        </p:spPr>
        <p:txBody>
          <a:bodyPr xmlns:a="http://schemas.openxmlformats.org/drawingml/2006/main"/>
          <a:lstStyle xmlns:a="http://schemas.openxmlformats.org/drawingml/2006/main"/>
          <a:p xmlns:a="http://schemas.openxmlformats.org/drawingml/2006/main">
            <a:pPr>
              <a:defRPr sz="900" b="1">
                <a:solidFill>
                  <a:srgbClr val="4B8F58"/>
                </a:solidFill>
                <a:latin typeface="Arial"/>
                <a:ea typeface="Arial"/>
                <a:cs typeface="Arial"/>
              </a:defRPr>
            </a:pPr>
            <a:r>
              <a:rPr sz="900" b="1">
                <a:solidFill>
                  <a:srgbClr val="4B8F58"/>
                </a:solidFill>
                <a:latin typeface="Arial"/>
                <a:ea typeface="Arial"/>
                <a:cs typeface="Arial"/>
              </a:rPr>
              <a:t>SIH DEMO ENVIRONMENT</a:t>
            </a:r>
          </a:p>
        </p:txBody>
      </p:sp>
      <p:sp>
        <p:nvSpPr>
          <p:cNvPr id="17" name="">
            <a:extLst xmlns:a="http://schemas.openxmlformats.org/drawingml/2006/main">
              <a:ext uri="{FF2B5EF4-FFF2-40B4-BE49-F238E27FC236}">
                <a16:creationId xmlns:a16="http://schemas.microsoft.com/office/drawing/2014/main" id="{2657B29A-F3E8-4496-A1D2-0A2E5A49761B}"/>
              </a:ext>
            </a:extLst>
          </p:cNvPr>
          <p:cNvSpPr>
            <a:spLocks xmlns:a="http://schemas.openxmlformats.org/drawingml/2006/main" noGrp="1"/>
          </p:cNvSpPr>
          <p:nvPr/>
        </p:nvSpPr>
        <p:spPr>
          <a:xfrm xmlns:a="http://schemas.openxmlformats.org/drawingml/2006/main">
            <a:off x="4362450" y="2000250"/>
            <a:ext cx="128587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4B8F58"/>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Synthetic bidder data</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Good, bad, expired and conflicting cases</a:t>
            </a:r>
          </a:p>
        </p:txBody>
      </p:sp>
      <p:sp>
        <p:nvSpPr>
          <p:cNvPr id="18" name="">
            <a:extLst xmlns:a="http://schemas.openxmlformats.org/drawingml/2006/main">
              <a:ext uri="{FF2B5EF4-FFF2-40B4-BE49-F238E27FC236}">
                <a16:creationId xmlns:a16="http://schemas.microsoft.com/office/drawing/2014/main" id="{C9350A27-7BA9-4DAE-BD36-ABAE43360BFB}"/>
              </a:ext>
            </a:extLst>
          </p:cNvPr>
          <p:cNvSpPr>
            <a:spLocks xmlns:a="http://schemas.openxmlformats.org/drawingml/2006/main" noGrp="1"/>
          </p:cNvSpPr>
          <p:nvPr/>
        </p:nvSpPr>
        <p:spPr>
          <a:xfrm xmlns:a="http://schemas.openxmlformats.org/drawingml/2006/main">
            <a:off x="5953125" y="2000250"/>
            <a:ext cx="128587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4B8F58"/>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Mock API server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Same JSON shape as production adapter</a:t>
            </a:r>
          </a:p>
        </p:txBody>
      </p:sp>
      <p:sp>
        <p:nvSpPr>
          <p:cNvPr id="19" name="">
            <a:extLst xmlns:a="http://schemas.openxmlformats.org/drawingml/2006/main">
              <a:ext uri="{FF2B5EF4-FFF2-40B4-BE49-F238E27FC236}">
                <a16:creationId xmlns:a16="http://schemas.microsoft.com/office/drawing/2014/main" id="{49DEB0B4-3C06-462B-AA46-B4DF7B2B8504}"/>
              </a:ext>
            </a:extLst>
          </p:cNvPr>
          <p:cNvSpPr>
            <a:spLocks xmlns:a="http://schemas.openxmlformats.org/drawingml/2006/main" noGrp="1"/>
          </p:cNvSpPr>
          <p:nvPr/>
        </p:nvSpPr>
        <p:spPr>
          <a:xfrm xmlns:a="http://schemas.openxmlformats.org/drawingml/2006/main">
            <a:off x="4362450" y="3143250"/>
            <a:ext cx="1285875"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4B8F58"/>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Mock GST and Udyam</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Status and identity examples</a:t>
            </a:r>
          </a:p>
        </p:txBody>
      </p:sp>
      <p:sp>
        <p:nvSpPr>
          <p:cNvPr id="20" name="">
            <a:extLst xmlns:a="http://schemas.openxmlformats.org/drawingml/2006/main">
              <a:ext uri="{FF2B5EF4-FFF2-40B4-BE49-F238E27FC236}">
                <a16:creationId xmlns:a16="http://schemas.microsoft.com/office/drawing/2014/main" id="{176AF329-5005-496D-8F31-E58576579D0A}"/>
              </a:ext>
            </a:extLst>
          </p:cNvPr>
          <p:cNvSpPr>
            <a:spLocks xmlns:a="http://schemas.openxmlformats.org/drawingml/2006/main" noGrp="1"/>
          </p:cNvSpPr>
          <p:nvPr/>
        </p:nvSpPr>
        <p:spPr>
          <a:xfrm xmlns:a="http://schemas.openxmlformats.org/drawingml/2006/main">
            <a:off x="5953125" y="3143250"/>
            <a:ext cx="1285875"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4B8F58"/>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Mock DigiLocker and MCA</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Document and entity examples</a:t>
            </a:r>
          </a:p>
        </p:txBody>
      </p:sp>
      <p:sp>
        <p:nvSpPr>
          <p:cNvPr id="21" name="">
            <a:extLst xmlns:a="http://schemas.openxmlformats.org/drawingml/2006/main">
              <a:ext uri="{FF2B5EF4-FFF2-40B4-BE49-F238E27FC236}">
                <a16:creationId xmlns:a16="http://schemas.microsoft.com/office/drawing/2014/main" id="{E28AC08F-8346-4BA7-82A4-9816B9E8B487}"/>
              </a:ext>
            </a:extLst>
          </p:cNvPr>
          <p:cNvSpPr>
            <a:spLocks xmlns:a="http://schemas.openxmlformats.org/drawingml/2006/main" noGrp="1"/>
          </p:cNvSpPr>
          <p:nvPr/>
        </p:nvSpPr>
        <p:spPr>
          <a:xfrm xmlns:a="http://schemas.openxmlformats.org/drawingml/2006/main">
            <a:off x="5143500" y="4333875"/>
            <a:ext cx="1285875"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4B8F58"/>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Failure simulator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Timeout, rate limit and schema change</a:t>
            </a:r>
          </a:p>
        </p:txBody>
      </p:sp>
      <p:sp>
        <p:nvSpPr>
          <p:cNvPr id="22" name="">
            <a:extLst xmlns:a="http://schemas.openxmlformats.org/drawingml/2006/main">
              <a:ext uri="{FF2B5EF4-FFF2-40B4-BE49-F238E27FC236}">
                <a16:creationId xmlns:a16="http://schemas.microsoft.com/office/drawing/2014/main" id="{D89B8649-25DB-4318-9302-0E28DE6EC11E}"/>
              </a:ext>
            </a:extLst>
          </p:cNvPr>
          <p:cNvSpPr>
            <a:spLocks xmlns:a="http://schemas.openxmlformats.org/drawingml/2006/main" noGrp="1"/>
          </p:cNvSpPr>
          <p:nvPr/>
        </p:nvSpPr>
        <p:spPr>
          <a:xfrm xmlns:a="http://schemas.openxmlformats.org/drawingml/2006/main">
            <a:off x="5810250" y="2619375"/>
            <a:ext cx="0" cy="428625"/>
          </a:xfrm>
          <a:prstGeom xmlns:a="http://schemas.openxmlformats.org/drawingml/2006/main" prst="line">
            <a:avLst/>
          </a:prstGeom>
          <a:noFill xmlns:a="http://schemas.openxmlformats.org/drawingml/2006/main"/>
          <a:ln xmlns:a="http://schemas.openxmlformats.org/drawingml/2006/main" w="19050">
            <a:solidFill>
              <a:srgbClr val="4B8F58"/>
            </a:solidFill>
            <a:prstDash val="solid"/>
          </a:ln>
        </p:spPr>
      </p:sp>
      <p:sp>
        <p:nvSpPr>
          <p:cNvPr id="23" name="">
            <a:extLst xmlns:a="http://schemas.openxmlformats.org/drawingml/2006/main">
              <a:ext uri="{FF2B5EF4-FFF2-40B4-BE49-F238E27FC236}">
                <a16:creationId xmlns:a16="http://schemas.microsoft.com/office/drawing/2014/main" id="{291A5010-649B-4388-9C5F-25FF802A6DED}"/>
              </a:ext>
            </a:extLst>
          </p:cNvPr>
          <p:cNvSpPr>
            <a:spLocks xmlns:a="http://schemas.openxmlformats.org/drawingml/2006/main" noGrp="1"/>
          </p:cNvSpPr>
          <p:nvPr/>
        </p:nvSpPr>
        <p:spPr>
          <a:xfrm xmlns:a="http://schemas.openxmlformats.org/drawingml/2006/main">
            <a:off x="5000625" y="3048000"/>
            <a:ext cx="1619250" cy="0"/>
          </a:xfrm>
          <a:prstGeom xmlns:a="http://schemas.openxmlformats.org/drawingml/2006/main" prst="line">
            <a:avLst/>
          </a:prstGeom>
          <a:noFill xmlns:a="http://schemas.openxmlformats.org/drawingml/2006/main"/>
          <a:ln xmlns:a="http://schemas.openxmlformats.org/drawingml/2006/main" w="19050">
            <a:solidFill>
              <a:srgbClr val="4B8F58"/>
            </a:solidFill>
            <a:prstDash val="solid"/>
          </a:ln>
        </p:spPr>
      </p:sp>
      <p:sp>
        <p:nvSpPr>
          <p:cNvPr id="24" name="">
            <a:extLst xmlns:a="http://schemas.openxmlformats.org/drawingml/2006/main">
              <a:ext uri="{FF2B5EF4-FFF2-40B4-BE49-F238E27FC236}">
                <a16:creationId xmlns:a16="http://schemas.microsoft.com/office/drawing/2014/main" id="{CA585D82-2FEA-480A-81B3-BE94C2E92C9C}"/>
              </a:ext>
            </a:extLst>
          </p:cNvPr>
          <p:cNvSpPr>
            <a:spLocks xmlns:a="http://schemas.openxmlformats.org/drawingml/2006/main" noGrp="1"/>
          </p:cNvSpPr>
          <p:nvPr/>
        </p:nvSpPr>
        <p:spPr>
          <a:xfrm xmlns:a="http://schemas.openxmlformats.org/drawingml/2006/main">
            <a:off x="5000625" y="3048000"/>
            <a:ext cx="0" cy="95250"/>
          </a:xfrm>
          <a:prstGeom xmlns:a="http://schemas.openxmlformats.org/drawingml/2006/main" prst="line">
            <a:avLst/>
          </a:prstGeom>
          <a:noFill xmlns:a="http://schemas.openxmlformats.org/drawingml/2006/main"/>
          <a:ln xmlns:a="http://schemas.openxmlformats.org/drawingml/2006/main" w="19050">
            <a:solidFill>
              <a:srgbClr val="4B8F58"/>
            </a:solidFill>
            <a:prstDash val="solid"/>
          </a:ln>
        </p:spPr>
      </p:sp>
      <p:sp>
        <p:nvSpPr>
          <p:cNvPr id="25" name="">
            <a:extLst xmlns:a="http://schemas.openxmlformats.org/drawingml/2006/main">
              <a:ext uri="{FF2B5EF4-FFF2-40B4-BE49-F238E27FC236}">
                <a16:creationId xmlns:a16="http://schemas.microsoft.com/office/drawing/2014/main" id="{FA4C5158-0620-4345-A84B-6677D893B673}"/>
              </a:ext>
            </a:extLst>
          </p:cNvPr>
          <p:cNvSpPr>
            <a:spLocks xmlns:a="http://schemas.openxmlformats.org/drawingml/2006/main" noGrp="1"/>
          </p:cNvSpPr>
          <p:nvPr/>
        </p:nvSpPr>
        <p:spPr>
          <a:xfrm xmlns:a="http://schemas.openxmlformats.org/drawingml/2006/main">
            <a:off x="4953000" y="3028950"/>
            <a:ext cx="104775" cy="104775"/>
          </a:xfrm>
          <a:prstGeom xmlns:a="http://schemas.openxmlformats.org/drawingml/2006/main" prst="downArrow">
            <a:avLst/>
          </a:prstGeom>
          <a:solidFill xmlns:a="http://schemas.openxmlformats.org/drawingml/2006/main">
            <a:srgbClr val="4B8F5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2DD3125-963D-4893-92BD-8343D4BDD7F7}"/>
              </a:ext>
            </a:extLst>
          </p:cNvPr>
          <p:cNvSpPr>
            <a:spLocks xmlns:a="http://schemas.openxmlformats.org/drawingml/2006/main" noGrp="1"/>
          </p:cNvSpPr>
          <p:nvPr/>
        </p:nvSpPr>
        <p:spPr>
          <a:xfrm xmlns:a="http://schemas.openxmlformats.org/drawingml/2006/main">
            <a:off x="6619875" y="3048000"/>
            <a:ext cx="0" cy="95250"/>
          </a:xfrm>
          <a:prstGeom xmlns:a="http://schemas.openxmlformats.org/drawingml/2006/main" prst="line">
            <a:avLst/>
          </a:prstGeom>
          <a:noFill xmlns:a="http://schemas.openxmlformats.org/drawingml/2006/main"/>
          <a:ln xmlns:a="http://schemas.openxmlformats.org/drawingml/2006/main" w="19050">
            <a:solidFill>
              <a:srgbClr val="4B8F58"/>
            </a:solidFill>
            <a:prstDash val="solid"/>
          </a:ln>
        </p:spPr>
      </p:sp>
      <p:sp>
        <p:nvSpPr>
          <p:cNvPr id="27" name="">
            <a:extLst xmlns:a="http://schemas.openxmlformats.org/drawingml/2006/main">
              <a:ext uri="{FF2B5EF4-FFF2-40B4-BE49-F238E27FC236}">
                <a16:creationId xmlns:a16="http://schemas.microsoft.com/office/drawing/2014/main" id="{79E4326F-0A71-4CDB-B52E-465BAA391287}"/>
              </a:ext>
            </a:extLst>
          </p:cNvPr>
          <p:cNvSpPr>
            <a:spLocks xmlns:a="http://schemas.openxmlformats.org/drawingml/2006/main" noGrp="1"/>
          </p:cNvSpPr>
          <p:nvPr/>
        </p:nvSpPr>
        <p:spPr>
          <a:xfrm xmlns:a="http://schemas.openxmlformats.org/drawingml/2006/main">
            <a:off x="6572250" y="3028950"/>
            <a:ext cx="104775" cy="104775"/>
          </a:xfrm>
          <a:prstGeom xmlns:a="http://schemas.openxmlformats.org/drawingml/2006/main" prst="downArrow">
            <a:avLst/>
          </a:prstGeom>
          <a:solidFill xmlns:a="http://schemas.openxmlformats.org/drawingml/2006/main">
            <a:srgbClr val="4B8F5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329226A-D8DE-4A47-B790-E9A6A9A468D8}"/>
              </a:ext>
            </a:extLst>
          </p:cNvPr>
          <p:cNvSpPr>
            <a:spLocks xmlns:a="http://schemas.openxmlformats.org/drawingml/2006/main" noGrp="1"/>
          </p:cNvSpPr>
          <p:nvPr/>
        </p:nvSpPr>
        <p:spPr>
          <a:xfrm xmlns:a="http://schemas.openxmlformats.org/drawingml/2006/main">
            <a:off x="5810250" y="3714750"/>
            <a:ext cx="0" cy="523875"/>
          </a:xfrm>
          <a:prstGeom xmlns:a="http://schemas.openxmlformats.org/drawingml/2006/main" prst="line">
            <a:avLst/>
          </a:prstGeom>
          <a:noFill xmlns:a="http://schemas.openxmlformats.org/drawingml/2006/main"/>
          <a:ln xmlns:a="http://schemas.openxmlformats.org/drawingml/2006/main" w="19050">
            <a:solidFill>
              <a:srgbClr val="4B8F58"/>
            </a:solidFill>
            <a:prstDash val="solid"/>
          </a:ln>
        </p:spPr>
      </p:sp>
      <p:sp>
        <p:nvSpPr>
          <p:cNvPr id="29" name="">
            <a:extLst xmlns:a="http://schemas.openxmlformats.org/drawingml/2006/main">
              <a:ext uri="{FF2B5EF4-FFF2-40B4-BE49-F238E27FC236}">
                <a16:creationId xmlns:a16="http://schemas.microsoft.com/office/drawing/2014/main" id="{C4CC428E-F173-4EB4-A9C5-6BC6A623EFD3}"/>
              </a:ext>
            </a:extLst>
          </p:cNvPr>
          <p:cNvSpPr>
            <a:spLocks xmlns:a="http://schemas.openxmlformats.org/drawingml/2006/main" noGrp="1"/>
          </p:cNvSpPr>
          <p:nvPr/>
        </p:nvSpPr>
        <p:spPr>
          <a:xfrm xmlns:a="http://schemas.openxmlformats.org/drawingml/2006/main">
            <a:off x="5762625" y="4124325"/>
            <a:ext cx="104775" cy="104775"/>
          </a:xfrm>
          <a:prstGeom xmlns:a="http://schemas.openxmlformats.org/drawingml/2006/main" prst="downArrow">
            <a:avLst/>
          </a:prstGeom>
          <a:solidFill xmlns:a="http://schemas.openxmlformats.org/drawingml/2006/main">
            <a:srgbClr val="4B8F5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0A882B9-2DE5-43CC-AF42-888E68E66398}"/>
              </a:ext>
            </a:extLst>
          </p:cNvPr>
          <p:cNvSpPr>
            <a:spLocks xmlns:a="http://schemas.openxmlformats.org/drawingml/2006/main" noGrp="1"/>
          </p:cNvSpPr>
          <p:nvPr/>
        </p:nvSpPr>
        <p:spPr>
          <a:xfrm xmlns:a="http://schemas.openxmlformats.org/drawingml/2006/main">
            <a:off x="7858125" y="1476375"/>
            <a:ext cx="3905250" cy="4286250"/>
          </a:xfrm>
          <a:prstGeom xmlns:a="http://schemas.openxmlformats.org/drawingml/2006/main" prst="roundRect">
            <a:avLst>
              <a:gd name="adj" fmla="val 2927"/>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900" b="1">
                <a:solidFill>
                  <a:srgbClr val="73559B"/>
                </a:solidFill>
                <a:latin typeface="Arial"/>
                <a:ea typeface="Arial"/>
                <a:cs typeface="Arial"/>
              </a:defRPr>
            </a:pPr>
            <a:r>
              <a:rPr sz="900" b="1">
                <a:solidFill>
                  <a:srgbClr val="73559B"/>
                </a:solidFill>
                <a:latin typeface="Arial"/>
                <a:ea typeface="Arial"/>
                <a:cs typeface="Arial"/>
              </a:rPr>
              <a:t>PRODUCTION INTEGRATION PATH</a:t>
            </a:r>
          </a:p>
        </p:txBody>
      </p:sp>
      <p:sp>
        <p:nvSpPr>
          <p:cNvPr id="31" name="">
            <a:extLst xmlns:a="http://schemas.openxmlformats.org/drawingml/2006/main">
              <a:ext uri="{FF2B5EF4-FFF2-40B4-BE49-F238E27FC236}">
                <a16:creationId xmlns:a16="http://schemas.microsoft.com/office/drawing/2014/main" id="{408D8283-DA8C-4129-8FBD-8DCA72CEA5A6}"/>
              </a:ext>
            </a:extLst>
          </p:cNvPr>
          <p:cNvSpPr>
            <a:spLocks xmlns:a="http://schemas.openxmlformats.org/drawingml/2006/main" noGrp="1"/>
          </p:cNvSpPr>
          <p:nvPr/>
        </p:nvSpPr>
        <p:spPr>
          <a:xfrm xmlns:a="http://schemas.openxmlformats.org/drawingml/2006/main">
            <a:off x="8143875" y="1952625"/>
            <a:ext cx="1524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API Setu / provider onboarding</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Approved application, credentials and subscriptions</a:t>
            </a:r>
          </a:p>
        </p:txBody>
      </p:sp>
      <p:sp>
        <p:nvSpPr>
          <p:cNvPr id="32" name="">
            <a:extLst xmlns:a="http://schemas.openxmlformats.org/drawingml/2006/main">
              <a:ext uri="{FF2B5EF4-FFF2-40B4-BE49-F238E27FC236}">
                <a16:creationId xmlns:a16="http://schemas.microsoft.com/office/drawing/2014/main" id="{1B0773E1-1694-43CC-9CE2-1E249AC72310}"/>
              </a:ext>
            </a:extLst>
          </p:cNvPr>
          <p:cNvSpPr>
            <a:spLocks xmlns:a="http://schemas.openxmlformats.org/drawingml/2006/main" noGrp="1"/>
          </p:cNvSpPr>
          <p:nvPr/>
        </p:nvSpPr>
        <p:spPr>
          <a:xfrm xmlns:a="http://schemas.openxmlformats.org/drawingml/2006/main">
            <a:off x="9953625" y="1952625"/>
            <a:ext cx="1524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Egress controls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Allowlist, TLS or mTLS, rate policy</a:t>
            </a:r>
          </a:p>
        </p:txBody>
      </p:sp>
      <p:sp>
        <p:nvSpPr>
          <p:cNvPr id="33" name="">
            <a:extLst xmlns:a="http://schemas.openxmlformats.org/drawingml/2006/main">
              <a:ext uri="{FF2B5EF4-FFF2-40B4-BE49-F238E27FC236}">
                <a16:creationId xmlns:a16="http://schemas.microsoft.com/office/drawing/2014/main" id="{4887B71B-5CFD-4FF5-AF43-34F6ABC83C3F}"/>
              </a:ext>
            </a:extLst>
          </p:cNvPr>
          <p:cNvSpPr>
            <a:spLocks xmlns:a="http://schemas.openxmlformats.org/drawingml/2006/main" noGrp="1"/>
          </p:cNvSpPr>
          <p:nvPr/>
        </p:nvSpPr>
        <p:spPr>
          <a:xfrm xmlns:a="http://schemas.openxmlformats.org/drawingml/2006/main">
            <a:off x="8143875" y="3143250"/>
            <a:ext cx="1524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Approved APIs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GSTN, Udyam, MCA21 and other authorised services</a:t>
            </a:r>
          </a:p>
        </p:txBody>
      </p:sp>
      <p:sp>
        <p:nvSpPr>
          <p:cNvPr id="34" name="">
            <a:extLst xmlns:a="http://schemas.openxmlformats.org/drawingml/2006/main">
              <a:ext uri="{FF2B5EF4-FFF2-40B4-BE49-F238E27FC236}">
                <a16:creationId xmlns:a16="http://schemas.microsoft.com/office/drawing/2014/main" id="{ECA4A942-27E9-442B-805C-77EE7A48BA55}"/>
              </a:ext>
            </a:extLst>
          </p:cNvPr>
          <p:cNvSpPr>
            <a:spLocks xmlns:a="http://schemas.openxmlformats.org/drawingml/2006/main" noGrp="1"/>
          </p:cNvSpPr>
          <p:nvPr/>
        </p:nvSpPr>
        <p:spPr>
          <a:xfrm xmlns:a="http://schemas.openxmlformats.org/drawingml/2006/main">
            <a:off x="9953625" y="3143250"/>
            <a:ext cx="1524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Controlled evidence path</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Document proof when no approved API exists</a:t>
            </a:r>
          </a:p>
        </p:txBody>
      </p:sp>
      <p:sp>
        <p:nvSpPr>
          <p:cNvPr id="35" name="">
            <a:extLst xmlns:a="http://schemas.openxmlformats.org/drawingml/2006/main">
              <a:ext uri="{FF2B5EF4-FFF2-40B4-BE49-F238E27FC236}">
                <a16:creationId xmlns:a16="http://schemas.microsoft.com/office/drawing/2014/main" id="{DF5A51D6-DBE3-41E4-A1AF-E3658E339032}"/>
              </a:ext>
            </a:extLst>
          </p:cNvPr>
          <p:cNvSpPr>
            <a:spLocks xmlns:a="http://schemas.openxmlformats.org/drawingml/2006/main" noGrp="1"/>
          </p:cNvSpPr>
          <p:nvPr/>
        </p:nvSpPr>
        <p:spPr>
          <a:xfrm xmlns:a="http://schemas.openxmlformats.org/drawingml/2006/main">
            <a:off x="9048750" y="4333875"/>
            <a:ext cx="152400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Source audit record</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Request, response hash, timestamp and policy decision</a:t>
            </a:r>
          </a:p>
        </p:txBody>
      </p:sp>
      <p:sp>
        <p:nvSpPr>
          <p:cNvPr id="36" name="">
            <a:extLst xmlns:a="http://schemas.openxmlformats.org/drawingml/2006/main">
              <a:ext uri="{FF2B5EF4-FFF2-40B4-BE49-F238E27FC236}">
                <a16:creationId xmlns:a16="http://schemas.microsoft.com/office/drawing/2014/main" id="{72E55AD0-523D-4B77-BEFA-CEF059B32C03}"/>
              </a:ext>
            </a:extLst>
          </p:cNvPr>
          <p:cNvSpPr>
            <a:spLocks xmlns:a="http://schemas.openxmlformats.org/drawingml/2006/main" noGrp="1"/>
          </p:cNvSpPr>
          <p:nvPr/>
        </p:nvSpPr>
        <p:spPr>
          <a:xfrm xmlns:a="http://schemas.openxmlformats.org/drawingml/2006/main">
            <a:off x="8905875" y="2571750"/>
            <a:ext cx="0" cy="4762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37" name="">
            <a:extLst xmlns:a="http://schemas.openxmlformats.org/drawingml/2006/main">
              <a:ext uri="{FF2B5EF4-FFF2-40B4-BE49-F238E27FC236}">
                <a16:creationId xmlns:a16="http://schemas.microsoft.com/office/drawing/2014/main" id="{DEEB4C75-B859-46AE-8B5A-0BB5AA6864CC}"/>
              </a:ext>
            </a:extLst>
          </p:cNvPr>
          <p:cNvSpPr>
            <a:spLocks xmlns:a="http://schemas.openxmlformats.org/drawingml/2006/main" noGrp="1"/>
          </p:cNvSpPr>
          <p:nvPr/>
        </p:nvSpPr>
        <p:spPr>
          <a:xfrm xmlns:a="http://schemas.openxmlformats.org/drawingml/2006/main">
            <a:off x="8858250" y="2933700"/>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CB3A560-BB97-4159-AF5F-47F4E912132A}"/>
              </a:ext>
            </a:extLst>
          </p:cNvPr>
          <p:cNvSpPr>
            <a:spLocks xmlns:a="http://schemas.openxmlformats.org/drawingml/2006/main" noGrp="1"/>
          </p:cNvSpPr>
          <p:nvPr/>
        </p:nvSpPr>
        <p:spPr>
          <a:xfrm xmlns:a="http://schemas.openxmlformats.org/drawingml/2006/main">
            <a:off x="10715625" y="2571750"/>
            <a:ext cx="0" cy="4762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39" name="">
            <a:extLst xmlns:a="http://schemas.openxmlformats.org/drawingml/2006/main">
              <a:ext uri="{FF2B5EF4-FFF2-40B4-BE49-F238E27FC236}">
                <a16:creationId xmlns:a16="http://schemas.microsoft.com/office/drawing/2014/main" id="{EA4C3C84-6468-4E1B-B24F-E11B3772D762}"/>
              </a:ext>
            </a:extLst>
          </p:cNvPr>
          <p:cNvSpPr>
            <a:spLocks xmlns:a="http://schemas.openxmlformats.org/drawingml/2006/main" noGrp="1"/>
          </p:cNvSpPr>
          <p:nvPr/>
        </p:nvSpPr>
        <p:spPr>
          <a:xfrm xmlns:a="http://schemas.openxmlformats.org/drawingml/2006/main">
            <a:off x="10668000" y="2933700"/>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47BCE52-FA2F-4582-A81C-86C0357E16DA}"/>
              </a:ext>
            </a:extLst>
          </p:cNvPr>
          <p:cNvSpPr>
            <a:spLocks xmlns:a="http://schemas.openxmlformats.org/drawingml/2006/main" noGrp="1"/>
          </p:cNvSpPr>
          <p:nvPr/>
        </p:nvSpPr>
        <p:spPr>
          <a:xfrm xmlns:a="http://schemas.openxmlformats.org/drawingml/2006/main">
            <a:off x="8905875" y="4048125"/>
            <a:ext cx="1809750" cy="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41" name="">
            <a:extLst xmlns:a="http://schemas.openxmlformats.org/drawingml/2006/main">
              <a:ext uri="{FF2B5EF4-FFF2-40B4-BE49-F238E27FC236}">
                <a16:creationId xmlns:a16="http://schemas.microsoft.com/office/drawing/2014/main" id="{0B2D00CC-24D4-42D2-A0F1-69F445ADF038}"/>
              </a:ext>
            </a:extLst>
          </p:cNvPr>
          <p:cNvSpPr>
            <a:spLocks xmlns:a="http://schemas.openxmlformats.org/drawingml/2006/main" noGrp="1"/>
          </p:cNvSpPr>
          <p:nvPr/>
        </p:nvSpPr>
        <p:spPr>
          <a:xfrm xmlns:a="http://schemas.openxmlformats.org/drawingml/2006/main">
            <a:off x="9810750" y="4048125"/>
            <a:ext cx="0" cy="19050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42" name="">
            <a:extLst xmlns:a="http://schemas.openxmlformats.org/drawingml/2006/main">
              <a:ext uri="{FF2B5EF4-FFF2-40B4-BE49-F238E27FC236}">
                <a16:creationId xmlns:a16="http://schemas.microsoft.com/office/drawing/2014/main" id="{7E763352-2BF4-425D-AE6A-BF036AD0358A}"/>
              </a:ext>
            </a:extLst>
          </p:cNvPr>
          <p:cNvSpPr>
            <a:spLocks xmlns:a="http://schemas.openxmlformats.org/drawingml/2006/main" noGrp="1"/>
          </p:cNvSpPr>
          <p:nvPr/>
        </p:nvSpPr>
        <p:spPr>
          <a:xfrm xmlns:a="http://schemas.openxmlformats.org/drawingml/2006/main">
            <a:off x="9763125" y="4124325"/>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460A167-17AB-493C-AE55-8302B96CF20E}"/>
              </a:ext>
            </a:extLst>
          </p:cNvPr>
          <p:cNvSpPr>
            <a:spLocks xmlns:a="http://schemas.openxmlformats.org/drawingml/2006/main" noGrp="1"/>
          </p:cNvSpPr>
          <p:nvPr/>
        </p:nvSpPr>
        <p:spPr>
          <a:xfrm xmlns:a="http://schemas.openxmlformats.org/drawingml/2006/main">
            <a:off x="3048000" y="3571875"/>
            <a:ext cx="1314450" cy="0"/>
          </a:xfrm>
          <a:prstGeom xmlns:a="http://schemas.openxmlformats.org/drawingml/2006/main" prst="line">
            <a:avLst/>
          </a:prstGeom>
          <a:noFill xmlns:a="http://schemas.openxmlformats.org/drawingml/2006/main"/>
          <a:ln xmlns:a="http://schemas.openxmlformats.org/drawingml/2006/main" w="19050">
            <a:solidFill>
              <a:srgbClr val="4B8F58"/>
            </a:solidFill>
            <a:prstDash val="dash"/>
          </a:ln>
        </p:spPr>
      </p:sp>
      <p:sp>
        <p:nvSpPr>
          <p:cNvPr id="44" name="">
            <a:extLst xmlns:a="http://schemas.openxmlformats.org/drawingml/2006/main">
              <a:ext uri="{FF2B5EF4-FFF2-40B4-BE49-F238E27FC236}">
                <a16:creationId xmlns:a16="http://schemas.microsoft.com/office/drawing/2014/main" id="{1A510F07-07AD-446C-8DD1-57CA42432C78}"/>
              </a:ext>
            </a:extLst>
          </p:cNvPr>
          <p:cNvSpPr>
            <a:spLocks xmlns:a="http://schemas.openxmlformats.org/drawingml/2006/main" noGrp="1"/>
          </p:cNvSpPr>
          <p:nvPr/>
        </p:nvSpPr>
        <p:spPr>
          <a:xfrm xmlns:a="http://schemas.openxmlformats.org/drawingml/2006/main">
            <a:off x="4257675" y="3524250"/>
            <a:ext cx="104775" cy="104775"/>
          </a:xfrm>
          <a:prstGeom xmlns:a="http://schemas.openxmlformats.org/drawingml/2006/main" prst="rightArrow">
            <a:avLst/>
          </a:prstGeom>
          <a:solidFill xmlns:a="http://schemas.openxmlformats.org/drawingml/2006/main">
            <a:srgbClr val="4B8F5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E769F87D-5AE9-4340-B365-FC31735BC51B}"/>
              </a:ext>
            </a:extLst>
          </p:cNvPr>
          <p:cNvSpPr>
            <a:spLocks xmlns:a="http://schemas.openxmlformats.org/drawingml/2006/main" noGrp="1"/>
          </p:cNvSpPr>
          <p:nvPr/>
        </p:nvSpPr>
        <p:spPr>
          <a:xfrm xmlns:a="http://schemas.openxmlformats.org/drawingml/2006/main">
            <a:off x="3286125" y="3371850"/>
            <a:ext cx="809625"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4B8F58"/>
                </a:solidFill>
                <a:latin typeface="Arial"/>
                <a:ea typeface="Arial"/>
                <a:cs typeface="Arial"/>
              </a:defRPr>
            </a:pPr>
            <a:r>
              <a:rPr sz="675" b="1">
                <a:solidFill>
                  <a:srgbClr val="4B8F58"/>
                </a:solidFill>
                <a:latin typeface="Arial"/>
                <a:ea typeface="Arial"/>
                <a:cs typeface="Arial"/>
              </a:rPr>
              <a:t>demo mode</a:t>
            </a:r>
          </a:p>
        </p:txBody>
      </p:sp>
      <p:sp>
        <p:nvSpPr>
          <p:cNvPr id="46" name="">
            <a:extLst xmlns:a="http://schemas.openxmlformats.org/drawingml/2006/main">
              <a:ext uri="{FF2B5EF4-FFF2-40B4-BE49-F238E27FC236}">
                <a16:creationId xmlns:a16="http://schemas.microsoft.com/office/drawing/2014/main" id="{E0AAF97E-0A87-4DAF-8A58-143AAD6DBE44}"/>
              </a:ext>
            </a:extLst>
          </p:cNvPr>
          <p:cNvSpPr>
            <a:spLocks xmlns:a="http://schemas.openxmlformats.org/drawingml/2006/main" noGrp="1"/>
          </p:cNvSpPr>
          <p:nvPr/>
        </p:nvSpPr>
        <p:spPr>
          <a:xfrm xmlns:a="http://schemas.openxmlformats.org/drawingml/2006/main">
            <a:off x="3048000" y="4048125"/>
            <a:ext cx="5095875"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47" name="">
            <a:extLst xmlns:a="http://schemas.openxmlformats.org/drawingml/2006/main">
              <a:ext uri="{FF2B5EF4-FFF2-40B4-BE49-F238E27FC236}">
                <a16:creationId xmlns:a16="http://schemas.microsoft.com/office/drawing/2014/main" id="{9712CAAD-8DCE-4BAD-B29E-A6E27B41A494}"/>
              </a:ext>
            </a:extLst>
          </p:cNvPr>
          <p:cNvSpPr>
            <a:spLocks xmlns:a="http://schemas.openxmlformats.org/drawingml/2006/main" noGrp="1"/>
          </p:cNvSpPr>
          <p:nvPr/>
        </p:nvSpPr>
        <p:spPr>
          <a:xfrm xmlns:a="http://schemas.openxmlformats.org/drawingml/2006/main">
            <a:off x="8039100" y="4000500"/>
            <a:ext cx="104775" cy="104775"/>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B26D864-8E9A-4550-8B24-29B7029235D8}"/>
              </a:ext>
            </a:extLst>
          </p:cNvPr>
          <p:cNvSpPr>
            <a:spLocks xmlns:a="http://schemas.openxmlformats.org/drawingml/2006/main" noGrp="1"/>
          </p:cNvSpPr>
          <p:nvPr/>
        </p:nvSpPr>
        <p:spPr>
          <a:xfrm xmlns:a="http://schemas.openxmlformats.org/drawingml/2006/main">
            <a:off x="5000625" y="3857625"/>
            <a:ext cx="1524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73559B"/>
                </a:solidFill>
                <a:latin typeface="Arial"/>
                <a:ea typeface="Arial"/>
                <a:cs typeface="Arial"/>
              </a:defRPr>
            </a:pPr>
            <a:r>
              <a:rPr sz="675" b="1">
                <a:solidFill>
                  <a:srgbClr val="73559B"/>
                </a:solidFill>
                <a:latin typeface="Arial"/>
                <a:ea typeface="Arial"/>
                <a:cs typeface="Arial"/>
              </a:rPr>
              <a:t>approved production route</a:t>
            </a:r>
          </a:p>
        </p:txBody>
      </p:sp>
    </p:spTree>
    <p:extLst>
      <p:ext uri="{BB962C8B-B14F-4D97-AF65-F5344CB8AC3E}">
        <p14:creationId xmlns:p14="http://schemas.microsoft.com/office/powerpoint/2010/main" val="7639050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42CCCD10-118A-4710-8EF6-F590C6CB92F9}"/>
              </a:ext>
            </a:extLst>
          </p:cNvPr>
          <p:cNvSpPr>
            <a:spLocks xmlns:a="http://schemas.openxmlformats.org/drawingml/2006/main" noGrp="1"/>
          </p:cNvSpPr>
          <p:nvPr/>
        </p:nvSpPr>
        <p:spPr>
          <a:xfrm xmlns:a="http://schemas.openxmlformats.org/drawingml/2006/main">
            <a:off x="400050" y="2476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6324F"/>
                </a:solidFill>
                <a:latin typeface="Arial"/>
                <a:ea typeface="Arial"/>
                <a:cs typeface="Arial"/>
              </a:defRPr>
            </a:pPr>
            <a:r>
              <a:rPr sz="1125" b="1">
                <a:solidFill>
                  <a:srgbClr val="16324F"/>
                </a:solidFill>
                <a:latin typeface="Arial"/>
                <a:ea typeface="Arial"/>
                <a:cs typeface="Arial"/>
              </a:rPr>
              <a:t>BIDSURE</a:t>
            </a:r>
          </a:p>
        </p:txBody>
      </p:sp>
      <p:sp>
        <p:nvSpPr>
          <p:cNvPr id="2" name="">
            <a:extLst xmlns:a="http://schemas.openxmlformats.org/drawingml/2006/main">
              <a:ext uri="{FF2B5EF4-FFF2-40B4-BE49-F238E27FC236}">
                <a16:creationId xmlns:a16="http://schemas.microsoft.com/office/drawing/2014/main" id="{25CBC61F-4E86-4BA2-AD70-040E64029F35}"/>
              </a:ext>
            </a:extLst>
          </p:cNvPr>
          <p:cNvSpPr>
            <a:spLocks xmlns:a="http://schemas.openxmlformats.org/drawingml/2006/main" noGrp="1"/>
          </p:cNvSpPr>
          <p:nvPr/>
        </p:nvSpPr>
        <p:spPr>
          <a:xfrm xmlns:a="http://schemas.openxmlformats.org/drawingml/2006/main">
            <a:off x="400050" y="5048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75" b="1">
                <a:solidFill>
                  <a:srgbClr val="1B2936"/>
                </a:solidFill>
                <a:latin typeface="Arial"/>
                <a:ea typeface="Arial"/>
                <a:cs typeface="Arial"/>
              </a:defRPr>
            </a:pPr>
            <a:r>
              <a:rPr sz="2175" b="1">
                <a:solidFill>
                  <a:srgbClr val="1B2936"/>
                </a:solidFill>
                <a:latin typeface="Arial"/>
                <a:ea typeface="Arial"/>
                <a:cs typeface="Arial"/>
              </a:rPr>
              <a:t>Cloud Storage, Operations and Security Architecture</a:t>
            </a:r>
          </a:p>
        </p:txBody>
      </p:sp>
      <p:sp>
        <p:nvSpPr>
          <p:cNvPr id="3" name="">
            <a:extLst xmlns:a="http://schemas.openxmlformats.org/drawingml/2006/main">
              <a:ext uri="{FF2B5EF4-FFF2-40B4-BE49-F238E27FC236}">
                <a16:creationId xmlns:a16="http://schemas.microsoft.com/office/drawing/2014/main" id="{7D99F54E-556D-4C5D-A315-B11353B013EC}"/>
              </a:ext>
            </a:extLst>
          </p:cNvPr>
          <p:cNvSpPr>
            <a:spLocks xmlns:a="http://schemas.openxmlformats.org/drawingml/2006/main" noGrp="1"/>
          </p:cNvSpPr>
          <p:nvPr/>
        </p:nvSpPr>
        <p:spPr>
          <a:xfrm xmlns:a="http://schemas.openxmlformats.org/drawingml/2006/main">
            <a:off x="419100" y="9334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0">
                <a:solidFill>
                  <a:srgbClr val="52616B"/>
                </a:solidFill>
                <a:latin typeface="Arial"/>
                <a:ea typeface="Arial"/>
                <a:cs typeface="Arial"/>
              </a:defRPr>
            </a:pPr>
            <a:r>
              <a:rPr sz="900" b="0">
                <a:solidFill>
                  <a:srgbClr val="52616B"/>
                </a:solidFill>
                <a:latin typeface="Arial"/>
                <a:ea typeface="Arial"/>
                <a:cs typeface="Arial"/>
              </a:rPr>
              <a:t>Cloud storage, worker isolation, secrets, monitoring and recovery support the application without exposing source credentials or evidence</a:t>
            </a:r>
          </a:p>
        </p:txBody>
      </p:sp>
      <p:sp>
        <p:nvSpPr>
          <p:cNvPr id="4" name="">
            <a:extLst xmlns:a="http://schemas.openxmlformats.org/drawingml/2006/main">
              <a:ext uri="{FF2B5EF4-FFF2-40B4-BE49-F238E27FC236}">
                <a16:creationId xmlns:a16="http://schemas.microsoft.com/office/drawing/2014/main" id="{3B63EDA9-F594-403A-AB50-DD72D30A9118}"/>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8EA1AC"/>
            </a:solidFill>
            <a:prstDash val="solid"/>
          </a:ln>
        </p:spPr>
      </p:sp>
      <p:sp>
        <p:nvSpPr>
          <p:cNvPr id="5" name="">
            <a:extLst xmlns:a="http://schemas.openxmlformats.org/drawingml/2006/main">
              <a:ext uri="{FF2B5EF4-FFF2-40B4-BE49-F238E27FC236}">
                <a16:creationId xmlns:a16="http://schemas.microsoft.com/office/drawing/2014/main" id="{475B31DB-1124-4A53-B888-CEDA06FD848F}"/>
              </a:ext>
            </a:extLst>
          </p:cNvPr>
          <p:cNvSpPr>
            <a:spLocks xmlns:a="http://schemas.openxmlformats.org/drawingml/2006/main" noGrp="1"/>
          </p:cNvSpPr>
          <p:nvPr/>
        </p:nvSpPr>
        <p:spPr>
          <a:xfrm xmlns:a="http://schemas.openxmlformats.org/drawingml/2006/main">
            <a:off x="400050" y="654367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SIH26100 | Architecture set 5 of 5</a:t>
            </a:r>
          </a:p>
        </p:txBody>
      </p:sp>
      <p:sp>
        <p:nvSpPr>
          <p:cNvPr id="6" name="">
            <a:extLst xmlns:a="http://schemas.openxmlformats.org/drawingml/2006/main">
              <a:ext uri="{FF2B5EF4-FFF2-40B4-BE49-F238E27FC236}">
                <a16:creationId xmlns:a16="http://schemas.microsoft.com/office/drawing/2014/main" id="{9B7564C6-F6B6-4102-B147-66EFCF9EE8AB}"/>
              </a:ext>
            </a:extLst>
          </p:cNvPr>
          <p:cNvSpPr>
            <a:spLocks xmlns:a="http://schemas.openxmlformats.org/drawingml/2006/main" noGrp="1"/>
          </p:cNvSpPr>
          <p:nvPr/>
        </p:nvSpPr>
        <p:spPr>
          <a:xfrm xmlns:a="http://schemas.openxmlformats.org/drawingml/2006/main">
            <a:off x="9601200" y="6543675"/>
            <a:ext cx="2190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Node.js + Express + TypeScript</a:t>
            </a:r>
          </a:p>
        </p:txBody>
      </p:sp>
      <p:sp>
        <p:nvSpPr>
          <p:cNvPr id="7" name="">
            <a:extLst xmlns:a="http://schemas.openxmlformats.org/drawingml/2006/main">
              <a:ext uri="{FF2B5EF4-FFF2-40B4-BE49-F238E27FC236}">
                <a16:creationId xmlns:a16="http://schemas.microsoft.com/office/drawing/2014/main" id="{0915A41D-8707-4EDA-970A-95E8FF8168BA}"/>
              </a:ext>
            </a:extLst>
          </p:cNvPr>
          <p:cNvSpPr>
            <a:spLocks xmlns:a="http://schemas.openxmlformats.org/drawingml/2006/main" noGrp="1"/>
          </p:cNvSpPr>
          <p:nvPr/>
        </p:nvSpPr>
        <p:spPr>
          <a:xfrm xmlns:a="http://schemas.openxmlformats.org/drawingml/2006/main">
            <a:off x="400050" y="1428750"/>
            <a:ext cx="2000250" cy="4381500"/>
          </a:xfrm>
          <a:prstGeom xmlns:a="http://schemas.openxmlformats.org/drawingml/2006/main" prst="roundRect">
            <a:avLst>
              <a:gd name="adj" fmla="val 5714"/>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900" b="1">
                <a:solidFill>
                  <a:srgbClr val="4B88B5"/>
                </a:solidFill>
                <a:latin typeface="Arial"/>
                <a:ea typeface="Arial"/>
                <a:cs typeface="Arial"/>
              </a:defRPr>
            </a:pPr>
            <a:r>
              <a:rPr sz="900" b="1">
                <a:solidFill>
                  <a:srgbClr val="4B88B5"/>
                </a:solidFill>
                <a:latin typeface="Arial"/>
                <a:ea typeface="Arial"/>
                <a:cs typeface="Arial"/>
              </a:rPr>
              <a:t>PUBLIC EDGE</a:t>
            </a:r>
          </a:p>
        </p:txBody>
      </p:sp>
      <p:sp>
        <p:nvSpPr>
          <p:cNvPr id="8" name="">
            <a:extLst xmlns:a="http://schemas.openxmlformats.org/drawingml/2006/main">
              <a:ext uri="{FF2B5EF4-FFF2-40B4-BE49-F238E27FC236}">
                <a16:creationId xmlns:a16="http://schemas.microsoft.com/office/drawing/2014/main" id="{D299F865-9C5B-4A1B-87AA-A6CEA186EB04}"/>
              </a:ext>
            </a:extLst>
          </p:cNvPr>
          <p:cNvSpPr>
            <a:spLocks xmlns:a="http://schemas.openxmlformats.org/drawingml/2006/main" noGrp="1"/>
          </p:cNvSpPr>
          <p:nvPr/>
        </p:nvSpPr>
        <p:spPr>
          <a:xfrm xmlns:a="http://schemas.openxmlformats.org/drawingml/2006/main">
            <a:off x="685800" y="2047875"/>
            <a:ext cx="1428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DNS and TLS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HTTPS certificates and domain routing</a:t>
            </a:r>
          </a:p>
        </p:txBody>
      </p:sp>
      <p:sp>
        <p:nvSpPr>
          <p:cNvPr id="9" name="">
            <a:extLst xmlns:a="http://schemas.openxmlformats.org/drawingml/2006/main">
              <a:ext uri="{FF2B5EF4-FFF2-40B4-BE49-F238E27FC236}">
                <a16:creationId xmlns:a16="http://schemas.microsoft.com/office/drawing/2014/main" id="{6DB8EABB-922D-46BA-9DC4-5001DAFC92AB}"/>
              </a:ext>
            </a:extLst>
          </p:cNvPr>
          <p:cNvSpPr>
            <a:spLocks xmlns:a="http://schemas.openxmlformats.org/drawingml/2006/main" noGrp="1"/>
          </p:cNvSpPr>
          <p:nvPr/>
        </p:nvSpPr>
        <p:spPr>
          <a:xfrm xmlns:a="http://schemas.openxmlformats.org/drawingml/2006/main">
            <a:off x="685800" y="2952750"/>
            <a:ext cx="1428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WAF and rate limits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Threat filtering and request quotas</a:t>
            </a:r>
          </a:p>
        </p:txBody>
      </p:sp>
      <p:sp>
        <p:nvSpPr>
          <p:cNvPr id="10" name="">
            <a:extLst xmlns:a="http://schemas.openxmlformats.org/drawingml/2006/main">
              <a:ext uri="{FF2B5EF4-FFF2-40B4-BE49-F238E27FC236}">
                <a16:creationId xmlns:a16="http://schemas.microsoft.com/office/drawing/2014/main" id="{F6806ABC-BC4D-4E8D-9B5B-E240585C18D4}"/>
              </a:ext>
            </a:extLst>
          </p:cNvPr>
          <p:cNvSpPr>
            <a:spLocks xmlns:a="http://schemas.openxmlformats.org/drawingml/2006/main" noGrp="1"/>
          </p:cNvSpPr>
          <p:nvPr/>
        </p:nvSpPr>
        <p:spPr>
          <a:xfrm xmlns:a="http://schemas.openxmlformats.org/drawingml/2006/main">
            <a:off x="685800" y="3857625"/>
            <a:ext cx="1428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Load balancer</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Routes to frontend and API</a:t>
            </a:r>
          </a:p>
        </p:txBody>
      </p:sp>
      <p:sp>
        <p:nvSpPr>
          <p:cNvPr id="11" name="">
            <a:extLst xmlns:a="http://schemas.openxmlformats.org/drawingml/2006/main">
              <a:ext uri="{FF2B5EF4-FFF2-40B4-BE49-F238E27FC236}">
                <a16:creationId xmlns:a16="http://schemas.microsoft.com/office/drawing/2014/main" id="{5586EC28-9727-4F3F-9CCC-FAD87C1BF23A}"/>
              </a:ext>
            </a:extLst>
          </p:cNvPr>
          <p:cNvSpPr>
            <a:spLocks xmlns:a="http://schemas.openxmlformats.org/drawingml/2006/main" noGrp="1"/>
          </p:cNvSpPr>
          <p:nvPr/>
        </p:nvSpPr>
        <p:spPr>
          <a:xfrm xmlns:a="http://schemas.openxmlformats.org/drawingml/2006/main">
            <a:off x="1400175" y="2600325"/>
            <a:ext cx="0" cy="257175"/>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12" name="">
            <a:extLst xmlns:a="http://schemas.openxmlformats.org/drawingml/2006/main">
              <a:ext uri="{FF2B5EF4-FFF2-40B4-BE49-F238E27FC236}">
                <a16:creationId xmlns:a16="http://schemas.microsoft.com/office/drawing/2014/main" id="{A997E9D2-FF7A-4C7A-8711-0E27E3404143}"/>
              </a:ext>
            </a:extLst>
          </p:cNvPr>
          <p:cNvSpPr>
            <a:spLocks xmlns:a="http://schemas.openxmlformats.org/drawingml/2006/main" noGrp="1"/>
          </p:cNvSpPr>
          <p:nvPr/>
        </p:nvSpPr>
        <p:spPr>
          <a:xfrm xmlns:a="http://schemas.openxmlformats.org/drawingml/2006/main">
            <a:off x="1352550" y="2743200"/>
            <a:ext cx="104775" cy="104775"/>
          </a:xfrm>
          <a:prstGeom xmlns:a="http://schemas.openxmlformats.org/drawingml/2006/main" prst="downArrow">
            <a:avLst/>
          </a:prstGeom>
          <a:solidFill xmlns:a="http://schemas.openxmlformats.org/drawingml/2006/main">
            <a:srgbClr val="4B88B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9B755D-E566-41ED-A235-8F3A0FDED558}"/>
              </a:ext>
            </a:extLst>
          </p:cNvPr>
          <p:cNvSpPr>
            <a:spLocks xmlns:a="http://schemas.openxmlformats.org/drawingml/2006/main" noGrp="1"/>
          </p:cNvSpPr>
          <p:nvPr/>
        </p:nvSpPr>
        <p:spPr>
          <a:xfrm xmlns:a="http://schemas.openxmlformats.org/drawingml/2006/main">
            <a:off x="1400175" y="3505200"/>
            <a:ext cx="0" cy="257175"/>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14" name="">
            <a:extLst xmlns:a="http://schemas.openxmlformats.org/drawingml/2006/main">
              <a:ext uri="{FF2B5EF4-FFF2-40B4-BE49-F238E27FC236}">
                <a16:creationId xmlns:a16="http://schemas.microsoft.com/office/drawing/2014/main" id="{B3D0DEF9-4C10-4196-82C3-B851A34EE1AA}"/>
              </a:ext>
            </a:extLst>
          </p:cNvPr>
          <p:cNvSpPr>
            <a:spLocks xmlns:a="http://schemas.openxmlformats.org/drawingml/2006/main" noGrp="1"/>
          </p:cNvSpPr>
          <p:nvPr/>
        </p:nvSpPr>
        <p:spPr>
          <a:xfrm xmlns:a="http://schemas.openxmlformats.org/drawingml/2006/main">
            <a:off x="1352550" y="3648075"/>
            <a:ext cx="104775" cy="104775"/>
          </a:xfrm>
          <a:prstGeom xmlns:a="http://schemas.openxmlformats.org/drawingml/2006/main" prst="downArrow">
            <a:avLst/>
          </a:prstGeom>
          <a:solidFill xmlns:a="http://schemas.openxmlformats.org/drawingml/2006/main">
            <a:srgbClr val="4B88B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160FEA7-AD44-4407-BF59-9329707C3186}"/>
              </a:ext>
            </a:extLst>
          </p:cNvPr>
          <p:cNvSpPr>
            <a:spLocks xmlns:a="http://schemas.openxmlformats.org/drawingml/2006/main" noGrp="1"/>
          </p:cNvSpPr>
          <p:nvPr/>
        </p:nvSpPr>
        <p:spPr>
          <a:xfrm xmlns:a="http://schemas.openxmlformats.org/drawingml/2006/main">
            <a:off x="2714625" y="1428750"/>
            <a:ext cx="4572000" cy="4381500"/>
          </a:xfrm>
          <a:prstGeom xmlns:a="http://schemas.openxmlformats.org/drawingml/2006/main" prst="roundRect">
            <a:avLst>
              <a:gd name="adj" fmla="val 2609"/>
            </a:avLst>
          </a:prstGeom>
          <a:solidFill xmlns:a="http://schemas.openxmlformats.org/drawingml/2006/main">
            <a:srgbClr val="F5F8FA"/>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900" b="1">
                <a:solidFill>
                  <a:srgbClr val="2A9D8F"/>
                </a:solidFill>
                <a:latin typeface="Arial"/>
                <a:ea typeface="Arial"/>
                <a:cs typeface="Arial"/>
              </a:defRPr>
            </a:pPr>
            <a:r>
              <a:rPr sz="900" b="1">
                <a:solidFill>
                  <a:srgbClr val="2A9D8F"/>
                </a:solidFill>
                <a:latin typeface="Arial"/>
                <a:ea typeface="Arial"/>
                <a:cs typeface="Arial"/>
              </a:rPr>
              <a:t>PRIVATE APPLICATION ZONE</a:t>
            </a:r>
          </a:p>
        </p:txBody>
      </p:sp>
      <p:sp>
        <p:nvSpPr>
          <p:cNvPr id="16" name="">
            <a:extLst xmlns:a="http://schemas.openxmlformats.org/drawingml/2006/main">
              <a:ext uri="{FF2B5EF4-FFF2-40B4-BE49-F238E27FC236}">
                <a16:creationId xmlns:a16="http://schemas.microsoft.com/office/drawing/2014/main" id="{BE24B244-5388-4B4A-BC4B-054A69BA3321}"/>
              </a:ext>
            </a:extLst>
          </p:cNvPr>
          <p:cNvSpPr>
            <a:spLocks xmlns:a="http://schemas.openxmlformats.org/drawingml/2006/main" noGrp="1"/>
          </p:cNvSpPr>
          <p:nvPr/>
        </p:nvSpPr>
        <p:spPr>
          <a:xfrm xmlns:a="http://schemas.openxmlformats.org/drawingml/2006/main">
            <a:off x="3000375" y="2000250"/>
            <a:ext cx="1190625"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Frontend service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React static assets and user session</a:t>
            </a:r>
          </a:p>
        </p:txBody>
      </p:sp>
      <p:sp>
        <p:nvSpPr>
          <p:cNvPr id="17" name="">
            <a:extLst xmlns:a="http://schemas.openxmlformats.org/drawingml/2006/main">
              <a:ext uri="{FF2B5EF4-FFF2-40B4-BE49-F238E27FC236}">
                <a16:creationId xmlns:a16="http://schemas.microsoft.com/office/drawing/2014/main" id="{E686CA16-D874-43E2-BF0C-4D91264A85FD}"/>
              </a:ext>
            </a:extLst>
          </p:cNvPr>
          <p:cNvSpPr>
            <a:spLocks xmlns:a="http://schemas.openxmlformats.org/drawingml/2006/main" noGrp="1"/>
          </p:cNvSpPr>
          <p:nvPr/>
        </p:nvSpPr>
        <p:spPr>
          <a:xfrm xmlns:a="http://schemas.openxmlformats.org/drawingml/2006/main">
            <a:off x="4429125" y="2000250"/>
            <a:ext cx="1190625" cy="571500"/>
          </a:xfrm>
          <a:prstGeom xmlns:a="http://schemas.openxmlformats.org/drawingml/2006/main" prst="roundRect">
            <a:avLst>
              <a:gd name="adj" fmla="val 20000"/>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Express API</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Routes, RBAC, policy and cases</a:t>
            </a:r>
          </a:p>
        </p:txBody>
      </p:sp>
      <p:sp>
        <p:nvSpPr>
          <p:cNvPr id="18" name="">
            <a:extLst xmlns:a="http://schemas.openxmlformats.org/drawingml/2006/main">
              <a:ext uri="{FF2B5EF4-FFF2-40B4-BE49-F238E27FC236}">
                <a16:creationId xmlns:a16="http://schemas.microsoft.com/office/drawing/2014/main" id="{3FD821C8-D66C-4137-8935-54B1D497DD37}"/>
              </a:ext>
            </a:extLst>
          </p:cNvPr>
          <p:cNvSpPr>
            <a:spLocks xmlns:a="http://schemas.openxmlformats.org/drawingml/2006/main" noGrp="1"/>
          </p:cNvSpPr>
          <p:nvPr/>
        </p:nvSpPr>
        <p:spPr>
          <a:xfrm xmlns:a="http://schemas.openxmlformats.org/drawingml/2006/main">
            <a:off x="5857875" y="2000250"/>
            <a:ext cx="1143000" cy="571500"/>
          </a:xfrm>
          <a:prstGeom xmlns:a="http://schemas.openxmlformats.org/drawingml/2006/main" prst="roundRect">
            <a:avLst>
              <a:gd name="adj" fmla="val 20000"/>
            </a:avLst>
          </a:prstGeom>
          <a:solidFill xmlns:a="http://schemas.openxmlformats.org/drawingml/2006/main">
            <a:srgbClr val="E1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Worker service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OCR, adapters and reports</a:t>
            </a:r>
          </a:p>
        </p:txBody>
      </p:sp>
      <p:sp>
        <p:nvSpPr>
          <p:cNvPr id="19" name="">
            <a:extLst xmlns:a="http://schemas.openxmlformats.org/drawingml/2006/main">
              <a:ext uri="{FF2B5EF4-FFF2-40B4-BE49-F238E27FC236}">
                <a16:creationId xmlns:a16="http://schemas.microsoft.com/office/drawing/2014/main" id="{2E969089-9524-47DC-B555-48F0FCFFD699}"/>
              </a:ext>
            </a:extLst>
          </p:cNvPr>
          <p:cNvSpPr>
            <a:spLocks xmlns:a="http://schemas.openxmlformats.org/drawingml/2006/main" noGrp="1"/>
          </p:cNvSpPr>
          <p:nvPr/>
        </p:nvSpPr>
        <p:spPr>
          <a:xfrm xmlns:a="http://schemas.openxmlformats.org/drawingml/2006/main">
            <a:off x="3714750" y="3333750"/>
            <a:ext cx="123825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Monitoring</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Metrics, traces, alerts and dashboards</a:t>
            </a:r>
          </a:p>
        </p:txBody>
      </p:sp>
      <p:sp>
        <p:nvSpPr>
          <p:cNvPr id="20" name="">
            <a:extLst xmlns:a="http://schemas.openxmlformats.org/drawingml/2006/main">
              <a:ext uri="{FF2B5EF4-FFF2-40B4-BE49-F238E27FC236}">
                <a16:creationId xmlns:a16="http://schemas.microsoft.com/office/drawing/2014/main" id="{4D367D19-FDD9-47EF-B4DA-25D26331CB81}"/>
              </a:ext>
            </a:extLst>
          </p:cNvPr>
          <p:cNvSpPr>
            <a:spLocks xmlns:a="http://schemas.openxmlformats.org/drawingml/2006/main" noGrp="1"/>
          </p:cNvSpPr>
          <p:nvPr/>
        </p:nvSpPr>
        <p:spPr>
          <a:xfrm xmlns:a="http://schemas.openxmlformats.org/drawingml/2006/main">
            <a:off x="5191125" y="3333750"/>
            <a:ext cx="123825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Secrets and KMS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Credentials, encryption keys and rotation</a:t>
            </a:r>
          </a:p>
        </p:txBody>
      </p:sp>
      <p:sp>
        <p:nvSpPr>
          <p:cNvPr id="21" name="">
            <a:extLst xmlns:a="http://schemas.openxmlformats.org/drawingml/2006/main">
              <a:ext uri="{FF2B5EF4-FFF2-40B4-BE49-F238E27FC236}">
                <a16:creationId xmlns:a16="http://schemas.microsoft.com/office/drawing/2014/main" id="{FEB755D7-B7B0-45DE-8D8B-7112660E062B}"/>
              </a:ext>
            </a:extLst>
          </p:cNvPr>
          <p:cNvSpPr>
            <a:spLocks xmlns:a="http://schemas.openxmlformats.org/drawingml/2006/main" noGrp="1"/>
          </p:cNvSpPr>
          <p:nvPr/>
        </p:nvSpPr>
        <p:spPr>
          <a:xfrm xmlns:a="http://schemas.openxmlformats.org/drawingml/2006/main">
            <a:off x="4191000" y="2286000"/>
            <a:ext cx="23812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2" name="">
            <a:extLst xmlns:a="http://schemas.openxmlformats.org/drawingml/2006/main">
              <a:ext uri="{FF2B5EF4-FFF2-40B4-BE49-F238E27FC236}">
                <a16:creationId xmlns:a16="http://schemas.microsoft.com/office/drawing/2014/main" id="{B8CF1A70-21BE-43FE-871C-4DF411FAC238}"/>
              </a:ext>
            </a:extLst>
          </p:cNvPr>
          <p:cNvSpPr>
            <a:spLocks xmlns:a="http://schemas.openxmlformats.org/drawingml/2006/main" noGrp="1"/>
          </p:cNvSpPr>
          <p:nvPr/>
        </p:nvSpPr>
        <p:spPr>
          <a:xfrm xmlns:a="http://schemas.openxmlformats.org/drawingml/2006/main">
            <a:off x="4324350" y="22383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4ED2C3F-E9FC-4A13-A7D5-54AA22C4C11E}"/>
              </a:ext>
            </a:extLst>
          </p:cNvPr>
          <p:cNvSpPr>
            <a:spLocks xmlns:a="http://schemas.openxmlformats.org/drawingml/2006/main" noGrp="1"/>
          </p:cNvSpPr>
          <p:nvPr/>
        </p:nvSpPr>
        <p:spPr>
          <a:xfrm xmlns:a="http://schemas.openxmlformats.org/drawingml/2006/main">
            <a:off x="5619750" y="2286000"/>
            <a:ext cx="23812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24" name="">
            <a:extLst xmlns:a="http://schemas.openxmlformats.org/drawingml/2006/main">
              <a:ext uri="{FF2B5EF4-FFF2-40B4-BE49-F238E27FC236}">
                <a16:creationId xmlns:a16="http://schemas.microsoft.com/office/drawing/2014/main" id="{3E81E102-3933-46DD-AD51-7154F6652C2F}"/>
              </a:ext>
            </a:extLst>
          </p:cNvPr>
          <p:cNvSpPr>
            <a:spLocks xmlns:a="http://schemas.openxmlformats.org/drawingml/2006/main" noGrp="1"/>
          </p:cNvSpPr>
          <p:nvPr/>
        </p:nvSpPr>
        <p:spPr>
          <a:xfrm xmlns:a="http://schemas.openxmlformats.org/drawingml/2006/main">
            <a:off x="5753100" y="2238375"/>
            <a:ext cx="104775" cy="104775"/>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80CECF7-5A4D-4FC3-8727-E897F4225B62}"/>
              </a:ext>
            </a:extLst>
          </p:cNvPr>
          <p:cNvSpPr>
            <a:spLocks xmlns:a="http://schemas.openxmlformats.org/drawingml/2006/main" noGrp="1"/>
          </p:cNvSpPr>
          <p:nvPr/>
        </p:nvSpPr>
        <p:spPr>
          <a:xfrm xmlns:a="http://schemas.openxmlformats.org/drawingml/2006/main">
            <a:off x="5019675" y="2571750"/>
            <a:ext cx="0" cy="619125"/>
          </a:xfrm>
          <a:prstGeom xmlns:a="http://schemas.openxmlformats.org/drawingml/2006/main" prst="line">
            <a:avLst/>
          </a:prstGeom>
          <a:noFill xmlns:a="http://schemas.openxmlformats.org/drawingml/2006/main"/>
          <a:ln xmlns:a="http://schemas.openxmlformats.org/drawingml/2006/main" w="19050">
            <a:solidFill>
              <a:srgbClr val="2A9D8F"/>
            </a:solidFill>
            <a:prstDash val="dash"/>
          </a:ln>
        </p:spPr>
      </p:sp>
      <p:sp>
        <p:nvSpPr>
          <p:cNvPr id="26" name="">
            <a:extLst xmlns:a="http://schemas.openxmlformats.org/drawingml/2006/main">
              <a:ext uri="{FF2B5EF4-FFF2-40B4-BE49-F238E27FC236}">
                <a16:creationId xmlns:a16="http://schemas.microsoft.com/office/drawing/2014/main" id="{E9B58C5C-3DC3-4880-BA49-BBAFAF2AB3C1}"/>
              </a:ext>
            </a:extLst>
          </p:cNvPr>
          <p:cNvSpPr>
            <a:spLocks xmlns:a="http://schemas.openxmlformats.org/drawingml/2006/main" noGrp="1"/>
          </p:cNvSpPr>
          <p:nvPr/>
        </p:nvSpPr>
        <p:spPr>
          <a:xfrm xmlns:a="http://schemas.openxmlformats.org/drawingml/2006/main">
            <a:off x="4972050" y="3076575"/>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4439861-0CD2-4DE2-B339-CAC09B9EAA46}"/>
              </a:ext>
            </a:extLst>
          </p:cNvPr>
          <p:cNvSpPr>
            <a:spLocks xmlns:a="http://schemas.openxmlformats.org/drawingml/2006/main" noGrp="1"/>
          </p:cNvSpPr>
          <p:nvPr/>
        </p:nvSpPr>
        <p:spPr>
          <a:xfrm xmlns:a="http://schemas.openxmlformats.org/drawingml/2006/main">
            <a:off x="6429375" y="2571750"/>
            <a:ext cx="0" cy="619125"/>
          </a:xfrm>
          <a:prstGeom xmlns:a="http://schemas.openxmlformats.org/drawingml/2006/main" prst="line">
            <a:avLst/>
          </a:prstGeom>
          <a:noFill xmlns:a="http://schemas.openxmlformats.org/drawingml/2006/main"/>
          <a:ln xmlns:a="http://schemas.openxmlformats.org/drawingml/2006/main" w="19050">
            <a:solidFill>
              <a:srgbClr val="2A9D8F"/>
            </a:solidFill>
            <a:prstDash val="dash"/>
          </a:ln>
        </p:spPr>
      </p:sp>
      <p:sp>
        <p:nvSpPr>
          <p:cNvPr id="28" name="">
            <a:extLst xmlns:a="http://schemas.openxmlformats.org/drawingml/2006/main">
              <a:ext uri="{FF2B5EF4-FFF2-40B4-BE49-F238E27FC236}">
                <a16:creationId xmlns:a16="http://schemas.microsoft.com/office/drawing/2014/main" id="{31B668BD-68D9-4CA8-A43F-E2F9D4DD6683}"/>
              </a:ext>
            </a:extLst>
          </p:cNvPr>
          <p:cNvSpPr>
            <a:spLocks xmlns:a="http://schemas.openxmlformats.org/drawingml/2006/main" noGrp="1"/>
          </p:cNvSpPr>
          <p:nvPr/>
        </p:nvSpPr>
        <p:spPr>
          <a:xfrm xmlns:a="http://schemas.openxmlformats.org/drawingml/2006/main">
            <a:off x="6381750" y="3076575"/>
            <a:ext cx="104775" cy="104775"/>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1439A36-562B-4DE8-B1DD-365DB877F8E3}"/>
              </a:ext>
            </a:extLst>
          </p:cNvPr>
          <p:cNvSpPr>
            <a:spLocks xmlns:a="http://schemas.openxmlformats.org/drawingml/2006/main" noGrp="1"/>
          </p:cNvSpPr>
          <p:nvPr/>
        </p:nvSpPr>
        <p:spPr>
          <a:xfrm xmlns:a="http://schemas.openxmlformats.org/drawingml/2006/main">
            <a:off x="7572375" y="1428750"/>
            <a:ext cx="4191000" cy="4381500"/>
          </a:xfrm>
          <a:prstGeom xmlns:a="http://schemas.openxmlformats.org/drawingml/2006/main" prst="roundRect">
            <a:avLst>
              <a:gd name="adj" fmla="val 2727"/>
            </a:avLst>
          </a:prstGeom>
          <a:solidFill xmlns:a="http://schemas.openxmlformats.org/drawingml/2006/main">
            <a:srgbClr val="F1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900" b="1">
                <a:solidFill>
                  <a:srgbClr val="73559B"/>
                </a:solidFill>
                <a:latin typeface="Arial"/>
                <a:ea typeface="Arial"/>
                <a:cs typeface="Arial"/>
              </a:defRPr>
            </a:pPr>
            <a:r>
              <a:rPr sz="900" b="1">
                <a:solidFill>
                  <a:srgbClr val="73559B"/>
                </a:solidFill>
                <a:latin typeface="Arial"/>
                <a:ea typeface="Arial"/>
                <a:cs typeface="Arial"/>
              </a:rPr>
              <a:t>PRIVATE CLOUD DATA ZONE</a:t>
            </a:r>
          </a:p>
        </p:txBody>
      </p:sp>
      <p:sp>
        <p:nvSpPr>
          <p:cNvPr id="30" name="">
            <a:extLst xmlns:a="http://schemas.openxmlformats.org/drawingml/2006/main">
              <a:ext uri="{FF2B5EF4-FFF2-40B4-BE49-F238E27FC236}">
                <a16:creationId xmlns:a16="http://schemas.microsoft.com/office/drawing/2014/main" id="{F9561EA6-B108-4288-A56F-C9A38769CCF1}"/>
              </a:ext>
            </a:extLst>
          </p:cNvPr>
          <p:cNvSpPr>
            <a:spLocks xmlns:a="http://schemas.openxmlformats.org/drawingml/2006/main" noGrp="1"/>
          </p:cNvSpPr>
          <p:nvPr/>
        </p:nvSpPr>
        <p:spPr>
          <a:xfrm xmlns:a="http://schemas.openxmlformats.org/drawingml/2006/main">
            <a:off x="7858125" y="2000250"/>
            <a:ext cx="1143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Managed MongoDB</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Encrypted metadata and records</a:t>
            </a:r>
          </a:p>
        </p:txBody>
      </p:sp>
      <p:sp>
        <p:nvSpPr>
          <p:cNvPr id="31" name="">
            <a:extLst xmlns:a="http://schemas.openxmlformats.org/drawingml/2006/main">
              <a:ext uri="{FF2B5EF4-FFF2-40B4-BE49-F238E27FC236}">
                <a16:creationId xmlns:a16="http://schemas.microsoft.com/office/drawing/2014/main" id="{D55F2FC0-141C-4F01-89F0-611D1B3FA5A4}"/>
              </a:ext>
            </a:extLst>
          </p:cNvPr>
          <p:cNvSpPr>
            <a:spLocks xmlns:a="http://schemas.openxmlformats.org/drawingml/2006/main" noGrp="1"/>
          </p:cNvSpPr>
          <p:nvPr/>
        </p:nvSpPr>
        <p:spPr>
          <a:xfrm xmlns:a="http://schemas.openxmlformats.org/drawingml/2006/main">
            <a:off x="9239250" y="2000250"/>
            <a:ext cx="1143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Cloud object storage</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Encrypted files, versions and backups</a:t>
            </a:r>
          </a:p>
        </p:txBody>
      </p:sp>
      <p:sp>
        <p:nvSpPr>
          <p:cNvPr id="32" name="">
            <a:extLst xmlns:a="http://schemas.openxmlformats.org/drawingml/2006/main">
              <a:ext uri="{FF2B5EF4-FFF2-40B4-BE49-F238E27FC236}">
                <a16:creationId xmlns:a16="http://schemas.microsoft.com/office/drawing/2014/main" id="{7D8BAE09-B384-4850-A601-039B60B20634}"/>
              </a:ext>
            </a:extLst>
          </p:cNvPr>
          <p:cNvSpPr>
            <a:spLocks xmlns:a="http://schemas.openxmlformats.org/drawingml/2006/main" noGrp="1"/>
          </p:cNvSpPr>
          <p:nvPr/>
        </p:nvSpPr>
        <p:spPr>
          <a:xfrm xmlns:a="http://schemas.openxmlformats.org/drawingml/2006/main">
            <a:off x="10620375" y="2000250"/>
            <a:ext cx="85725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Redis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Jobs and cache</a:t>
            </a:r>
          </a:p>
        </p:txBody>
      </p:sp>
      <p:sp>
        <p:nvSpPr>
          <p:cNvPr id="33" name="">
            <a:extLst xmlns:a="http://schemas.openxmlformats.org/drawingml/2006/main">
              <a:ext uri="{FF2B5EF4-FFF2-40B4-BE49-F238E27FC236}">
                <a16:creationId xmlns:a16="http://schemas.microsoft.com/office/drawing/2014/main" id="{FAC6ED5F-9985-43C2-932C-C245256C2277}"/>
              </a:ext>
            </a:extLst>
          </p:cNvPr>
          <p:cNvSpPr>
            <a:spLocks xmlns:a="http://schemas.openxmlformats.org/drawingml/2006/main" noGrp="1"/>
          </p:cNvSpPr>
          <p:nvPr/>
        </p:nvSpPr>
        <p:spPr>
          <a:xfrm xmlns:a="http://schemas.openxmlformats.org/drawingml/2006/main">
            <a:off x="7858125" y="3333750"/>
            <a:ext cx="1143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Audit retention</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Append-only events and exports</a:t>
            </a:r>
          </a:p>
        </p:txBody>
      </p:sp>
      <p:sp>
        <p:nvSpPr>
          <p:cNvPr id="34" name="">
            <a:extLst xmlns:a="http://schemas.openxmlformats.org/drawingml/2006/main">
              <a:ext uri="{FF2B5EF4-FFF2-40B4-BE49-F238E27FC236}">
                <a16:creationId xmlns:a16="http://schemas.microsoft.com/office/drawing/2014/main" id="{CAF16370-F0F4-4F72-9950-33F009AFF1B9}"/>
              </a:ext>
            </a:extLst>
          </p:cNvPr>
          <p:cNvSpPr>
            <a:spLocks xmlns:a="http://schemas.openxmlformats.org/drawingml/2006/main" noGrp="1"/>
          </p:cNvSpPr>
          <p:nvPr/>
        </p:nvSpPr>
        <p:spPr>
          <a:xfrm xmlns:a="http://schemas.openxmlformats.org/drawingml/2006/main">
            <a:off x="9239250" y="3333750"/>
            <a:ext cx="114300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Backup vault</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Encrypted snapshots and restore tests</a:t>
            </a:r>
          </a:p>
        </p:txBody>
      </p:sp>
      <p:sp>
        <p:nvSpPr>
          <p:cNvPr id="35" name="">
            <a:extLst xmlns:a="http://schemas.openxmlformats.org/drawingml/2006/main">
              <a:ext uri="{FF2B5EF4-FFF2-40B4-BE49-F238E27FC236}">
                <a16:creationId xmlns:a16="http://schemas.microsoft.com/office/drawing/2014/main" id="{B058A9C5-68F1-4F43-B53A-58A4097C2C5F}"/>
              </a:ext>
            </a:extLst>
          </p:cNvPr>
          <p:cNvSpPr>
            <a:spLocks xmlns:a="http://schemas.openxmlformats.org/drawingml/2006/main" noGrp="1"/>
          </p:cNvSpPr>
          <p:nvPr/>
        </p:nvSpPr>
        <p:spPr>
          <a:xfrm xmlns:a="http://schemas.openxmlformats.org/drawingml/2006/main">
            <a:off x="10620375" y="3333750"/>
            <a:ext cx="857250"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Egress</a:t>
            </a:r>
          </a:p>
          <a:p xmlns:a="http://schemas.openxmlformats.org/drawingml/2006/main">
            <a:pPr>
              <a:defRPr sz="750">
                <a:solidFill>
                  <a:srgbClr val="1B2936"/>
                </a:solidFill>
                <a:latin typeface="Arial"/>
                <a:ea typeface="Arial"/>
                <a:cs typeface="Arial"/>
              </a:defRPr>
            </a:pPr>
            <a:r>
              <a:rPr sz="750">
                <a:solidFill>
                  <a:srgbClr val="1B2936"/>
                </a:solidFill>
                <a:latin typeface="Arial"/>
                <a:ea typeface="Arial"/>
                <a:cs typeface="Arial"/>
              </a:rPr>
              <a:t>Approved APIs</a:t>
            </a:r>
          </a:p>
        </p:txBody>
      </p:sp>
      <p:sp>
        <p:nvSpPr>
          <p:cNvPr id="36" name="">
            <a:extLst xmlns:a="http://schemas.openxmlformats.org/drawingml/2006/main">
              <a:ext uri="{FF2B5EF4-FFF2-40B4-BE49-F238E27FC236}">
                <a16:creationId xmlns:a16="http://schemas.microsoft.com/office/drawing/2014/main" id="{A0786FF3-1A4F-4183-A1FB-A43071C5C907}"/>
              </a:ext>
            </a:extLst>
          </p:cNvPr>
          <p:cNvSpPr>
            <a:spLocks xmlns:a="http://schemas.openxmlformats.org/drawingml/2006/main" noGrp="1"/>
          </p:cNvSpPr>
          <p:nvPr/>
        </p:nvSpPr>
        <p:spPr>
          <a:xfrm xmlns:a="http://schemas.openxmlformats.org/drawingml/2006/main">
            <a:off x="8429625" y="2857500"/>
            <a:ext cx="2190750" cy="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37" name="">
            <a:extLst xmlns:a="http://schemas.openxmlformats.org/drawingml/2006/main">
              <a:ext uri="{FF2B5EF4-FFF2-40B4-BE49-F238E27FC236}">
                <a16:creationId xmlns:a16="http://schemas.microsoft.com/office/drawing/2014/main" id="{696A9207-6348-49DA-B168-77180F8505F6}"/>
              </a:ext>
            </a:extLst>
          </p:cNvPr>
          <p:cNvSpPr>
            <a:spLocks xmlns:a="http://schemas.openxmlformats.org/drawingml/2006/main" noGrp="1"/>
          </p:cNvSpPr>
          <p:nvPr/>
        </p:nvSpPr>
        <p:spPr>
          <a:xfrm xmlns:a="http://schemas.openxmlformats.org/drawingml/2006/main">
            <a:off x="8429625" y="2857500"/>
            <a:ext cx="0" cy="38100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38" name="">
            <a:extLst xmlns:a="http://schemas.openxmlformats.org/drawingml/2006/main">
              <a:ext uri="{FF2B5EF4-FFF2-40B4-BE49-F238E27FC236}">
                <a16:creationId xmlns:a16="http://schemas.microsoft.com/office/drawing/2014/main" id="{17E50E74-7DFB-43D2-8783-3626D1F6383F}"/>
              </a:ext>
            </a:extLst>
          </p:cNvPr>
          <p:cNvSpPr>
            <a:spLocks xmlns:a="http://schemas.openxmlformats.org/drawingml/2006/main" noGrp="1"/>
          </p:cNvSpPr>
          <p:nvPr/>
        </p:nvSpPr>
        <p:spPr>
          <a:xfrm xmlns:a="http://schemas.openxmlformats.org/drawingml/2006/main">
            <a:off x="8382000" y="3124200"/>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89C99BC-DD70-45E1-9BF0-CE31EC0ADD62}"/>
              </a:ext>
            </a:extLst>
          </p:cNvPr>
          <p:cNvSpPr>
            <a:spLocks xmlns:a="http://schemas.openxmlformats.org/drawingml/2006/main" noGrp="1"/>
          </p:cNvSpPr>
          <p:nvPr/>
        </p:nvSpPr>
        <p:spPr>
          <a:xfrm xmlns:a="http://schemas.openxmlformats.org/drawingml/2006/main">
            <a:off x="9810750" y="2857500"/>
            <a:ext cx="0" cy="38100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40" name="">
            <a:extLst xmlns:a="http://schemas.openxmlformats.org/drawingml/2006/main">
              <a:ext uri="{FF2B5EF4-FFF2-40B4-BE49-F238E27FC236}">
                <a16:creationId xmlns:a16="http://schemas.microsoft.com/office/drawing/2014/main" id="{5FDD6C66-7379-431F-9E18-01062C265D12}"/>
              </a:ext>
            </a:extLst>
          </p:cNvPr>
          <p:cNvSpPr>
            <a:spLocks xmlns:a="http://schemas.openxmlformats.org/drawingml/2006/main" noGrp="1"/>
          </p:cNvSpPr>
          <p:nvPr/>
        </p:nvSpPr>
        <p:spPr>
          <a:xfrm xmlns:a="http://schemas.openxmlformats.org/drawingml/2006/main">
            <a:off x="9763125" y="3124200"/>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F61A007-13FA-41CE-A1F4-98645AE7F3C4}"/>
              </a:ext>
            </a:extLst>
          </p:cNvPr>
          <p:cNvSpPr>
            <a:spLocks xmlns:a="http://schemas.openxmlformats.org/drawingml/2006/main" noGrp="1"/>
          </p:cNvSpPr>
          <p:nvPr/>
        </p:nvSpPr>
        <p:spPr>
          <a:xfrm xmlns:a="http://schemas.openxmlformats.org/drawingml/2006/main">
            <a:off x="11049000" y="2619375"/>
            <a:ext cx="0" cy="619125"/>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42" name="">
            <a:extLst xmlns:a="http://schemas.openxmlformats.org/drawingml/2006/main">
              <a:ext uri="{FF2B5EF4-FFF2-40B4-BE49-F238E27FC236}">
                <a16:creationId xmlns:a16="http://schemas.microsoft.com/office/drawing/2014/main" id="{C9562244-0210-4AD1-BFB6-25E41331E489}"/>
              </a:ext>
            </a:extLst>
          </p:cNvPr>
          <p:cNvSpPr>
            <a:spLocks xmlns:a="http://schemas.openxmlformats.org/drawingml/2006/main" noGrp="1"/>
          </p:cNvSpPr>
          <p:nvPr/>
        </p:nvSpPr>
        <p:spPr>
          <a:xfrm xmlns:a="http://schemas.openxmlformats.org/drawingml/2006/main">
            <a:off x="11001375" y="3124200"/>
            <a:ext cx="104775" cy="104775"/>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3268971-0EE9-4656-9A6D-8C6C2520036D}"/>
              </a:ext>
            </a:extLst>
          </p:cNvPr>
          <p:cNvSpPr>
            <a:spLocks xmlns:a="http://schemas.openxmlformats.org/drawingml/2006/main" noGrp="1"/>
          </p:cNvSpPr>
          <p:nvPr/>
        </p:nvSpPr>
        <p:spPr>
          <a:xfrm xmlns:a="http://schemas.openxmlformats.org/drawingml/2006/main">
            <a:off x="2114550" y="4143375"/>
            <a:ext cx="88582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44" name="">
            <a:extLst xmlns:a="http://schemas.openxmlformats.org/drawingml/2006/main">
              <a:ext uri="{FF2B5EF4-FFF2-40B4-BE49-F238E27FC236}">
                <a16:creationId xmlns:a16="http://schemas.microsoft.com/office/drawing/2014/main" id="{F4CAEE38-1BD2-42BA-8794-481953008790}"/>
              </a:ext>
            </a:extLst>
          </p:cNvPr>
          <p:cNvSpPr>
            <a:spLocks xmlns:a="http://schemas.openxmlformats.org/drawingml/2006/main" noGrp="1"/>
          </p:cNvSpPr>
          <p:nvPr/>
        </p:nvSpPr>
        <p:spPr>
          <a:xfrm xmlns:a="http://schemas.openxmlformats.org/drawingml/2006/main">
            <a:off x="2895600" y="4095750"/>
            <a:ext cx="104775" cy="104775"/>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745ACA1-6EEB-4E33-B3CE-8171FDE2C61C}"/>
              </a:ext>
            </a:extLst>
          </p:cNvPr>
          <p:cNvSpPr>
            <a:spLocks xmlns:a="http://schemas.openxmlformats.org/drawingml/2006/main" noGrp="1"/>
          </p:cNvSpPr>
          <p:nvPr/>
        </p:nvSpPr>
        <p:spPr>
          <a:xfrm xmlns:a="http://schemas.openxmlformats.org/drawingml/2006/main">
            <a:off x="7000875" y="2286000"/>
            <a:ext cx="857250" cy="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46" name="">
            <a:extLst xmlns:a="http://schemas.openxmlformats.org/drawingml/2006/main">
              <a:ext uri="{FF2B5EF4-FFF2-40B4-BE49-F238E27FC236}">
                <a16:creationId xmlns:a16="http://schemas.microsoft.com/office/drawing/2014/main" id="{F9E93B46-07A1-45F0-84B3-1458B5CE7060}"/>
              </a:ext>
            </a:extLst>
          </p:cNvPr>
          <p:cNvSpPr>
            <a:spLocks xmlns:a="http://schemas.openxmlformats.org/drawingml/2006/main" noGrp="1"/>
          </p:cNvSpPr>
          <p:nvPr/>
        </p:nvSpPr>
        <p:spPr>
          <a:xfrm xmlns:a="http://schemas.openxmlformats.org/drawingml/2006/main">
            <a:off x="7753350" y="2238375"/>
            <a:ext cx="104775" cy="104775"/>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4F0A3AA-C0A3-4BC7-8F75-8F5CD4E8B398}"/>
              </a:ext>
            </a:extLst>
          </p:cNvPr>
          <p:cNvSpPr>
            <a:spLocks xmlns:a="http://schemas.openxmlformats.org/drawingml/2006/main" noGrp="1"/>
          </p:cNvSpPr>
          <p:nvPr/>
        </p:nvSpPr>
        <p:spPr>
          <a:xfrm xmlns:a="http://schemas.openxmlformats.org/drawingml/2006/main">
            <a:off x="7000875" y="2476500"/>
            <a:ext cx="36195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48" name="">
            <a:extLst xmlns:a="http://schemas.openxmlformats.org/drawingml/2006/main">
              <a:ext uri="{FF2B5EF4-FFF2-40B4-BE49-F238E27FC236}">
                <a16:creationId xmlns:a16="http://schemas.microsoft.com/office/drawing/2014/main" id="{D6BE7C5C-098E-451E-BFF1-046B38CE9ECD}"/>
              </a:ext>
            </a:extLst>
          </p:cNvPr>
          <p:cNvSpPr>
            <a:spLocks xmlns:a="http://schemas.openxmlformats.org/drawingml/2006/main" noGrp="1"/>
          </p:cNvSpPr>
          <p:nvPr/>
        </p:nvSpPr>
        <p:spPr>
          <a:xfrm xmlns:a="http://schemas.openxmlformats.org/drawingml/2006/main">
            <a:off x="10515600" y="2428875"/>
            <a:ext cx="104775" cy="104775"/>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88589A5-A2FA-40C9-A313-1BBDEA2F5D42}"/>
              </a:ext>
            </a:extLst>
          </p:cNvPr>
          <p:cNvSpPr>
            <a:spLocks xmlns:a="http://schemas.openxmlformats.org/drawingml/2006/main" noGrp="1"/>
          </p:cNvSpPr>
          <p:nvPr/>
        </p:nvSpPr>
        <p:spPr>
          <a:xfrm xmlns:a="http://schemas.openxmlformats.org/drawingml/2006/main">
            <a:off x="6667500" y="2667000"/>
            <a:ext cx="285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73559B"/>
                </a:solidFill>
                <a:latin typeface="Arial"/>
                <a:ea typeface="Arial"/>
                <a:cs typeface="Arial"/>
              </a:defRPr>
            </a:pPr>
            <a:r>
              <a:rPr sz="675" b="1">
                <a:solidFill>
                  <a:srgbClr val="73559B"/>
                </a:solidFill>
                <a:latin typeface="Arial"/>
                <a:ea typeface="Arial"/>
                <a:cs typeface="Arial"/>
              </a:rPr>
              <a:t>application reads and writes through private service identities</a:t>
            </a:r>
          </a:p>
        </p:txBody>
      </p:sp>
      <p:sp>
        <p:nvSpPr>
          <p:cNvPr id="50" name="">
            <a:extLst xmlns:a="http://schemas.openxmlformats.org/drawingml/2006/main">
              <a:ext uri="{FF2B5EF4-FFF2-40B4-BE49-F238E27FC236}">
                <a16:creationId xmlns:a16="http://schemas.microsoft.com/office/drawing/2014/main" id="{B7E940AF-6A83-4A3D-88C7-06E4B124C78B}"/>
              </a:ext>
            </a:extLst>
          </p:cNvPr>
          <p:cNvSpPr>
            <a:spLocks xmlns:a="http://schemas.openxmlformats.org/drawingml/2006/main" noGrp="1"/>
          </p:cNvSpPr>
          <p:nvPr/>
        </p:nvSpPr>
        <p:spPr>
          <a:xfrm xmlns:a="http://schemas.openxmlformats.org/drawingml/2006/main">
            <a:off x="3048000" y="4810125"/>
            <a:ext cx="695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16324F"/>
                </a:solidFill>
                <a:latin typeface="Arial"/>
                <a:ea typeface="Arial"/>
                <a:cs typeface="Arial"/>
              </a:defRPr>
            </a:pPr>
            <a:r>
              <a:rPr sz="975" b="1">
                <a:solidFill>
                  <a:srgbClr val="16324F"/>
                </a:solidFill>
                <a:latin typeface="Arial"/>
                <a:ea typeface="Arial"/>
                <a:cs typeface="Arial"/>
              </a:rPr>
              <a:t>No database, object storage, worker or credential service is public.</a:t>
            </a:r>
          </a:p>
        </p:txBody>
      </p:sp>
      <p:sp>
        <p:nvSpPr>
          <p:cNvPr id="51" name="">
            <a:extLst xmlns:a="http://schemas.openxmlformats.org/drawingml/2006/main">
              <a:ext uri="{FF2B5EF4-FFF2-40B4-BE49-F238E27FC236}">
                <a16:creationId xmlns:a16="http://schemas.microsoft.com/office/drawing/2014/main" id="{3D8CF743-9F02-459F-82D7-92243AB12060}"/>
              </a:ext>
            </a:extLst>
          </p:cNvPr>
          <p:cNvSpPr>
            <a:spLocks xmlns:a="http://schemas.openxmlformats.org/drawingml/2006/main" noGrp="1"/>
          </p:cNvSpPr>
          <p:nvPr/>
        </p:nvSpPr>
        <p:spPr>
          <a:xfrm xmlns:a="http://schemas.openxmlformats.org/drawingml/2006/main">
            <a:off x="304800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2616B"/>
                </a:solidFill>
                <a:latin typeface="Arial"/>
                <a:ea typeface="Arial"/>
                <a:cs typeface="Arial"/>
              </a:defRPr>
            </a:pPr>
            <a:r>
              <a:rPr sz="750" b="0">
                <a:solidFill>
                  <a:srgbClr val="52616B"/>
                </a:solidFill>
                <a:latin typeface="Arial"/>
                <a:ea typeface="Arial"/>
                <a:cs typeface="Arial"/>
              </a:rPr>
              <a:t>Security operations: least-privilege service identities, private network routes, encryption at rest and in transit, short-lived credentials, restore tests and alerting.</a:t>
            </a:r>
          </a:p>
        </p:txBody>
      </p:sp>
    </p:spTree>
    <p:extLst>
      <p:ext uri="{BB962C8B-B14F-4D97-AF65-F5344CB8AC3E}">
        <p14:creationId xmlns:p14="http://schemas.microsoft.com/office/powerpoint/2010/main" val="319332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2026-09-14T10:02:58.0810000Z</dcterms:created>
  <dcterms:modified xsi:type="dcterms:W3CDTF">2026-09-14T10:02:58.0810000Z</dcterms:modified>
</coreProperties>
</file>