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abb44e44214329" /><Relationship Type="http://schemas.openxmlformats.org/officeDocument/2006/relationships/extended-properties" Target="/docProps/app.xml" Id="Ra98cdbb8df184915" /><Relationship Type="http://schemas.openxmlformats.org/officeDocument/2006/relationships/officeDocument" Target="/ppt/presentation.xml" Id="R5bcc49fdc31946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99626d2535451c"/>
  </p:sldMasterIdLst>
  <p:notesMasterIdLst>
    <p:notesMasterId xmlns:r="http://schemas.openxmlformats.org/officeDocument/2006/relationships" r:id="R40d601e033014a0e"/>
  </p:notesMasterIdLst>
  <p:sldIdLst>
    <p:sldId xmlns:r="http://schemas.openxmlformats.org/officeDocument/2006/relationships" id="256" r:id="R34ecbd7758ad4e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8616564df845dc" /><Relationship Type="http://schemas.openxmlformats.org/officeDocument/2006/relationships/slideMaster" Target="/ppt/slideMasters/slideMaster1.xml" Id="R4399626d2535451c" /><Relationship Type="http://schemas.openxmlformats.org/officeDocument/2006/relationships/notesMaster" Target="/ppt/notesMasters/notesMaster1.xml" Id="R40d601e033014a0e" /><Relationship Type="http://schemas.openxmlformats.org/officeDocument/2006/relationships/presProps" Target="/ppt/presProps.xml" Id="R1789b73fe26c436a" /><Relationship Type="http://schemas.openxmlformats.org/officeDocument/2006/relationships/tableStyles" Target="/ppt/tableStyles.xml" Id="Rcfdb5db9304f4ba1" /><Relationship Type="http://schemas.openxmlformats.org/officeDocument/2006/relationships/slide" Target="/ppt/slides/slide1.xml" Id="R34ecbd7758ad4e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44bf306f6948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64548631504590" /><Relationship Type="http://schemas.openxmlformats.org/officeDocument/2006/relationships/notesMaster" Target="/ppt/notesMasters/notesMaster1.xml" Id="Rb34c7ef437ac47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diagram for BidSure SIH26100. The diagram reflects the revised stack requested by the user: Node.js and Express replace Python and Flask/FastAPI. External government integrations are represented as authorised adapters and should use approved APIs, sandbox data or mock responses for the hackathon. Human officer authority remains outside the automated decision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3951d9d6441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00daf8d6724c12" /><Relationship Type="http://schemas.openxmlformats.org/officeDocument/2006/relationships/slideLayout" Target="/ppt/slideLayouts/slideLayout1.xml" Id="R7bd2fd63c0c848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d2fd63c0c848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1adf990164fc1" /><Relationship Type="http://schemas.openxmlformats.org/officeDocument/2006/relationships/notesSlide" Target="/ppt/notesSlides/notesSlide1.xml" Id="R71b1d20a03d74c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0537A1-D93F-45B7-978C-AC3307E2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BIDSURE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DF763-CE23-4938-9DDF-EFC236B0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5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530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1169A-B7FD-4702-A3DA-AC74A38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23925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Node.js + Express | Evidence-first compliance verification for GeM procurement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F21E4-B510-4FDE-BC5A-1CFCE58A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4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Editable structure diagram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BD419-3C1B-40F2-92F5-2245E6BA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15240">
            <a:solidFill>
              <a:srgbClr val="C992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Bidder</a:t>
            </a:r>
          </a:p>
          <a:p xmlns:a="http://schemas.openxmlformats.org/drawingml/2006/main">
            <a:pPr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Pre-check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BC850-3F1D-48D5-9DBB-00B9C2CB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15240">
            <a:solidFill>
              <a:srgbClr val="C992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Procurement Officer</a:t>
            </a:r>
          </a:p>
          <a:p xmlns:a="http://schemas.openxmlformats.org/drawingml/2006/main">
            <a:pPr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Review console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DF511-11C2-4381-A79D-A7FCCE18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295400"/>
            <a:ext cx="9525000" cy="1638300"/>
          </a:xfrm>
          <a:prstGeom xmlns:a="http://schemas.openxmlformats.org/drawingml/2006/main" prst="roundRect">
            <a:avLst>
              <a:gd name="adj" fmla="val 10465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19050">
            <a:solidFill>
              <a:srgbClr val="A9B7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A9B7C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7C2"/>
                </a:solidFill>
                <a:latin typeface="Arial"/>
                <a:ea typeface="Arial"/>
                <a:cs typeface="Arial"/>
              </a:rPr>
              <a:t>INTERNET / EDGE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5CC61-CD9F-4409-9ED9-D8F2F70A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62125"/>
            <a:ext cx="1143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B88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DNS + TLS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HTTPS : 443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01F4B-18AF-4003-98FA-CD2683AD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62125"/>
            <a:ext cx="12858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B88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WAF / Rate limit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Request filtering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69C91-4B42-407E-9AE0-C18601DE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762125"/>
            <a:ext cx="12858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B88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Load balancer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Public entry 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61B8D-792B-49DA-B882-725B058E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62125"/>
            <a:ext cx="12858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CF7"/>
          </a:solidFill>
          <a:ln xmlns:a="http://schemas.openxmlformats.org/drawingml/2006/main" w="15240">
            <a:solidFill>
              <a:srgbClr val="4B88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Web frontend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FC9A7-BFC8-4768-9769-6668B34E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38300"/>
            <a:ext cx="2266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3EE"/>
          </a:solidFill>
          <a:ln xmlns:a="http://schemas.openxmlformats.org/drawingml/2006/main" w="1524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Express API service</a:t>
            </a:r>
          </a:p>
          <a:p xmlns:a="http://schemas.openxmlformats.org/drawingml/2006/main">
            <a:pPr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Node.js + TypeScript</a:t>
            </a:r>
          </a:p>
          <a:p xmlns:a="http://schemas.openxmlformats.org/drawingml/2006/main">
            <a:pPr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REST / JSON | JWT / SSO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036B9-B668-428B-81D6-B6FEBA20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43250"/>
            <a:ext cx="95250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BIDSURE VPC / PRIVATE 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D6BB3-2FA4-49E1-AE1B-A7500857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24250"/>
            <a:ext cx="483870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F0FAF8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PRIVATE APP SUBNET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C761F-6EF5-46F7-B0A7-8FAB29EE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24250"/>
            <a:ext cx="39052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F5F2FA"/>
          </a:solidFill>
          <a:ln xmlns:a="http://schemas.openxmlformats.org/drawingml/2006/main" w="1905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PRIVATE DATA SUBNET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1881B-20BA-451D-B2A3-1F478809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6240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Tender &amp; bid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service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Case lifecycle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A4556-9FFF-4D60-AFF2-270B1AD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6240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Document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intelligence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OCR + extraction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76053-AE61-45EF-A4E9-6458573A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6240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A9D8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Verification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service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Adapters +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1EF17-9CC4-4235-977B-7120803B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CECF7"/>
          </a:solidFill>
          <a:ln xmlns:a="http://schemas.openxmlformats.org/drawingml/2006/main" w="15240">
            <a:solidFill>
              <a:srgbClr val="4B88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Compliance engine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Versioned TypeScript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85BFB-7A06-4F83-AD63-A48B25BD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10125"/>
            <a:ext cx="1714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2C7"/>
          </a:solidFill>
          <a:ln xmlns:a="http://schemas.openxmlformats.org/drawingml/2006/main" w="15240">
            <a:solidFill>
              <a:srgbClr val="C992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Risk + decision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Recommendation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42F88-43FA-4A37-A213-D9069487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MongoDB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Cases, rules, findings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6C292-4D02-422E-BC83-DBE90219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862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Object storage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PDFs, images, hashes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32F2C-9E40-49A0-BAB0-6133B58B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244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Redis + BullMQ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Jobs, retries, queues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023C3-A3AE-4815-A39B-E1A4254D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24400"/>
            <a:ext cx="1619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Audit log</a:t>
            </a:r>
          </a:p>
          <a:p xmlns:a="http://schemas.openxmlformats.org/drawingml/2006/main">
            <a:pPr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Append-only events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A57EDB-55BD-4F85-A18B-7CB6A5E6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91250"/>
            <a:ext cx="95250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8F7FC"/>
          </a:solidFill>
          <a:ln xmlns:a="http://schemas.openxmlformats.org/drawingml/2006/main" w="19050">
            <a:solidFill>
              <a:srgbClr val="7A5B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EXTERNAL AUTHORISED SOURCES / ADAPTERS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7D5E5-4231-4EBE-A993-BCCF137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3817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GSTN  |  Udyam  |  MCA21  |  DigiLocker  |  EPFO / ESIC  |  Startup India  |  GeM / CPPP</a:t>
            </a:r>
          </a:p>
        </p:txBody>
      </p:sp>
      <p:cxnSp>
        <p:nvCxnSpPr>
          <p:cNvPr id="83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781175" y="1638300"/>
            <a:ext cx="561975" cy="390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9921E"/>
            </a:solidFill>
            <a:prstDash val="solid"/>
            <a:headEnd type="arrow" w="sm" len="sm"/>
          </a:ln>
        </p:spPr>
      </p:cxnSp>
      <p:cxnSp>
        <p:nvCxnSpPr>
          <p:cNvPr id="8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781175" y="2028825"/>
            <a:ext cx="561975" cy="352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9921E"/>
            </a:solidFill>
            <a:prstDash val="solid"/>
            <a:headEnd type="arrow" w="sm" len="sm"/>
          </a:ln>
        </p:spPr>
      </p:cxnSp>
      <p:cxnSp>
        <p:nvCxnSpPr>
          <p:cNvPr id="8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86150" y="20288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8B5"/>
            </a:solidFill>
            <a:prstDash val="solid"/>
            <a:headEnd type="arrow" w="sm" len="sm"/>
          </a:ln>
        </p:spPr>
      </p:cxnSp>
      <p:cxnSp>
        <p:nvCxnSpPr>
          <p:cNvPr id="8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57775" y="2028825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8B5"/>
            </a:solidFill>
            <a:prstDash val="solid"/>
            <a:headEnd type="arrow" w="sm" len="sm"/>
          </a:ln>
        </p:spPr>
      </p:cxnSp>
      <p:cxnSp>
        <p:nvCxnSpPr>
          <p:cNvPr id="8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638925" y="20288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8B5"/>
            </a:solidFill>
            <a:prstDash val="solid"/>
            <a:headEnd type="arrow" w="sm" len="sm"/>
          </a:ln>
        </p:spPr>
      </p:cxnSp>
      <p:cxnSp>
        <p:nvCxnSpPr>
          <p:cNvPr id="8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239125" y="20288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headEnd type="arrow" w="sm" len="sm"/>
          </a:ln>
        </p:spPr>
      </p:cxnSp>
      <p:cxnSp>
        <p:nvCxnSpPr>
          <p:cNvPr id="89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V="1">
            <a:off x="5995988" y="1638300"/>
            <a:ext cx="4090988" cy="657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headEnd type="arrow" w="sm" len="sm"/>
          </a:ln>
        </p:spPr>
      </p:cxnSp>
      <p:cxnSp>
        <p:nvCxnSpPr>
          <p:cNvPr id="90" name=""/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3238500" y="2419350"/>
            <a:ext cx="6848475" cy="1543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headEnd type="arrow" w="sm" len="sm"/>
          </a:ln>
        </p:spPr>
      </p:cxnSp>
      <p:cxnSp>
        <p:nvCxnSpPr>
          <p:cNvPr id="91" name=""/>
          <p:cNvCxnSpPr>
            <a:stCxn xmlns:a="http://schemas.openxmlformats.org/drawingml/2006/main" id="12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4762500" y="2419350"/>
            <a:ext cx="5324475" cy="1543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headEnd type="arrow" w="sm" len="sm"/>
          </a:ln>
        </p:spPr>
      </p:cxnSp>
      <p:cxnSp>
        <p:nvCxnSpPr>
          <p:cNvPr id="92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6286500" y="2419350"/>
            <a:ext cx="3800475" cy="1543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headEnd type="arrow" w="sm" len="sm"/>
          </a:ln>
        </p:spPr>
      </p:cxnSp>
      <p:cxnSp>
        <p:nvCxnSpPr>
          <p:cNvPr id="93" name="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238500" y="4552950"/>
            <a:ext cx="952500" cy="257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8909C"/>
            </a:solidFill>
            <a:prstDash val="solid"/>
            <a:headEnd type="arrow" w="sm" len="sm"/>
          </a:ln>
        </p:spPr>
      </p:cxnSp>
      <p:cxnSp>
        <p:nvCxnSpPr>
          <p:cNvPr id="94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191000" y="4552950"/>
            <a:ext cx="571500" cy="257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8909C"/>
            </a:solidFill>
            <a:prstDash val="solid"/>
            <a:headEnd type="arrow" w="sm" len="sm"/>
          </a:ln>
        </p:spPr>
      </p:cxnSp>
      <p:cxnSp>
        <p:nvCxnSpPr>
          <p:cNvPr id="95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191000" y="4552950"/>
            <a:ext cx="2095500" cy="2571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8909C"/>
            </a:solidFill>
            <a:prstDash val="solid"/>
            <a:headEnd type="arrow" w="sm" len="sm"/>
          </a:ln>
        </p:spPr>
      </p:cxnSp>
      <p:cxnSp>
        <p:nvCxnSpPr>
          <p:cNvPr id="96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048250" y="51054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921E"/>
            </a:solidFill>
            <a:prstDash val="solid"/>
            <a:headEnd type="arrow" w="sm" len="sm"/>
          </a:ln>
        </p:spPr>
      </p:cxnSp>
      <p:cxnSp>
        <p:nvCxnSpPr>
          <p:cNvPr id="97" name=""/>
          <p:cNvCxnSpPr>
            <a:stCxn xmlns:a="http://schemas.openxmlformats.org/drawingml/2006/main" id="20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6096000" y="2419350"/>
            <a:ext cx="3990975" cy="2390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9921E"/>
            </a:solidFill>
            <a:prstDash val="dash"/>
            <a:headEnd type="arrow" w="sm" len="sm"/>
          </a:ln>
        </p:spPr>
      </p:cxnSp>
      <p:cxnSp>
        <p:nvCxnSpPr>
          <p:cNvPr id="98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3905250" y="4181475"/>
            <a:ext cx="377190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solid"/>
            <a:headEnd type="arrow" w="sm" len="sm"/>
          </a:ln>
        </p:spPr>
      </p:cxnSp>
      <p:cxnSp>
        <p:nvCxnSpPr>
          <p:cNvPr id="99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5429250" y="4181475"/>
            <a:ext cx="403860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solid"/>
            <a:headEnd type="arrow" w="sm" len="sm"/>
          </a:ln>
        </p:spPr>
      </p:cxnSp>
      <p:cxnSp>
        <p:nvCxnSpPr>
          <p:cNvPr id="100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953250" y="4257675"/>
            <a:ext cx="72390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dash"/>
            <a:headEnd type="arrow" w="sm" len="sm"/>
          </a:ln>
        </p:spPr>
      </p:cxnSp>
      <p:cxnSp>
        <p:nvCxnSpPr>
          <p:cNvPr id="101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6953250" y="5019675"/>
            <a:ext cx="2514600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solid"/>
            <a:headEnd type="arrow" w="sm" len="sm"/>
          </a:ln>
        </p:spPr>
      </p:cxnSp>
      <p:cxnSp>
        <p:nvCxnSpPr>
          <p:cNvPr id="102" name=""/>
          <p:cNvCxnSpPr>
            <a:stCxn xmlns:a="http://schemas.openxmlformats.org/drawingml/2006/main" id="12" idx="3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10277475" y="2028825"/>
            <a:ext cx="942975" cy="26955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7A5BA6"/>
            </a:solidFill>
            <a:prstDash val="dash"/>
            <a:headEnd type="arrow" w="sm" len="sm"/>
          </a:ln>
        </p:spPr>
      </p:cxnSp>
      <p:cxnSp>
        <p:nvCxnSpPr>
          <p:cNvPr id="103" name=""/>
          <p:cNvCxnSpPr>
            <a:stCxn xmlns:a="http://schemas.openxmlformats.org/drawingml/2006/main" id="18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6286500" y="4552950"/>
            <a:ext cx="542925" cy="1828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dash"/>
            <a:headEnd type="arrow" w="sm" len="sm"/>
          </a:ln>
        </p:spPr>
      </p:cxnSp>
      <p:cxnSp>
        <p:nvCxnSpPr>
          <p:cNvPr id="104" name=""/>
          <p:cNvCxnSpPr>
            <a:stCxn xmlns:a="http://schemas.openxmlformats.org/drawingml/2006/main" id="17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4762500" y="4552950"/>
            <a:ext cx="2066925" cy="1828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7A5BA6"/>
            </a:solidFill>
            <a:prstDash val="dash"/>
            <a:headEnd type="arrow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F776AC-926A-4208-BA7E-539FB0CB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857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4B88B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B88B5"/>
                </a:solidFill>
                <a:latin typeface="Arial"/>
                <a:ea typeface="Arial"/>
                <a:cs typeface="Arial"/>
              </a:rPr>
              <a:t>HTTPS : 443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52A04A-22A7-4231-9F66-1C18F71D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14475"/>
            <a:ext cx="952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2A9D8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A9D8F"/>
                </a:solidFill>
                <a:latin typeface="Arial"/>
                <a:ea typeface="Arial"/>
                <a:cs typeface="Arial"/>
              </a:rPr>
              <a:t>REST / JSON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9E6C54-DDCD-4030-B02E-F344A3C9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internal service calls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C3063DF-26C8-438E-B171-EB583054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267200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async jobs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C01002-6F52-40AA-B830-25AAE9FE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86450"/>
            <a:ext cx="1238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7A5BA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5BA6"/>
                </a:solidFill>
                <a:latin typeface="Arial"/>
                <a:ea typeface="Arial"/>
                <a:cs typeface="Arial"/>
              </a:rPr>
              <a:t>source verification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F6DC5C-78E9-494A-9937-6DC0DA65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76300"/>
            <a:ext cx="13811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solid = synchronous request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7904F8-09B7-43DB-8FD4-505F46CE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876300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dashed = async / external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48BD18-6EB8-4ED1-AABD-842120D9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71600"/>
            <a:ext cx="152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32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TECH STACK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React + Vite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Node.js + Express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TypeScript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MongoDB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Redis + BullMQ</a:t>
            </a:r>
          </a:p>
          <a:p xmlns:a="http://schemas.openxmlformats.org/drawingml/2006/main">
            <a:pPr>
              <a:defRPr sz="7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Object storage</a:t>
            </a:r>
          </a:p>
        </p:txBody>
      </p:sp>
    </p:spTree>
    <p:extLst>
      <p:ext uri="{BB962C8B-B14F-4D97-AF65-F5344CB8AC3E}">
        <p14:creationId xmlns:p14="http://schemas.microsoft.com/office/powerpoint/2010/main" val="601088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2026-09-12T18:59:05.2980000Z</dcterms:created>
  <dcterms:modified xsi:type="dcterms:W3CDTF">2026-09-12T18:59:05.2980000Z</dcterms:modified>
</coreProperties>
</file>