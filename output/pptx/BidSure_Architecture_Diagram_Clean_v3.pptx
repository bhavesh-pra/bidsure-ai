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9f2da2f38842fd" /><Relationship Type="http://schemas.openxmlformats.org/officeDocument/2006/relationships/extended-properties" Target="/docProps/app.xml" Id="Rf76241a4c0ea4f96" /><Relationship Type="http://schemas.openxmlformats.org/officeDocument/2006/relationships/officeDocument" Target="/ppt/presentation.xml" Id="Rf94e393d619d41f0" /></Relationships>
</file>

<file path=ppt/presentation.xml><?xml version="1.0" encoding="utf-8"?>
<p:presentation xmlns:p="http://schemas.openxmlformats.org/presentationml/2006/main">
  <p:sldMasterIdLst>
    <p:sldMasterId xmlns:r="http://schemas.openxmlformats.org/officeDocument/2006/relationships" id="2147483648" r:id="Rb1b6804b416e4c26"/>
  </p:sldMasterIdLst>
  <p:notesMasterIdLst>
    <p:notesMasterId xmlns:r="http://schemas.openxmlformats.org/officeDocument/2006/relationships" r:id="R5d297d710f954554"/>
  </p:notesMasterIdLst>
  <p:sldIdLst>
    <p:sldId xmlns:r="http://schemas.openxmlformats.org/officeDocument/2006/relationships" id="256" r:id="Rf7523912f8c14b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2199294dc14c90" /><Relationship Type="http://schemas.openxmlformats.org/officeDocument/2006/relationships/slideMaster" Target="/ppt/slideMasters/slideMaster1.xml" Id="Rb1b6804b416e4c26" /><Relationship Type="http://schemas.openxmlformats.org/officeDocument/2006/relationships/notesMaster" Target="/ppt/notesMasters/notesMaster1.xml" Id="R5d297d710f954554" /><Relationship Type="http://schemas.openxmlformats.org/officeDocument/2006/relationships/presProps" Target="/ppt/presProps.xml" Id="R0abe2e2f83f64442" /><Relationship Type="http://schemas.openxmlformats.org/officeDocument/2006/relationships/tableStyles" Target="/ppt/tableStyles.xml" Id="Rc63444a7117f4e76" /><Relationship Type="http://schemas.openxmlformats.org/officeDocument/2006/relationships/slide" Target="/ppt/slides/slide1.xml" Id="Rf7523912f8c14b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44383e46a34e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bfda8b920e447c" /><Relationship Type="http://schemas.openxmlformats.org/officeDocument/2006/relationships/notesMaster" Target="/ppt/notesMasters/notesMaster1.xml" Id="R8a6ec09c72ac4a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Cleaned architecture diagram for BidSure SIH26100. This version uses dedicated horizontal and vertical connector lanes so lines do not pass through component boxes. The architecture shows clients, public edge, private control/data planes, egress gateway, and authorised external sources. Node.js and Express replace Python and Flask/FastAPI. External integration requires provider approval, scoped credentials, consent or authority, and source-specific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da42d54e5f49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5d91f97f0c431b" /><Relationship Type="http://schemas.openxmlformats.org/officeDocument/2006/relationships/slideLayout" Target="/ppt/slideLayouts/slideLayout1.xml" Id="Ra093152cba5d46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93152cba5d46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a74e32d75d49a7" /><Relationship Type="http://schemas.openxmlformats.org/officeDocument/2006/relationships/notesSlide" Target="/ppt/notesSlides/notesSlide1.xml" Id="Rde9bca53d6354de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 name="">
            <a:extLst xmlns:a="http://schemas.openxmlformats.org/drawingml/2006/main">
              <a:ext uri="{FF2B5EF4-FFF2-40B4-BE49-F238E27FC236}">
                <a16:creationId xmlns:a16="http://schemas.microsoft.com/office/drawing/2014/main" id="{02A94707-3532-4EE1-B180-225FE5401B74}"/>
              </a:ext>
            </a:extLst>
          </p:cNvPr>
          <p:cNvSpPr>
            <a:spLocks xmlns:a="http://schemas.openxmlformats.org/drawingml/2006/main" noGrp="1"/>
          </p:cNvSpPr>
          <p:nvPr/>
        </p:nvSpPr>
        <p:spPr>
          <a:xfrm xmlns:a="http://schemas.openxmlformats.org/drawingml/2006/main">
            <a:off x="400050" y="238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6324F"/>
                </a:solidFill>
                <a:latin typeface="Arial"/>
                <a:ea typeface="Arial"/>
                <a:cs typeface="Arial"/>
              </a:defRPr>
            </a:pPr>
            <a:r>
              <a:rPr sz="1200" b="1">
                <a:solidFill>
                  <a:srgbClr val="16324F"/>
                </a:solidFill>
                <a:latin typeface="Arial"/>
                <a:ea typeface="Arial"/>
                <a:cs typeface="Arial"/>
              </a:rPr>
              <a:t>BIDSURE</a:t>
            </a:r>
          </a:p>
        </p:txBody>
      </p:sp>
      <p:sp>
        <p:nvSpPr>
          <p:cNvPr id="2" name="">
            <a:extLst xmlns:a="http://schemas.openxmlformats.org/drawingml/2006/main">
              <a:ext uri="{FF2B5EF4-FFF2-40B4-BE49-F238E27FC236}">
                <a16:creationId xmlns:a16="http://schemas.microsoft.com/office/drawing/2014/main" id="{32460033-A7E0-43DE-B8E4-11F087999819}"/>
              </a:ext>
            </a:extLst>
          </p:cNvPr>
          <p:cNvSpPr>
            <a:spLocks xmlns:a="http://schemas.openxmlformats.org/drawingml/2006/main" noGrp="1"/>
          </p:cNvSpPr>
          <p:nvPr/>
        </p:nvSpPr>
        <p:spPr>
          <a:xfrm xmlns:a="http://schemas.openxmlformats.org/drawingml/2006/main">
            <a:off x="400050" y="504825"/>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250" b="1">
                <a:solidFill>
                  <a:srgbClr val="182530"/>
                </a:solidFill>
                <a:latin typeface="Arial"/>
                <a:ea typeface="Arial"/>
                <a:cs typeface="Arial"/>
              </a:defRPr>
            </a:pPr>
            <a:r>
              <a:rPr sz="2250" b="1">
                <a:solidFill>
                  <a:srgbClr val="182530"/>
                </a:solidFill>
                <a:latin typeface="Arial"/>
                <a:ea typeface="Arial"/>
                <a:cs typeface="Arial"/>
              </a:rPr>
              <a:t>SECURE SYSTEM ARCHITECTURE</a:t>
            </a:r>
          </a:p>
        </p:txBody>
      </p:sp>
      <p:sp>
        <p:nvSpPr>
          <p:cNvPr id="3" name="">
            <a:extLst xmlns:a="http://schemas.openxmlformats.org/drawingml/2006/main">
              <a:ext uri="{FF2B5EF4-FFF2-40B4-BE49-F238E27FC236}">
                <a16:creationId xmlns:a16="http://schemas.microsoft.com/office/drawing/2014/main" id="{C7C95CEC-93F4-4790-9B43-34C51EE7CB14}"/>
              </a:ext>
            </a:extLst>
          </p:cNvPr>
          <p:cNvSpPr>
            <a:spLocks xmlns:a="http://schemas.openxmlformats.org/drawingml/2006/main" noGrp="1"/>
          </p:cNvSpPr>
          <p:nvPr/>
        </p:nvSpPr>
        <p:spPr>
          <a:xfrm xmlns:a="http://schemas.openxmlformats.org/drawingml/2006/main">
            <a:off x="419100" y="914400"/>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0">
                <a:solidFill>
                  <a:srgbClr val="52616B"/>
                </a:solidFill>
                <a:latin typeface="Arial"/>
                <a:ea typeface="Arial"/>
                <a:cs typeface="Arial"/>
              </a:defRPr>
            </a:pPr>
            <a:r>
              <a:rPr sz="900" b="0">
                <a:solidFill>
                  <a:srgbClr val="52616B"/>
                </a:solidFill>
                <a:latin typeface="Arial"/>
                <a:ea typeface="Arial"/>
                <a:cs typeface="Arial"/>
              </a:rPr>
              <a:t>SIH26100 | Node.js + Express | Controlled verification broker</a:t>
            </a:r>
          </a:p>
        </p:txBody>
      </p:sp>
      <p:sp>
        <p:nvSpPr>
          <p:cNvPr id="4" name="">
            <a:extLst xmlns:a="http://schemas.openxmlformats.org/drawingml/2006/main">
              <a:ext uri="{FF2B5EF4-FFF2-40B4-BE49-F238E27FC236}">
                <a16:creationId xmlns:a16="http://schemas.microsoft.com/office/drawing/2014/main" id="{232198E5-EFB5-48BB-8437-AF147B18C017}"/>
              </a:ext>
            </a:extLst>
          </p:cNvPr>
          <p:cNvSpPr>
            <a:spLocks xmlns:a="http://schemas.openxmlformats.org/drawingml/2006/main" noGrp="1"/>
          </p:cNvSpPr>
          <p:nvPr/>
        </p:nvSpPr>
        <p:spPr>
          <a:xfrm xmlns:a="http://schemas.openxmlformats.org/drawingml/2006/main">
            <a:off x="8001000" y="514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73559B"/>
                </a:solidFill>
                <a:latin typeface="Arial"/>
                <a:ea typeface="Arial"/>
                <a:cs typeface="Arial"/>
              </a:defRPr>
            </a:pPr>
            <a:r>
              <a:rPr sz="975" b="1">
                <a:solidFill>
                  <a:srgbClr val="73559B"/>
                </a:solidFill>
                <a:latin typeface="Arial"/>
                <a:ea typeface="Arial"/>
                <a:cs typeface="Arial"/>
              </a:rPr>
              <a:t>Structure first. Routes second. Evidence always.</a:t>
            </a:r>
          </a:p>
        </p:txBody>
      </p:sp>
      <p:sp>
        <p:nvSpPr>
          <p:cNvPr id="5" name="">
            <a:extLst xmlns:a="http://schemas.openxmlformats.org/drawingml/2006/main">
              <a:ext uri="{FF2B5EF4-FFF2-40B4-BE49-F238E27FC236}">
                <a16:creationId xmlns:a16="http://schemas.microsoft.com/office/drawing/2014/main" id="{6B925BCC-E06C-42DF-9980-39635068DEBB}"/>
              </a:ext>
            </a:extLst>
          </p:cNvPr>
          <p:cNvSpPr>
            <a:spLocks xmlns:a="http://schemas.openxmlformats.org/drawingml/2006/main" noGrp="1"/>
          </p:cNvSpPr>
          <p:nvPr/>
        </p:nvSpPr>
        <p:spPr>
          <a:xfrm xmlns:a="http://schemas.openxmlformats.org/drawingml/2006/main">
            <a:off x="333375" y="1285875"/>
            <a:ext cx="1381125" cy="4333875"/>
          </a:xfrm>
          <a:prstGeom xmlns:a="http://schemas.openxmlformats.org/drawingml/2006/main" prst="roundRect">
            <a:avLst>
              <a:gd name="adj" fmla="val 8276"/>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900" b="1">
                <a:solidFill>
                  <a:srgbClr val="C9921E"/>
                </a:solidFill>
                <a:latin typeface="Arial"/>
                <a:ea typeface="Arial"/>
                <a:cs typeface="Arial"/>
              </a:defRPr>
            </a:pPr>
            <a:r>
              <a:rPr sz="900" b="1">
                <a:solidFill>
                  <a:srgbClr val="C9921E"/>
                </a:solidFill>
                <a:latin typeface="Arial"/>
                <a:ea typeface="Arial"/>
                <a:cs typeface="Arial"/>
              </a:rPr>
              <a:t>CLIENTS</a:t>
            </a:r>
          </a:p>
        </p:txBody>
      </p:sp>
      <p:sp>
        <p:nvSpPr>
          <p:cNvPr id="6" name="">
            <a:extLst xmlns:a="http://schemas.openxmlformats.org/drawingml/2006/main">
              <a:ext uri="{FF2B5EF4-FFF2-40B4-BE49-F238E27FC236}">
                <a16:creationId xmlns:a16="http://schemas.microsoft.com/office/drawing/2014/main" id="{9EC9813D-511C-4DDD-92FF-52D306403CB1}"/>
              </a:ext>
            </a:extLst>
          </p:cNvPr>
          <p:cNvSpPr>
            <a:spLocks xmlns:a="http://schemas.openxmlformats.org/drawingml/2006/main" noGrp="1"/>
          </p:cNvSpPr>
          <p:nvPr/>
        </p:nvSpPr>
        <p:spPr>
          <a:xfrm xmlns:a="http://schemas.openxmlformats.org/drawingml/2006/main">
            <a:off x="1952625" y="1285875"/>
            <a:ext cx="6858000" cy="4333875"/>
          </a:xfrm>
          <a:prstGeom xmlns:a="http://schemas.openxmlformats.org/drawingml/2006/main" prst="roundRect">
            <a:avLst>
              <a:gd name="adj" fmla="val 2637"/>
            </a:avLst>
          </a:prstGeom>
          <a:solidFill xmlns:a="http://schemas.openxmlformats.org/drawingml/2006/main">
            <a:srgbClr val="FBFCFD"/>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900" b="1">
                <a:solidFill>
                  <a:srgbClr val="2A9D8F"/>
                </a:solidFill>
                <a:latin typeface="Arial"/>
                <a:ea typeface="Arial"/>
                <a:cs typeface="Arial"/>
              </a:defRPr>
            </a:pPr>
            <a:r>
              <a:rPr sz="900" b="1">
                <a:solidFill>
                  <a:srgbClr val="2A9D8F"/>
                </a:solidFill>
                <a:latin typeface="Arial"/>
                <a:ea typeface="Arial"/>
                <a:cs typeface="Arial"/>
              </a:rPr>
              <a:t>BIDSURE PRIVATE NETWORK</a:t>
            </a:r>
          </a:p>
        </p:txBody>
      </p:sp>
      <p:sp>
        <p:nvSpPr>
          <p:cNvPr id="7" name="">
            <a:extLst xmlns:a="http://schemas.openxmlformats.org/drawingml/2006/main">
              <a:ext uri="{FF2B5EF4-FFF2-40B4-BE49-F238E27FC236}">
                <a16:creationId xmlns:a16="http://schemas.microsoft.com/office/drawing/2014/main" id="{EE288369-EB11-43D1-A5B9-3061EB7D3783}"/>
              </a:ext>
            </a:extLst>
          </p:cNvPr>
          <p:cNvSpPr>
            <a:spLocks xmlns:a="http://schemas.openxmlformats.org/drawingml/2006/main" noGrp="1"/>
          </p:cNvSpPr>
          <p:nvPr/>
        </p:nvSpPr>
        <p:spPr>
          <a:xfrm xmlns:a="http://schemas.openxmlformats.org/drawingml/2006/main">
            <a:off x="9048750" y="1285875"/>
            <a:ext cx="2809875" cy="4333875"/>
          </a:xfrm>
          <a:prstGeom xmlns:a="http://schemas.openxmlformats.org/drawingml/2006/main" prst="roundRect">
            <a:avLst>
              <a:gd name="adj" fmla="val 4068"/>
            </a:avLst>
          </a:prstGeom>
          <a:solidFill xmlns:a="http://schemas.openxmlformats.org/drawingml/2006/main">
            <a:srgbClr val="F0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900" b="1">
                <a:solidFill>
                  <a:srgbClr val="73559B"/>
                </a:solidFill>
                <a:latin typeface="Arial"/>
                <a:ea typeface="Arial"/>
                <a:cs typeface="Arial"/>
              </a:defRPr>
            </a:pPr>
            <a:r>
              <a:rPr sz="900" b="1">
                <a:solidFill>
                  <a:srgbClr val="73559B"/>
                </a:solidFill>
                <a:latin typeface="Arial"/>
                <a:ea typeface="Arial"/>
                <a:cs typeface="Arial"/>
              </a:rPr>
              <a:t>AUTHORISED EXTERNAL SOURCES</a:t>
            </a:r>
          </a:p>
        </p:txBody>
      </p:sp>
      <p:sp>
        <p:nvSpPr>
          <p:cNvPr id="8" name="">
            <a:extLst xmlns:a="http://schemas.openxmlformats.org/drawingml/2006/main">
              <a:ext uri="{FF2B5EF4-FFF2-40B4-BE49-F238E27FC236}">
                <a16:creationId xmlns:a16="http://schemas.microsoft.com/office/drawing/2014/main" id="{A2FF7CFD-E3B8-4493-8880-6C8615F49D2A}"/>
              </a:ext>
            </a:extLst>
          </p:cNvPr>
          <p:cNvSpPr>
            <a:spLocks xmlns:a="http://schemas.openxmlformats.org/drawingml/2006/main" noGrp="1"/>
          </p:cNvSpPr>
          <p:nvPr/>
        </p:nvSpPr>
        <p:spPr>
          <a:xfrm xmlns:a="http://schemas.openxmlformats.org/drawingml/2006/main">
            <a:off x="495300" y="1952625"/>
            <a:ext cx="10477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Bidder</a:t>
            </a:r>
          </a:p>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Pre-check</a:t>
            </a:r>
          </a:p>
        </p:txBody>
      </p:sp>
      <p:sp>
        <p:nvSpPr>
          <p:cNvPr id="9" name="">
            <a:extLst xmlns:a="http://schemas.openxmlformats.org/drawingml/2006/main">
              <a:ext uri="{FF2B5EF4-FFF2-40B4-BE49-F238E27FC236}">
                <a16:creationId xmlns:a16="http://schemas.microsoft.com/office/drawing/2014/main" id="{5E2DF05E-52A5-4FC3-AE9F-843B2BF902D5}"/>
              </a:ext>
            </a:extLst>
          </p:cNvPr>
          <p:cNvSpPr>
            <a:spLocks xmlns:a="http://schemas.openxmlformats.org/drawingml/2006/main" noGrp="1"/>
          </p:cNvSpPr>
          <p:nvPr/>
        </p:nvSpPr>
        <p:spPr>
          <a:xfrm xmlns:a="http://schemas.openxmlformats.org/drawingml/2006/main">
            <a:off x="495300" y="3000375"/>
            <a:ext cx="10477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Officer</a:t>
            </a:r>
          </a:p>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Review console</a:t>
            </a:r>
          </a:p>
        </p:txBody>
      </p:sp>
      <p:sp>
        <p:nvSpPr>
          <p:cNvPr id="10" name="">
            <a:extLst xmlns:a="http://schemas.openxmlformats.org/drawingml/2006/main">
              <a:ext uri="{FF2B5EF4-FFF2-40B4-BE49-F238E27FC236}">
                <a16:creationId xmlns:a16="http://schemas.microsoft.com/office/drawing/2014/main" id="{BB91DF8E-199A-40E3-8EE4-C4EA6327CE84}"/>
              </a:ext>
            </a:extLst>
          </p:cNvPr>
          <p:cNvSpPr>
            <a:spLocks xmlns:a="http://schemas.openxmlformats.org/drawingml/2006/main" noGrp="1"/>
          </p:cNvSpPr>
          <p:nvPr/>
        </p:nvSpPr>
        <p:spPr>
          <a:xfrm xmlns:a="http://schemas.openxmlformats.org/drawingml/2006/main">
            <a:off x="495300" y="4048125"/>
            <a:ext cx="10477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Auditor</a:t>
            </a:r>
          </a:p>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Read-only export</a:t>
            </a:r>
          </a:p>
        </p:txBody>
      </p:sp>
      <p:sp>
        <p:nvSpPr>
          <p:cNvPr id="11" name="">
            <a:extLst xmlns:a="http://schemas.openxmlformats.org/drawingml/2006/main">
              <a:ext uri="{FF2B5EF4-FFF2-40B4-BE49-F238E27FC236}">
                <a16:creationId xmlns:a16="http://schemas.microsoft.com/office/drawing/2014/main" id="{3091DC34-ED74-4DB4-8AE0-07108FBD22F7}"/>
              </a:ext>
            </a:extLst>
          </p:cNvPr>
          <p:cNvSpPr>
            <a:spLocks xmlns:a="http://schemas.openxmlformats.org/drawingml/2006/main" noGrp="1"/>
          </p:cNvSpPr>
          <p:nvPr/>
        </p:nvSpPr>
        <p:spPr>
          <a:xfrm xmlns:a="http://schemas.openxmlformats.org/drawingml/2006/main">
            <a:off x="457200" y="4810125"/>
            <a:ext cx="114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All clients use HTTPS. No external portal credentials reach the browser.</a:t>
            </a:r>
          </a:p>
        </p:txBody>
      </p:sp>
      <p:sp>
        <p:nvSpPr>
          <p:cNvPr id="12" name="">
            <a:extLst xmlns:a="http://schemas.openxmlformats.org/drawingml/2006/main">
              <a:ext uri="{FF2B5EF4-FFF2-40B4-BE49-F238E27FC236}">
                <a16:creationId xmlns:a16="http://schemas.microsoft.com/office/drawing/2014/main" id="{4E70D985-B368-4C3A-98FB-249BD3C73419}"/>
              </a:ext>
            </a:extLst>
          </p:cNvPr>
          <p:cNvSpPr>
            <a:spLocks xmlns:a="http://schemas.openxmlformats.org/drawingml/2006/main" noGrp="1"/>
          </p:cNvSpPr>
          <p:nvPr/>
        </p:nvSpPr>
        <p:spPr>
          <a:xfrm xmlns:a="http://schemas.openxmlformats.org/drawingml/2006/main">
            <a:off x="2190750" y="158115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4B88B5"/>
                </a:solidFill>
                <a:latin typeface="Arial"/>
                <a:ea typeface="Arial"/>
                <a:cs typeface="Arial"/>
              </a:defRPr>
            </a:pPr>
            <a:r>
              <a:rPr sz="750" b="1">
                <a:solidFill>
                  <a:srgbClr val="4B88B5"/>
                </a:solidFill>
                <a:latin typeface="Arial"/>
                <a:ea typeface="Arial"/>
                <a:cs typeface="Arial"/>
              </a:rPr>
              <a:t>PUBLIC EDGE</a:t>
            </a:r>
          </a:p>
        </p:txBody>
      </p:sp>
      <p:sp>
        <p:nvSpPr>
          <p:cNvPr id="13" name="">
            <a:extLst xmlns:a="http://schemas.openxmlformats.org/drawingml/2006/main">
              <a:ext uri="{FF2B5EF4-FFF2-40B4-BE49-F238E27FC236}">
                <a16:creationId xmlns:a16="http://schemas.microsoft.com/office/drawing/2014/main" id="{0BF73FD5-7194-4F93-990B-17E295956898}"/>
              </a:ext>
            </a:extLst>
          </p:cNvPr>
          <p:cNvSpPr>
            <a:spLocks xmlns:a="http://schemas.openxmlformats.org/drawingml/2006/main" noGrp="1"/>
          </p:cNvSpPr>
          <p:nvPr/>
        </p:nvSpPr>
        <p:spPr>
          <a:xfrm xmlns:a="http://schemas.openxmlformats.org/drawingml/2006/main">
            <a:off x="2238375" y="1809750"/>
            <a:ext cx="1190625" cy="552450"/>
          </a:xfrm>
          <a:prstGeom xmlns:a="http://schemas.openxmlformats.org/drawingml/2006/main" prst="roundRect">
            <a:avLst>
              <a:gd name="adj" fmla="val 20690"/>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WAF /</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rate limit</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Ingress policy</a:t>
            </a:r>
          </a:p>
        </p:txBody>
      </p:sp>
      <p:sp>
        <p:nvSpPr>
          <p:cNvPr id="14" name="">
            <a:extLst xmlns:a="http://schemas.openxmlformats.org/drawingml/2006/main">
              <a:ext uri="{FF2B5EF4-FFF2-40B4-BE49-F238E27FC236}">
                <a16:creationId xmlns:a16="http://schemas.microsoft.com/office/drawing/2014/main" id="{4DADDD89-ADB3-425B-8E16-F303C097C39D}"/>
              </a:ext>
            </a:extLst>
          </p:cNvPr>
          <p:cNvSpPr>
            <a:spLocks xmlns:a="http://schemas.openxmlformats.org/drawingml/2006/main" noGrp="1"/>
          </p:cNvSpPr>
          <p:nvPr/>
        </p:nvSpPr>
        <p:spPr>
          <a:xfrm xmlns:a="http://schemas.openxmlformats.org/drawingml/2006/main">
            <a:off x="3857625" y="1809750"/>
            <a:ext cx="1190625" cy="552450"/>
          </a:xfrm>
          <a:prstGeom xmlns:a="http://schemas.openxmlformats.org/drawingml/2006/main" prst="roundRect">
            <a:avLst>
              <a:gd name="adj" fmla="val 20690"/>
            </a:avLst>
          </a:prstGeom>
          <a:solidFill xmlns:a="http://schemas.openxmlformats.org/drawingml/2006/main">
            <a:srgbClr val="DCECF7"/>
          </a:solidFill>
          <a:ln xmlns:a="http://schemas.openxmlformats.org/drawingml/2006/main" w="14288">
            <a:solidFill>
              <a:srgbClr val="4B88B5"/>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React + Vite</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Frontend</a:t>
            </a:r>
          </a:p>
        </p:txBody>
      </p:sp>
      <p:sp>
        <p:nvSpPr>
          <p:cNvPr id="15" name="">
            <a:extLst xmlns:a="http://schemas.openxmlformats.org/drawingml/2006/main">
              <a:ext uri="{FF2B5EF4-FFF2-40B4-BE49-F238E27FC236}">
                <a16:creationId xmlns:a16="http://schemas.microsoft.com/office/drawing/2014/main" id="{C10C7E60-BA26-4C8B-8018-1C179E4DB924}"/>
              </a:ext>
            </a:extLst>
          </p:cNvPr>
          <p:cNvSpPr>
            <a:spLocks xmlns:a="http://schemas.openxmlformats.org/drawingml/2006/main" noGrp="1"/>
          </p:cNvSpPr>
          <p:nvPr/>
        </p:nvSpPr>
        <p:spPr>
          <a:xfrm xmlns:a="http://schemas.openxmlformats.org/drawingml/2006/main">
            <a:off x="5476875" y="1714500"/>
            <a:ext cx="1714500" cy="742950"/>
          </a:xfrm>
          <a:prstGeom xmlns:a="http://schemas.openxmlformats.org/drawingml/2006/main" prst="roundRect">
            <a:avLst>
              <a:gd name="adj" fmla="val 15385"/>
            </a:avLst>
          </a:prstGeom>
          <a:solidFill xmlns:a="http://schemas.openxmlformats.org/drawingml/2006/main">
            <a:srgbClr val="E2F4E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Express API</a:t>
            </a:r>
          </a:p>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Node.js + TypeScript</a:t>
            </a:r>
          </a:p>
          <a:p xmlns:a="http://schemas.openxmlformats.org/drawingml/2006/main">
            <a:pPr>
              <a:defRPr sz="825">
                <a:solidFill>
                  <a:srgbClr val="182530"/>
                </a:solidFill>
                <a:latin typeface="Arial"/>
                <a:ea typeface="Arial"/>
                <a:cs typeface="Arial"/>
              </a:defRPr>
            </a:pPr>
            <a:r>
              <a:rPr sz="825">
                <a:solidFill>
                  <a:srgbClr val="182530"/>
                </a:solidFill>
                <a:latin typeface="Arial"/>
                <a:ea typeface="Arial"/>
                <a:cs typeface="Arial"/>
              </a:rPr>
              <a:t>REST / JSON | OIDC</a:t>
            </a:r>
          </a:p>
        </p:txBody>
      </p:sp>
      <p:sp>
        <p:nvSpPr>
          <p:cNvPr id="16" name="">
            <a:extLst xmlns:a="http://schemas.openxmlformats.org/drawingml/2006/main">
              <a:ext uri="{FF2B5EF4-FFF2-40B4-BE49-F238E27FC236}">
                <a16:creationId xmlns:a16="http://schemas.microsoft.com/office/drawing/2014/main" id="{6BBC8272-1A62-4CD9-8A7C-9D532D2D1C06}"/>
              </a:ext>
            </a:extLst>
          </p:cNvPr>
          <p:cNvSpPr>
            <a:spLocks xmlns:a="http://schemas.openxmlformats.org/drawingml/2006/main" noGrp="1"/>
          </p:cNvSpPr>
          <p:nvPr/>
        </p:nvSpPr>
        <p:spPr>
          <a:xfrm xmlns:a="http://schemas.openxmlformats.org/drawingml/2006/main">
            <a:off x="7524750" y="1809750"/>
            <a:ext cx="10001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Egress</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gateway</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Allowlisted routes</a:t>
            </a:r>
          </a:p>
        </p:txBody>
      </p:sp>
      <p:sp>
        <p:nvSpPr>
          <p:cNvPr id="17" name="">
            <a:extLst xmlns:a="http://schemas.openxmlformats.org/drawingml/2006/main">
              <a:ext uri="{FF2B5EF4-FFF2-40B4-BE49-F238E27FC236}">
                <a16:creationId xmlns:a16="http://schemas.microsoft.com/office/drawing/2014/main" id="{86ECFED6-9FF5-4145-B1D0-C7A53AE6BA1E}"/>
              </a:ext>
            </a:extLst>
          </p:cNvPr>
          <p:cNvSpPr>
            <a:spLocks xmlns:a="http://schemas.openxmlformats.org/drawingml/2006/main" noGrp="1"/>
          </p:cNvSpPr>
          <p:nvPr/>
        </p:nvSpPr>
        <p:spPr>
          <a:xfrm xmlns:a="http://schemas.openxmlformats.org/drawingml/2006/main">
            <a:off x="2190750" y="2686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2A9D8F"/>
                </a:solidFill>
                <a:latin typeface="Arial"/>
                <a:ea typeface="Arial"/>
                <a:cs typeface="Arial"/>
              </a:defRPr>
            </a:pPr>
            <a:r>
              <a:rPr sz="750" b="1">
                <a:solidFill>
                  <a:srgbClr val="2A9D8F"/>
                </a:solidFill>
                <a:latin typeface="Arial"/>
                <a:ea typeface="Arial"/>
                <a:cs typeface="Arial"/>
              </a:rPr>
              <a:t>CONTROL PLANE</a:t>
            </a:r>
          </a:p>
        </p:txBody>
      </p:sp>
      <p:sp>
        <p:nvSpPr>
          <p:cNvPr id="18" name="">
            <a:extLst xmlns:a="http://schemas.openxmlformats.org/drawingml/2006/main">
              <a:ext uri="{FF2B5EF4-FFF2-40B4-BE49-F238E27FC236}">
                <a16:creationId xmlns:a16="http://schemas.microsoft.com/office/drawing/2014/main" id="{0137FF40-72FF-4E31-BCE8-E9124246686A}"/>
              </a:ext>
            </a:extLst>
          </p:cNvPr>
          <p:cNvSpPr>
            <a:spLocks xmlns:a="http://schemas.openxmlformats.org/drawingml/2006/main" noGrp="1"/>
          </p:cNvSpPr>
          <p:nvPr/>
        </p:nvSpPr>
        <p:spPr>
          <a:xfrm xmlns:a="http://schemas.openxmlformats.org/drawingml/2006/main">
            <a:off x="2238375" y="3048000"/>
            <a:ext cx="133350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Tender + case</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Versions, clauses</a:t>
            </a:r>
          </a:p>
        </p:txBody>
      </p:sp>
      <p:sp>
        <p:nvSpPr>
          <p:cNvPr id="19" name="">
            <a:extLst xmlns:a="http://schemas.openxmlformats.org/drawingml/2006/main">
              <a:ext uri="{FF2B5EF4-FFF2-40B4-BE49-F238E27FC236}">
                <a16:creationId xmlns:a16="http://schemas.microsoft.com/office/drawing/2014/main" id="{C8BE80E5-0E8D-4DC5-97C3-728A5AEA2545}"/>
              </a:ext>
            </a:extLst>
          </p:cNvPr>
          <p:cNvSpPr>
            <a:spLocks xmlns:a="http://schemas.openxmlformats.org/drawingml/2006/main" noGrp="1"/>
          </p:cNvSpPr>
          <p:nvPr/>
        </p:nvSpPr>
        <p:spPr>
          <a:xfrm xmlns:a="http://schemas.openxmlformats.org/drawingml/2006/main">
            <a:off x="3857625" y="3048000"/>
            <a:ext cx="133350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Document + evidence</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OCR, hashes, fields</a:t>
            </a:r>
          </a:p>
        </p:txBody>
      </p:sp>
      <p:sp>
        <p:nvSpPr>
          <p:cNvPr id="20" name="">
            <a:extLst xmlns:a="http://schemas.openxmlformats.org/drawingml/2006/main">
              <a:ext uri="{FF2B5EF4-FFF2-40B4-BE49-F238E27FC236}">
                <a16:creationId xmlns:a16="http://schemas.microsoft.com/office/drawing/2014/main" id="{3A69FDDD-19C4-4712-AF16-FCDF97755EF2}"/>
              </a:ext>
            </a:extLst>
          </p:cNvPr>
          <p:cNvSpPr>
            <a:spLocks xmlns:a="http://schemas.openxmlformats.org/drawingml/2006/main" noGrp="1"/>
          </p:cNvSpPr>
          <p:nvPr/>
        </p:nvSpPr>
        <p:spPr>
          <a:xfrm xmlns:a="http://schemas.openxmlformats.org/drawingml/2006/main">
            <a:off x="5476875" y="3048000"/>
            <a:ext cx="133350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4288">
            <a:solidFill>
              <a:srgbClr val="2A9D8F"/>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Verification</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Adapters, freshness</a:t>
            </a:r>
          </a:p>
        </p:txBody>
      </p:sp>
      <p:sp>
        <p:nvSpPr>
          <p:cNvPr id="21" name="">
            <a:extLst xmlns:a="http://schemas.openxmlformats.org/drawingml/2006/main">
              <a:ext uri="{FF2B5EF4-FFF2-40B4-BE49-F238E27FC236}">
                <a16:creationId xmlns:a16="http://schemas.microsoft.com/office/drawing/2014/main" id="{6AAAE135-6644-4D14-8686-5141AD834EEE}"/>
              </a:ext>
            </a:extLst>
          </p:cNvPr>
          <p:cNvSpPr>
            <a:spLocks xmlns:a="http://schemas.openxmlformats.org/drawingml/2006/main" noGrp="1"/>
          </p:cNvSpPr>
          <p:nvPr/>
        </p:nvSpPr>
        <p:spPr>
          <a:xfrm xmlns:a="http://schemas.openxmlformats.org/drawingml/2006/main">
            <a:off x="7096125" y="3048000"/>
            <a:ext cx="1333500" cy="609600"/>
          </a:xfrm>
          <a:prstGeom xmlns:a="http://schemas.openxmlformats.org/drawingml/2006/main" prst="roundRect">
            <a:avLst>
              <a:gd name="adj" fmla="val 18750"/>
            </a:avLst>
          </a:prstGeom>
          <a:solidFill xmlns:a="http://schemas.openxmlformats.org/drawingml/2006/main">
            <a:srgbClr val="FFF2C7"/>
          </a:solidFill>
          <a:ln xmlns:a="http://schemas.openxmlformats.org/drawingml/2006/main" w="14288">
            <a:solidFill>
              <a:srgbClr val="C9921E"/>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Rules + decision</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Score, review, audit</a:t>
            </a:r>
          </a:p>
        </p:txBody>
      </p:sp>
      <p:sp>
        <p:nvSpPr>
          <p:cNvPr id="22" name="">
            <a:extLst xmlns:a="http://schemas.openxmlformats.org/drawingml/2006/main">
              <a:ext uri="{FF2B5EF4-FFF2-40B4-BE49-F238E27FC236}">
                <a16:creationId xmlns:a16="http://schemas.microsoft.com/office/drawing/2014/main" id="{0D76E0B7-C82E-4CAC-BB1B-F57284A2F4DD}"/>
              </a:ext>
            </a:extLst>
          </p:cNvPr>
          <p:cNvSpPr>
            <a:spLocks xmlns:a="http://schemas.openxmlformats.org/drawingml/2006/main" noGrp="1"/>
          </p:cNvSpPr>
          <p:nvPr/>
        </p:nvSpPr>
        <p:spPr>
          <a:xfrm xmlns:a="http://schemas.openxmlformats.org/drawingml/2006/main">
            <a:off x="2190750" y="39814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73559B"/>
                </a:solidFill>
                <a:latin typeface="Arial"/>
                <a:ea typeface="Arial"/>
                <a:cs typeface="Arial"/>
              </a:defRPr>
            </a:pPr>
            <a:r>
              <a:rPr sz="750" b="1">
                <a:solidFill>
                  <a:srgbClr val="73559B"/>
                </a:solidFill>
                <a:latin typeface="Arial"/>
                <a:ea typeface="Arial"/>
                <a:cs typeface="Arial"/>
              </a:rPr>
              <a:t>DATA PLANE</a:t>
            </a:r>
          </a:p>
        </p:txBody>
      </p:sp>
      <p:sp>
        <p:nvSpPr>
          <p:cNvPr id="23" name="">
            <a:extLst xmlns:a="http://schemas.openxmlformats.org/drawingml/2006/main">
              <a:ext uri="{FF2B5EF4-FFF2-40B4-BE49-F238E27FC236}">
                <a16:creationId xmlns:a16="http://schemas.microsoft.com/office/drawing/2014/main" id="{3A00FC1E-3F55-43E4-AAB2-6B38C5B3D722}"/>
              </a:ext>
            </a:extLst>
          </p:cNvPr>
          <p:cNvSpPr>
            <a:spLocks xmlns:a="http://schemas.openxmlformats.org/drawingml/2006/main" noGrp="1"/>
          </p:cNvSpPr>
          <p:nvPr/>
        </p:nvSpPr>
        <p:spPr>
          <a:xfrm xmlns:a="http://schemas.openxmlformats.org/drawingml/2006/main">
            <a:off x="2238375" y="4333875"/>
            <a:ext cx="1333500" cy="609600"/>
          </a:xfrm>
          <a:prstGeom xmlns:a="http://schemas.openxmlformats.org/drawingml/2006/main" prst="roundRect">
            <a:avLst>
              <a:gd name="adj" fmla="val 18750"/>
            </a:avLst>
          </a:prstGeom>
          <a:solidFill xmlns:a="http://schemas.openxmlformats.org/drawingml/2006/main">
            <a:srgbClr val="F0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MongoDB</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Case metadata</a:t>
            </a:r>
          </a:p>
        </p:txBody>
      </p:sp>
      <p:sp>
        <p:nvSpPr>
          <p:cNvPr id="24" name="">
            <a:extLst xmlns:a="http://schemas.openxmlformats.org/drawingml/2006/main">
              <a:ext uri="{FF2B5EF4-FFF2-40B4-BE49-F238E27FC236}">
                <a16:creationId xmlns:a16="http://schemas.microsoft.com/office/drawing/2014/main" id="{599CA2DA-AEA4-4B1F-BAFC-34D3B88BCC1A}"/>
              </a:ext>
            </a:extLst>
          </p:cNvPr>
          <p:cNvSpPr>
            <a:spLocks xmlns:a="http://schemas.openxmlformats.org/drawingml/2006/main" noGrp="1"/>
          </p:cNvSpPr>
          <p:nvPr/>
        </p:nvSpPr>
        <p:spPr>
          <a:xfrm xmlns:a="http://schemas.openxmlformats.org/drawingml/2006/main">
            <a:off x="3857625" y="4333875"/>
            <a:ext cx="1333500" cy="609600"/>
          </a:xfrm>
          <a:prstGeom xmlns:a="http://schemas.openxmlformats.org/drawingml/2006/main" prst="roundRect">
            <a:avLst>
              <a:gd name="adj" fmla="val 18750"/>
            </a:avLst>
          </a:prstGeom>
          <a:solidFill xmlns:a="http://schemas.openxmlformats.org/drawingml/2006/main">
            <a:srgbClr val="F0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Object storage</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Documents, hashes</a:t>
            </a:r>
          </a:p>
        </p:txBody>
      </p:sp>
      <p:sp>
        <p:nvSpPr>
          <p:cNvPr id="25" name="">
            <a:extLst xmlns:a="http://schemas.openxmlformats.org/drawingml/2006/main">
              <a:ext uri="{FF2B5EF4-FFF2-40B4-BE49-F238E27FC236}">
                <a16:creationId xmlns:a16="http://schemas.microsoft.com/office/drawing/2014/main" id="{01BF9638-F485-4742-9F56-C793E0843FC9}"/>
              </a:ext>
            </a:extLst>
          </p:cNvPr>
          <p:cNvSpPr>
            <a:spLocks xmlns:a="http://schemas.openxmlformats.org/drawingml/2006/main" noGrp="1"/>
          </p:cNvSpPr>
          <p:nvPr/>
        </p:nvSpPr>
        <p:spPr>
          <a:xfrm xmlns:a="http://schemas.openxmlformats.org/drawingml/2006/main">
            <a:off x="5476875" y="4333875"/>
            <a:ext cx="1333500" cy="609600"/>
          </a:xfrm>
          <a:prstGeom xmlns:a="http://schemas.openxmlformats.org/drawingml/2006/main" prst="roundRect">
            <a:avLst>
              <a:gd name="adj" fmla="val 18750"/>
            </a:avLst>
          </a:prstGeom>
          <a:solidFill xmlns:a="http://schemas.openxmlformats.org/drawingml/2006/main">
            <a:srgbClr val="F0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Redis + BullMQ</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Async jobs</a:t>
            </a:r>
          </a:p>
        </p:txBody>
      </p:sp>
      <p:sp>
        <p:nvSpPr>
          <p:cNvPr id="26" name="">
            <a:extLst xmlns:a="http://schemas.openxmlformats.org/drawingml/2006/main">
              <a:ext uri="{FF2B5EF4-FFF2-40B4-BE49-F238E27FC236}">
                <a16:creationId xmlns:a16="http://schemas.microsoft.com/office/drawing/2014/main" id="{EDC590E5-DA5A-45EE-9BF4-45C1DC50F774}"/>
              </a:ext>
            </a:extLst>
          </p:cNvPr>
          <p:cNvSpPr>
            <a:spLocks xmlns:a="http://schemas.openxmlformats.org/drawingml/2006/main" noGrp="1"/>
          </p:cNvSpPr>
          <p:nvPr/>
        </p:nvSpPr>
        <p:spPr>
          <a:xfrm xmlns:a="http://schemas.openxmlformats.org/drawingml/2006/main">
            <a:off x="7096125" y="4333875"/>
            <a:ext cx="1333500" cy="609600"/>
          </a:xfrm>
          <a:prstGeom xmlns:a="http://schemas.openxmlformats.org/drawingml/2006/main" prst="roundRect">
            <a:avLst>
              <a:gd name="adj" fmla="val 18750"/>
            </a:avLst>
          </a:prstGeom>
          <a:solidFill xmlns:a="http://schemas.openxmlformats.org/drawingml/2006/main">
            <a:srgbClr val="F0EAF8"/>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Audit store</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Append-only events</a:t>
            </a:r>
          </a:p>
        </p:txBody>
      </p:sp>
      <p:sp>
        <p:nvSpPr>
          <p:cNvPr id="27" name="">
            <a:extLst xmlns:a="http://schemas.openxmlformats.org/drawingml/2006/main">
              <a:ext uri="{FF2B5EF4-FFF2-40B4-BE49-F238E27FC236}">
                <a16:creationId xmlns:a16="http://schemas.microsoft.com/office/drawing/2014/main" id="{48AB0644-84E1-4AAD-9DF1-61404D6CCFBB}"/>
              </a:ext>
            </a:extLst>
          </p:cNvPr>
          <p:cNvSpPr>
            <a:spLocks xmlns:a="http://schemas.openxmlformats.org/drawingml/2006/main" noGrp="1"/>
          </p:cNvSpPr>
          <p:nvPr/>
        </p:nvSpPr>
        <p:spPr>
          <a:xfrm xmlns:a="http://schemas.openxmlformats.org/drawingml/2006/main">
            <a:off x="9334500" y="1809750"/>
            <a:ext cx="2238375"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API Setu / approved APIs</a:t>
            </a:r>
          </a:p>
          <a:p xmlns:a="http://schemas.openxmlformats.org/drawingml/2006/main">
            <a:pPr>
              <a:defRPr sz="750">
                <a:solidFill>
                  <a:srgbClr val="182530"/>
                </a:solidFill>
                <a:latin typeface="Arial"/>
                <a:ea typeface="Arial"/>
                <a:cs typeface="Arial"/>
              </a:defRPr>
            </a:pPr>
            <a:r>
              <a:rPr sz="750">
                <a:solidFill>
                  <a:srgbClr val="182530"/>
                </a:solidFill>
                <a:latin typeface="Arial"/>
                <a:ea typeface="Arial"/>
                <a:cs typeface="Arial"/>
              </a:rPr>
              <a:t>Provider onboarding + consent</a:t>
            </a:r>
          </a:p>
        </p:txBody>
      </p:sp>
      <p:sp>
        <p:nvSpPr>
          <p:cNvPr id="28" name="">
            <a:extLst xmlns:a="http://schemas.openxmlformats.org/drawingml/2006/main">
              <a:ext uri="{FF2B5EF4-FFF2-40B4-BE49-F238E27FC236}">
                <a16:creationId xmlns:a16="http://schemas.microsoft.com/office/drawing/2014/main" id="{094E56DC-4D17-4FD0-B2D6-D3F9E89929CF}"/>
              </a:ext>
            </a:extLst>
          </p:cNvPr>
          <p:cNvSpPr>
            <a:spLocks xmlns:a="http://schemas.openxmlformats.org/drawingml/2006/main" noGrp="1"/>
          </p:cNvSpPr>
          <p:nvPr/>
        </p:nvSpPr>
        <p:spPr>
          <a:xfrm xmlns:a="http://schemas.openxmlformats.org/drawingml/2006/main">
            <a:off x="9334500" y="2619375"/>
            <a:ext cx="10477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GSTN / PAN</a:t>
            </a:r>
          </a:p>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Status + identity</a:t>
            </a:r>
          </a:p>
        </p:txBody>
      </p:sp>
      <p:sp>
        <p:nvSpPr>
          <p:cNvPr id="29" name="">
            <a:extLst xmlns:a="http://schemas.openxmlformats.org/drawingml/2006/main">
              <a:ext uri="{FF2B5EF4-FFF2-40B4-BE49-F238E27FC236}">
                <a16:creationId xmlns:a16="http://schemas.microsoft.com/office/drawing/2014/main" id="{65B42209-5929-4F61-9A04-0005045ABF82}"/>
              </a:ext>
            </a:extLst>
          </p:cNvPr>
          <p:cNvSpPr>
            <a:spLocks xmlns:a="http://schemas.openxmlformats.org/drawingml/2006/main" noGrp="1"/>
          </p:cNvSpPr>
          <p:nvPr/>
        </p:nvSpPr>
        <p:spPr>
          <a:xfrm xmlns:a="http://schemas.openxmlformats.org/drawingml/2006/main">
            <a:off x="10525125" y="2619375"/>
            <a:ext cx="10477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Udyam / NSIC</a:t>
            </a:r>
          </a:p>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MSE evidence</a:t>
            </a:r>
          </a:p>
        </p:txBody>
      </p:sp>
      <p:sp>
        <p:nvSpPr>
          <p:cNvPr id="30" name="">
            <a:extLst xmlns:a="http://schemas.openxmlformats.org/drawingml/2006/main">
              <a:ext uri="{FF2B5EF4-FFF2-40B4-BE49-F238E27FC236}">
                <a16:creationId xmlns:a16="http://schemas.microsoft.com/office/drawing/2014/main" id="{8B2A9872-4BAC-45AA-975B-229674602F55}"/>
              </a:ext>
            </a:extLst>
          </p:cNvPr>
          <p:cNvSpPr>
            <a:spLocks xmlns:a="http://schemas.openxmlformats.org/drawingml/2006/main" noGrp="1"/>
          </p:cNvSpPr>
          <p:nvPr/>
        </p:nvSpPr>
        <p:spPr>
          <a:xfrm xmlns:a="http://schemas.openxmlformats.org/drawingml/2006/main">
            <a:off x="9334500" y="3476625"/>
            <a:ext cx="10477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MCA21 / DPIIT</a:t>
            </a:r>
          </a:p>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Entity + startup</a:t>
            </a:r>
          </a:p>
        </p:txBody>
      </p:sp>
      <p:sp>
        <p:nvSpPr>
          <p:cNvPr id="31" name="">
            <a:extLst xmlns:a="http://schemas.openxmlformats.org/drawingml/2006/main">
              <a:ext uri="{FF2B5EF4-FFF2-40B4-BE49-F238E27FC236}">
                <a16:creationId xmlns:a16="http://schemas.microsoft.com/office/drawing/2014/main" id="{C62107D9-BE58-4A36-BA2A-1857A25E9C51}"/>
              </a:ext>
            </a:extLst>
          </p:cNvPr>
          <p:cNvSpPr>
            <a:spLocks xmlns:a="http://schemas.openxmlformats.org/drawingml/2006/main" noGrp="1"/>
          </p:cNvSpPr>
          <p:nvPr/>
        </p:nvSpPr>
        <p:spPr>
          <a:xfrm xmlns:a="http://schemas.openxmlformats.org/drawingml/2006/main">
            <a:off x="10525125" y="3476625"/>
            <a:ext cx="10477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DigiLocker</a:t>
            </a:r>
          </a:p>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Issuer documents</a:t>
            </a:r>
          </a:p>
        </p:txBody>
      </p:sp>
      <p:sp>
        <p:nvSpPr>
          <p:cNvPr id="32" name="">
            <a:extLst xmlns:a="http://schemas.openxmlformats.org/drawingml/2006/main">
              <a:ext uri="{FF2B5EF4-FFF2-40B4-BE49-F238E27FC236}">
                <a16:creationId xmlns:a16="http://schemas.microsoft.com/office/drawing/2014/main" id="{A26F98FD-2527-4064-961C-18B1B194D10B}"/>
              </a:ext>
            </a:extLst>
          </p:cNvPr>
          <p:cNvSpPr>
            <a:spLocks xmlns:a="http://schemas.openxmlformats.org/drawingml/2006/main" noGrp="1"/>
          </p:cNvSpPr>
          <p:nvPr/>
        </p:nvSpPr>
        <p:spPr>
          <a:xfrm xmlns:a="http://schemas.openxmlformats.org/drawingml/2006/main">
            <a:off x="9334500" y="4333875"/>
            <a:ext cx="10477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EPFO / ESIC</a:t>
            </a:r>
          </a:p>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Where applicable</a:t>
            </a:r>
          </a:p>
        </p:txBody>
      </p:sp>
      <p:sp>
        <p:nvSpPr>
          <p:cNvPr id="33" name="">
            <a:extLst xmlns:a="http://schemas.openxmlformats.org/drawingml/2006/main">
              <a:ext uri="{FF2B5EF4-FFF2-40B4-BE49-F238E27FC236}">
                <a16:creationId xmlns:a16="http://schemas.microsoft.com/office/drawing/2014/main" id="{6164A70C-B85B-4061-8B30-C5672997986B}"/>
              </a:ext>
            </a:extLst>
          </p:cNvPr>
          <p:cNvSpPr>
            <a:spLocks xmlns:a="http://schemas.openxmlformats.org/drawingml/2006/main" noGrp="1"/>
          </p:cNvSpPr>
          <p:nvPr/>
        </p:nvSpPr>
        <p:spPr>
          <a:xfrm xmlns:a="http://schemas.openxmlformats.org/drawingml/2006/main">
            <a:off x="10525125" y="4333875"/>
            <a:ext cx="10477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73559B"/>
            </a:solidFill>
            <a:prstDash val="solid"/>
          </a:ln>
        </p:spPr>
        <p:txBody>
          <a:bodyPr xmlns:a="http://schemas.openxmlformats.org/drawingml/2006/main"/>
          <a:lstStyle xmlns:a="http://schemas.openxmlformats.org/drawingml/2006/main"/>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BIS / debarment</a:t>
            </a:r>
          </a:p>
          <a:p xmlns:a="http://schemas.openxmlformats.org/drawingml/2006/main">
            <a:pPr>
              <a:defRPr sz="675">
                <a:solidFill>
                  <a:srgbClr val="182530"/>
                </a:solidFill>
                <a:latin typeface="Arial"/>
                <a:ea typeface="Arial"/>
                <a:cs typeface="Arial"/>
              </a:defRPr>
            </a:pPr>
            <a:r>
              <a:rPr sz="675">
                <a:solidFill>
                  <a:srgbClr val="182530"/>
                </a:solidFill>
                <a:latin typeface="Arial"/>
                <a:ea typeface="Arial"/>
                <a:cs typeface="Arial"/>
              </a:rPr>
              <a:t>Product + exclusion</a:t>
            </a:r>
          </a:p>
        </p:txBody>
      </p:sp>
      <p:sp>
        <p:nvSpPr>
          <p:cNvPr id="34" name="">
            <a:extLst xmlns:a="http://schemas.openxmlformats.org/drawingml/2006/main">
              <a:ext uri="{FF2B5EF4-FFF2-40B4-BE49-F238E27FC236}">
                <a16:creationId xmlns:a16="http://schemas.microsoft.com/office/drawing/2014/main" id="{D2DAF7EF-1F50-45DE-A796-10D3326BCC2B}"/>
              </a:ext>
            </a:extLst>
          </p:cNvPr>
          <p:cNvSpPr>
            <a:spLocks xmlns:a="http://schemas.openxmlformats.org/drawingml/2006/main" noGrp="1"/>
          </p:cNvSpPr>
          <p:nvPr/>
        </p:nvSpPr>
        <p:spPr>
          <a:xfrm xmlns:a="http://schemas.openxmlformats.org/drawingml/2006/main">
            <a:off x="1543050" y="2095500"/>
            <a:ext cx="69532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35" name="">
            <a:extLst xmlns:a="http://schemas.openxmlformats.org/drawingml/2006/main">
              <a:ext uri="{FF2B5EF4-FFF2-40B4-BE49-F238E27FC236}">
                <a16:creationId xmlns:a16="http://schemas.microsoft.com/office/drawing/2014/main" id="{A0C47A8D-6C97-4A2D-9AF5-6A86DD80F300}"/>
              </a:ext>
            </a:extLst>
          </p:cNvPr>
          <p:cNvSpPr>
            <a:spLocks xmlns:a="http://schemas.openxmlformats.org/drawingml/2006/main" noGrp="1"/>
          </p:cNvSpPr>
          <p:nvPr/>
        </p:nvSpPr>
        <p:spPr>
          <a:xfrm xmlns:a="http://schemas.openxmlformats.org/drawingml/2006/main">
            <a:off x="2143125" y="2047875"/>
            <a:ext cx="95250" cy="95250"/>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940A640-D270-4142-9927-48C95EFB547E}"/>
              </a:ext>
            </a:extLst>
          </p:cNvPr>
          <p:cNvSpPr>
            <a:spLocks xmlns:a="http://schemas.openxmlformats.org/drawingml/2006/main" noGrp="1"/>
          </p:cNvSpPr>
          <p:nvPr/>
        </p:nvSpPr>
        <p:spPr>
          <a:xfrm xmlns:a="http://schemas.openxmlformats.org/drawingml/2006/main">
            <a:off x="1733550" y="1914525"/>
            <a:ext cx="4000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C9921E"/>
                </a:solidFill>
                <a:latin typeface="Arial"/>
                <a:ea typeface="Arial"/>
                <a:cs typeface="Arial"/>
              </a:defRPr>
            </a:pPr>
            <a:r>
              <a:rPr sz="675" b="1">
                <a:solidFill>
                  <a:srgbClr val="C9921E"/>
                </a:solidFill>
                <a:latin typeface="Arial"/>
                <a:ea typeface="Arial"/>
                <a:cs typeface="Arial"/>
              </a:rPr>
              <a:t>HTTPS</a:t>
            </a:r>
          </a:p>
        </p:txBody>
      </p:sp>
      <p:sp>
        <p:nvSpPr>
          <p:cNvPr id="37" name="">
            <a:extLst xmlns:a="http://schemas.openxmlformats.org/drawingml/2006/main">
              <a:ext uri="{FF2B5EF4-FFF2-40B4-BE49-F238E27FC236}">
                <a16:creationId xmlns:a16="http://schemas.microsoft.com/office/drawing/2014/main" id="{1503F555-8F91-40AE-82DF-DD0ADDB39B48}"/>
              </a:ext>
            </a:extLst>
          </p:cNvPr>
          <p:cNvSpPr>
            <a:spLocks xmlns:a="http://schemas.openxmlformats.org/drawingml/2006/main" noGrp="1"/>
          </p:cNvSpPr>
          <p:nvPr/>
        </p:nvSpPr>
        <p:spPr>
          <a:xfrm xmlns:a="http://schemas.openxmlformats.org/drawingml/2006/main">
            <a:off x="1543050" y="3143250"/>
            <a:ext cx="69532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38" name="">
            <a:extLst xmlns:a="http://schemas.openxmlformats.org/drawingml/2006/main">
              <a:ext uri="{FF2B5EF4-FFF2-40B4-BE49-F238E27FC236}">
                <a16:creationId xmlns:a16="http://schemas.microsoft.com/office/drawing/2014/main" id="{8085D177-2ED2-4D77-9BBE-9C72EE33528B}"/>
              </a:ext>
            </a:extLst>
          </p:cNvPr>
          <p:cNvSpPr>
            <a:spLocks xmlns:a="http://schemas.openxmlformats.org/drawingml/2006/main" noGrp="1"/>
          </p:cNvSpPr>
          <p:nvPr/>
        </p:nvSpPr>
        <p:spPr>
          <a:xfrm xmlns:a="http://schemas.openxmlformats.org/drawingml/2006/main">
            <a:off x="2143125" y="3095625"/>
            <a:ext cx="95250" cy="95250"/>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3841623-9BCB-4936-B3F4-62C7122A9087}"/>
              </a:ext>
            </a:extLst>
          </p:cNvPr>
          <p:cNvSpPr>
            <a:spLocks xmlns:a="http://schemas.openxmlformats.org/drawingml/2006/main" noGrp="1"/>
          </p:cNvSpPr>
          <p:nvPr/>
        </p:nvSpPr>
        <p:spPr>
          <a:xfrm xmlns:a="http://schemas.openxmlformats.org/drawingml/2006/main">
            <a:off x="1543050" y="4191000"/>
            <a:ext cx="695325" cy="0"/>
          </a:xfrm>
          <a:prstGeom xmlns:a="http://schemas.openxmlformats.org/drawingml/2006/main" prst="line">
            <a:avLst/>
          </a:prstGeom>
          <a:noFill xmlns:a="http://schemas.openxmlformats.org/drawingml/2006/main"/>
          <a:ln xmlns:a="http://schemas.openxmlformats.org/drawingml/2006/main" w="19050">
            <a:solidFill>
              <a:srgbClr val="C9921E"/>
            </a:solidFill>
            <a:prstDash val="solid"/>
          </a:ln>
        </p:spPr>
      </p:sp>
      <p:sp>
        <p:nvSpPr>
          <p:cNvPr id="40" name="">
            <a:extLst xmlns:a="http://schemas.openxmlformats.org/drawingml/2006/main">
              <a:ext uri="{FF2B5EF4-FFF2-40B4-BE49-F238E27FC236}">
                <a16:creationId xmlns:a16="http://schemas.microsoft.com/office/drawing/2014/main" id="{84BF813A-E2BE-48EB-AB2C-A2EF4A4D62F1}"/>
              </a:ext>
            </a:extLst>
          </p:cNvPr>
          <p:cNvSpPr>
            <a:spLocks xmlns:a="http://schemas.openxmlformats.org/drawingml/2006/main" noGrp="1"/>
          </p:cNvSpPr>
          <p:nvPr/>
        </p:nvSpPr>
        <p:spPr>
          <a:xfrm xmlns:a="http://schemas.openxmlformats.org/drawingml/2006/main">
            <a:off x="2143125" y="4143375"/>
            <a:ext cx="95250" cy="95250"/>
          </a:xfrm>
          <a:prstGeom xmlns:a="http://schemas.openxmlformats.org/drawingml/2006/main" prst="rightArrow">
            <a:avLst/>
          </a:prstGeom>
          <a:solidFill xmlns:a="http://schemas.openxmlformats.org/drawingml/2006/main">
            <a:srgbClr val="C9921E"/>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2401450-64A9-41EE-B40C-E6E9A2495717}"/>
              </a:ext>
            </a:extLst>
          </p:cNvPr>
          <p:cNvSpPr>
            <a:spLocks xmlns:a="http://schemas.openxmlformats.org/drawingml/2006/main" noGrp="1"/>
          </p:cNvSpPr>
          <p:nvPr/>
        </p:nvSpPr>
        <p:spPr>
          <a:xfrm xmlns:a="http://schemas.openxmlformats.org/drawingml/2006/main">
            <a:off x="3429000" y="2085975"/>
            <a:ext cx="42862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42" name="">
            <a:extLst xmlns:a="http://schemas.openxmlformats.org/drawingml/2006/main">
              <a:ext uri="{FF2B5EF4-FFF2-40B4-BE49-F238E27FC236}">
                <a16:creationId xmlns:a16="http://schemas.microsoft.com/office/drawing/2014/main" id="{E2B50AA9-E824-44CD-BFC8-564E7B6ED288}"/>
              </a:ext>
            </a:extLst>
          </p:cNvPr>
          <p:cNvSpPr>
            <a:spLocks xmlns:a="http://schemas.openxmlformats.org/drawingml/2006/main" noGrp="1"/>
          </p:cNvSpPr>
          <p:nvPr/>
        </p:nvSpPr>
        <p:spPr>
          <a:xfrm xmlns:a="http://schemas.openxmlformats.org/drawingml/2006/main">
            <a:off x="3790950" y="2038350"/>
            <a:ext cx="95250" cy="95250"/>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333687F-CF91-49C9-828B-2824E944EA0B}"/>
              </a:ext>
            </a:extLst>
          </p:cNvPr>
          <p:cNvSpPr>
            <a:spLocks xmlns:a="http://schemas.openxmlformats.org/drawingml/2006/main" noGrp="1"/>
          </p:cNvSpPr>
          <p:nvPr/>
        </p:nvSpPr>
        <p:spPr>
          <a:xfrm xmlns:a="http://schemas.openxmlformats.org/drawingml/2006/main">
            <a:off x="5048250" y="2085975"/>
            <a:ext cx="428625" cy="0"/>
          </a:xfrm>
          <a:prstGeom xmlns:a="http://schemas.openxmlformats.org/drawingml/2006/main" prst="line">
            <a:avLst/>
          </a:prstGeom>
          <a:noFill xmlns:a="http://schemas.openxmlformats.org/drawingml/2006/main"/>
          <a:ln xmlns:a="http://schemas.openxmlformats.org/drawingml/2006/main" w="19050">
            <a:solidFill>
              <a:srgbClr val="4B88B5"/>
            </a:solidFill>
            <a:prstDash val="solid"/>
          </a:ln>
        </p:spPr>
      </p:sp>
      <p:sp>
        <p:nvSpPr>
          <p:cNvPr id="44" name="">
            <a:extLst xmlns:a="http://schemas.openxmlformats.org/drawingml/2006/main">
              <a:ext uri="{FF2B5EF4-FFF2-40B4-BE49-F238E27FC236}">
                <a16:creationId xmlns:a16="http://schemas.microsoft.com/office/drawing/2014/main" id="{CBA50131-CB3A-4657-8E79-D9296A820607}"/>
              </a:ext>
            </a:extLst>
          </p:cNvPr>
          <p:cNvSpPr>
            <a:spLocks xmlns:a="http://schemas.openxmlformats.org/drawingml/2006/main" noGrp="1"/>
          </p:cNvSpPr>
          <p:nvPr/>
        </p:nvSpPr>
        <p:spPr>
          <a:xfrm xmlns:a="http://schemas.openxmlformats.org/drawingml/2006/main">
            <a:off x="5410200" y="2038350"/>
            <a:ext cx="95250" cy="95250"/>
          </a:xfrm>
          <a:prstGeom xmlns:a="http://schemas.openxmlformats.org/drawingml/2006/main" prst="rightArrow">
            <a:avLst/>
          </a:prstGeom>
          <a:solidFill xmlns:a="http://schemas.openxmlformats.org/drawingml/2006/main">
            <a:srgbClr val="4B88B5"/>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345DFDA-F432-4C1C-BEC3-F96AA6039C49}"/>
              </a:ext>
            </a:extLst>
          </p:cNvPr>
          <p:cNvSpPr>
            <a:spLocks xmlns:a="http://schemas.openxmlformats.org/drawingml/2006/main" noGrp="1"/>
          </p:cNvSpPr>
          <p:nvPr/>
        </p:nvSpPr>
        <p:spPr>
          <a:xfrm xmlns:a="http://schemas.openxmlformats.org/drawingml/2006/main">
            <a:off x="7191375" y="2085975"/>
            <a:ext cx="333375"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46" name="">
            <a:extLst xmlns:a="http://schemas.openxmlformats.org/drawingml/2006/main">
              <a:ext uri="{FF2B5EF4-FFF2-40B4-BE49-F238E27FC236}">
                <a16:creationId xmlns:a16="http://schemas.microsoft.com/office/drawing/2014/main" id="{416ADE9C-3655-4C5D-8ADC-F92EC69605BC}"/>
              </a:ext>
            </a:extLst>
          </p:cNvPr>
          <p:cNvSpPr>
            <a:spLocks xmlns:a="http://schemas.openxmlformats.org/drawingml/2006/main" noGrp="1"/>
          </p:cNvSpPr>
          <p:nvPr/>
        </p:nvSpPr>
        <p:spPr>
          <a:xfrm xmlns:a="http://schemas.openxmlformats.org/drawingml/2006/main">
            <a:off x="7458075" y="2038350"/>
            <a:ext cx="95250" cy="95250"/>
          </a:xfrm>
          <a:prstGeom xmlns:a="http://schemas.openxmlformats.org/drawingml/2006/main" prst="rightArrow">
            <a:avLst/>
          </a:prstGeom>
          <a:solidFill xmlns:a="http://schemas.openxmlformats.org/drawingml/2006/main">
            <a:srgbClr val="2A9D8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5959818-8D28-4C7F-BD3F-B5D3F8E3B067}"/>
              </a:ext>
            </a:extLst>
          </p:cNvPr>
          <p:cNvSpPr>
            <a:spLocks xmlns:a="http://schemas.openxmlformats.org/drawingml/2006/main" noGrp="1"/>
          </p:cNvSpPr>
          <p:nvPr/>
        </p:nvSpPr>
        <p:spPr>
          <a:xfrm xmlns:a="http://schemas.openxmlformats.org/drawingml/2006/main">
            <a:off x="3905250" y="1524000"/>
            <a:ext cx="762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4B88B5"/>
                </a:solidFill>
                <a:latin typeface="Arial"/>
                <a:ea typeface="Arial"/>
                <a:cs typeface="Arial"/>
              </a:defRPr>
            </a:pPr>
            <a:r>
              <a:rPr sz="675" b="1">
                <a:solidFill>
                  <a:srgbClr val="4B88B5"/>
                </a:solidFill>
                <a:latin typeface="Arial"/>
                <a:ea typeface="Arial"/>
                <a:cs typeface="Arial"/>
              </a:rPr>
              <a:t>request path</a:t>
            </a:r>
          </a:p>
        </p:txBody>
      </p:sp>
      <p:sp>
        <p:nvSpPr>
          <p:cNvPr id="48" name="">
            <a:extLst xmlns:a="http://schemas.openxmlformats.org/drawingml/2006/main">
              <a:ext uri="{FF2B5EF4-FFF2-40B4-BE49-F238E27FC236}">
                <a16:creationId xmlns:a16="http://schemas.microsoft.com/office/drawing/2014/main" id="{1F03C199-8525-49B5-AB4A-6C40915DC021}"/>
              </a:ext>
            </a:extLst>
          </p:cNvPr>
          <p:cNvSpPr>
            <a:spLocks xmlns:a="http://schemas.openxmlformats.org/drawingml/2006/main" noGrp="1"/>
          </p:cNvSpPr>
          <p:nvPr/>
        </p:nvSpPr>
        <p:spPr>
          <a:xfrm xmlns:a="http://schemas.openxmlformats.org/drawingml/2006/main">
            <a:off x="6334125" y="2457450"/>
            <a:ext cx="0" cy="34290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49" name="">
            <a:extLst xmlns:a="http://schemas.openxmlformats.org/drawingml/2006/main">
              <a:ext uri="{FF2B5EF4-FFF2-40B4-BE49-F238E27FC236}">
                <a16:creationId xmlns:a16="http://schemas.microsoft.com/office/drawing/2014/main" id="{6299EFB5-901D-476B-9B18-C9A717ADB559}"/>
              </a:ext>
            </a:extLst>
          </p:cNvPr>
          <p:cNvSpPr>
            <a:spLocks xmlns:a="http://schemas.openxmlformats.org/drawingml/2006/main" noGrp="1"/>
          </p:cNvSpPr>
          <p:nvPr/>
        </p:nvSpPr>
        <p:spPr>
          <a:xfrm xmlns:a="http://schemas.openxmlformats.org/drawingml/2006/main">
            <a:off x="2905125" y="2800350"/>
            <a:ext cx="5238750" cy="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0" name="">
            <a:extLst xmlns:a="http://schemas.openxmlformats.org/drawingml/2006/main">
              <a:ext uri="{FF2B5EF4-FFF2-40B4-BE49-F238E27FC236}">
                <a16:creationId xmlns:a16="http://schemas.microsoft.com/office/drawing/2014/main" id="{EB84D341-19B8-4629-8ADD-09F759E50E30}"/>
              </a:ext>
            </a:extLst>
          </p:cNvPr>
          <p:cNvSpPr>
            <a:spLocks xmlns:a="http://schemas.openxmlformats.org/drawingml/2006/main" noGrp="1"/>
          </p:cNvSpPr>
          <p:nvPr/>
        </p:nvSpPr>
        <p:spPr>
          <a:xfrm xmlns:a="http://schemas.openxmlformats.org/drawingml/2006/main">
            <a:off x="4953000" y="2552700"/>
            <a:ext cx="1143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2A9D8F"/>
                </a:solidFill>
                <a:latin typeface="Arial"/>
                <a:ea typeface="Arial"/>
                <a:cs typeface="Arial"/>
              </a:defRPr>
            </a:pPr>
            <a:r>
              <a:rPr sz="675" b="1">
                <a:solidFill>
                  <a:srgbClr val="2A9D8F"/>
                </a:solidFill>
                <a:latin typeface="Arial"/>
                <a:ea typeface="Arial"/>
                <a:cs typeface="Arial"/>
              </a:rPr>
              <a:t>internal service route</a:t>
            </a:r>
          </a:p>
        </p:txBody>
      </p:sp>
      <p:sp>
        <p:nvSpPr>
          <p:cNvPr id="51" name="">
            <a:extLst xmlns:a="http://schemas.openxmlformats.org/drawingml/2006/main">
              <a:ext uri="{FF2B5EF4-FFF2-40B4-BE49-F238E27FC236}">
                <a16:creationId xmlns:a16="http://schemas.microsoft.com/office/drawing/2014/main" id="{E9DCE3EA-B03F-4F00-9D7D-523346E85DF2}"/>
              </a:ext>
            </a:extLst>
          </p:cNvPr>
          <p:cNvSpPr>
            <a:spLocks xmlns:a="http://schemas.openxmlformats.org/drawingml/2006/main" noGrp="1"/>
          </p:cNvSpPr>
          <p:nvPr/>
        </p:nvSpPr>
        <p:spPr>
          <a:xfrm xmlns:a="http://schemas.openxmlformats.org/drawingml/2006/main">
            <a:off x="2905125" y="2800350"/>
            <a:ext cx="0" cy="2476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2" name="">
            <a:extLst xmlns:a="http://schemas.openxmlformats.org/drawingml/2006/main">
              <a:ext uri="{FF2B5EF4-FFF2-40B4-BE49-F238E27FC236}">
                <a16:creationId xmlns:a16="http://schemas.microsoft.com/office/drawing/2014/main" id="{6563BABC-13DD-4DCB-A595-EE4A3E3FE9C2}"/>
              </a:ext>
            </a:extLst>
          </p:cNvPr>
          <p:cNvSpPr>
            <a:spLocks xmlns:a="http://schemas.openxmlformats.org/drawingml/2006/main" noGrp="1"/>
          </p:cNvSpPr>
          <p:nvPr/>
        </p:nvSpPr>
        <p:spPr>
          <a:xfrm xmlns:a="http://schemas.openxmlformats.org/drawingml/2006/main">
            <a:off x="2857500" y="2971800"/>
            <a:ext cx="95250" cy="95250"/>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3B18D7D0-3096-4737-9BA5-1217E0E22123}"/>
              </a:ext>
            </a:extLst>
          </p:cNvPr>
          <p:cNvSpPr>
            <a:spLocks xmlns:a="http://schemas.openxmlformats.org/drawingml/2006/main" noGrp="1"/>
          </p:cNvSpPr>
          <p:nvPr/>
        </p:nvSpPr>
        <p:spPr>
          <a:xfrm xmlns:a="http://schemas.openxmlformats.org/drawingml/2006/main">
            <a:off x="4524375" y="2800350"/>
            <a:ext cx="0" cy="2476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4" name="">
            <a:extLst xmlns:a="http://schemas.openxmlformats.org/drawingml/2006/main">
              <a:ext uri="{FF2B5EF4-FFF2-40B4-BE49-F238E27FC236}">
                <a16:creationId xmlns:a16="http://schemas.microsoft.com/office/drawing/2014/main" id="{AC5488A6-94A6-43C2-AD66-DDBDBB871B65}"/>
              </a:ext>
            </a:extLst>
          </p:cNvPr>
          <p:cNvSpPr>
            <a:spLocks xmlns:a="http://schemas.openxmlformats.org/drawingml/2006/main" noGrp="1"/>
          </p:cNvSpPr>
          <p:nvPr/>
        </p:nvSpPr>
        <p:spPr>
          <a:xfrm xmlns:a="http://schemas.openxmlformats.org/drawingml/2006/main">
            <a:off x="4476750" y="2971800"/>
            <a:ext cx="95250" cy="95250"/>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6B6F71A8-55EF-4698-85C4-033227C43A55}"/>
              </a:ext>
            </a:extLst>
          </p:cNvPr>
          <p:cNvSpPr>
            <a:spLocks xmlns:a="http://schemas.openxmlformats.org/drawingml/2006/main" noGrp="1"/>
          </p:cNvSpPr>
          <p:nvPr/>
        </p:nvSpPr>
        <p:spPr>
          <a:xfrm xmlns:a="http://schemas.openxmlformats.org/drawingml/2006/main">
            <a:off x="6143625" y="2800350"/>
            <a:ext cx="0" cy="2476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6" name="">
            <a:extLst xmlns:a="http://schemas.openxmlformats.org/drawingml/2006/main">
              <a:ext uri="{FF2B5EF4-FFF2-40B4-BE49-F238E27FC236}">
                <a16:creationId xmlns:a16="http://schemas.microsoft.com/office/drawing/2014/main" id="{10E1951A-EE2B-4357-8232-BA6E2D966304}"/>
              </a:ext>
            </a:extLst>
          </p:cNvPr>
          <p:cNvSpPr>
            <a:spLocks xmlns:a="http://schemas.openxmlformats.org/drawingml/2006/main" noGrp="1"/>
          </p:cNvSpPr>
          <p:nvPr/>
        </p:nvSpPr>
        <p:spPr>
          <a:xfrm xmlns:a="http://schemas.openxmlformats.org/drawingml/2006/main">
            <a:off x="6096000" y="2971800"/>
            <a:ext cx="95250" cy="95250"/>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A63C096-01A9-4051-A492-0C4D7C91170B}"/>
              </a:ext>
            </a:extLst>
          </p:cNvPr>
          <p:cNvSpPr>
            <a:spLocks xmlns:a="http://schemas.openxmlformats.org/drawingml/2006/main" noGrp="1"/>
          </p:cNvSpPr>
          <p:nvPr/>
        </p:nvSpPr>
        <p:spPr>
          <a:xfrm xmlns:a="http://schemas.openxmlformats.org/drawingml/2006/main">
            <a:off x="7762875" y="2800350"/>
            <a:ext cx="0" cy="247650"/>
          </a:xfrm>
          <a:prstGeom xmlns:a="http://schemas.openxmlformats.org/drawingml/2006/main" prst="line">
            <a:avLst/>
          </a:prstGeom>
          <a:noFill xmlns:a="http://schemas.openxmlformats.org/drawingml/2006/main"/>
          <a:ln xmlns:a="http://schemas.openxmlformats.org/drawingml/2006/main" w="19050">
            <a:solidFill>
              <a:srgbClr val="2A9D8F"/>
            </a:solidFill>
            <a:prstDash val="solid"/>
          </a:ln>
        </p:spPr>
      </p:sp>
      <p:sp>
        <p:nvSpPr>
          <p:cNvPr id="58" name="">
            <a:extLst xmlns:a="http://schemas.openxmlformats.org/drawingml/2006/main">
              <a:ext uri="{FF2B5EF4-FFF2-40B4-BE49-F238E27FC236}">
                <a16:creationId xmlns:a16="http://schemas.microsoft.com/office/drawing/2014/main" id="{A4EAA738-663B-4119-BA84-2050C670565B}"/>
              </a:ext>
            </a:extLst>
          </p:cNvPr>
          <p:cNvSpPr>
            <a:spLocks xmlns:a="http://schemas.openxmlformats.org/drawingml/2006/main" noGrp="1"/>
          </p:cNvSpPr>
          <p:nvPr/>
        </p:nvSpPr>
        <p:spPr>
          <a:xfrm xmlns:a="http://schemas.openxmlformats.org/drawingml/2006/main">
            <a:off x="7715250" y="2971800"/>
            <a:ext cx="95250" cy="95250"/>
          </a:xfrm>
          <a:prstGeom xmlns:a="http://schemas.openxmlformats.org/drawingml/2006/main" prst="downArrow">
            <a:avLst/>
          </a:prstGeom>
          <a:solidFill xmlns:a="http://schemas.openxmlformats.org/drawingml/2006/main">
            <a:srgbClr val="2A9D8F"/>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968856EF-17D2-46E5-9941-286557D16B16}"/>
              </a:ext>
            </a:extLst>
          </p:cNvPr>
          <p:cNvSpPr>
            <a:spLocks xmlns:a="http://schemas.openxmlformats.org/drawingml/2006/main" noGrp="1"/>
          </p:cNvSpPr>
          <p:nvPr/>
        </p:nvSpPr>
        <p:spPr>
          <a:xfrm xmlns:a="http://schemas.openxmlformats.org/drawingml/2006/main">
            <a:off x="6143625" y="3657600"/>
            <a:ext cx="0" cy="43815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0" name="">
            <a:extLst xmlns:a="http://schemas.openxmlformats.org/drawingml/2006/main">
              <a:ext uri="{FF2B5EF4-FFF2-40B4-BE49-F238E27FC236}">
                <a16:creationId xmlns:a16="http://schemas.microsoft.com/office/drawing/2014/main" id="{5416FB4E-9ECD-4922-988D-C7B893AFF843}"/>
              </a:ext>
            </a:extLst>
          </p:cNvPr>
          <p:cNvSpPr>
            <a:spLocks xmlns:a="http://schemas.openxmlformats.org/drawingml/2006/main" noGrp="1"/>
          </p:cNvSpPr>
          <p:nvPr/>
        </p:nvSpPr>
        <p:spPr>
          <a:xfrm xmlns:a="http://schemas.openxmlformats.org/drawingml/2006/main">
            <a:off x="2905125" y="4095750"/>
            <a:ext cx="4857750" cy="0"/>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1" name="">
            <a:extLst xmlns:a="http://schemas.openxmlformats.org/drawingml/2006/main">
              <a:ext uri="{FF2B5EF4-FFF2-40B4-BE49-F238E27FC236}">
                <a16:creationId xmlns:a16="http://schemas.microsoft.com/office/drawing/2014/main" id="{B9BB3BD5-A07A-447E-82A9-58B29DB28357}"/>
              </a:ext>
            </a:extLst>
          </p:cNvPr>
          <p:cNvSpPr>
            <a:spLocks xmlns:a="http://schemas.openxmlformats.org/drawingml/2006/main" noGrp="1"/>
          </p:cNvSpPr>
          <p:nvPr/>
        </p:nvSpPr>
        <p:spPr>
          <a:xfrm xmlns:a="http://schemas.openxmlformats.org/drawingml/2006/main">
            <a:off x="4476750" y="3810000"/>
            <a:ext cx="1381125"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73559B"/>
                </a:solidFill>
                <a:latin typeface="Arial"/>
                <a:ea typeface="Arial"/>
                <a:cs typeface="Arial"/>
              </a:defRPr>
            </a:pPr>
            <a:r>
              <a:rPr sz="675" b="1">
                <a:solidFill>
                  <a:srgbClr val="73559B"/>
                </a:solidFill>
                <a:latin typeface="Arial"/>
                <a:ea typeface="Arial"/>
                <a:cs typeface="Arial"/>
              </a:rPr>
              <a:t>evidence and event writes</a:t>
            </a:r>
          </a:p>
        </p:txBody>
      </p:sp>
      <p:sp>
        <p:nvSpPr>
          <p:cNvPr id="62" name="">
            <a:extLst xmlns:a="http://schemas.openxmlformats.org/drawingml/2006/main">
              <a:ext uri="{FF2B5EF4-FFF2-40B4-BE49-F238E27FC236}">
                <a16:creationId xmlns:a16="http://schemas.microsoft.com/office/drawing/2014/main" id="{B1267619-8506-494B-96FF-F82CEEC73007}"/>
              </a:ext>
            </a:extLst>
          </p:cNvPr>
          <p:cNvSpPr>
            <a:spLocks xmlns:a="http://schemas.openxmlformats.org/drawingml/2006/main" noGrp="1"/>
          </p:cNvSpPr>
          <p:nvPr/>
        </p:nvSpPr>
        <p:spPr>
          <a:xfrm xmlns:a="http://schemas.openxmlformats.org/drawingml/2006/main">
            <a:off x="2905125" y="4095750"/>
            <a:ext cx="0" cy="238125"/>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3" name="">
            <a:extLst xmlns:a="http://schemas.openxmlformats.org/drawingml/2006/main">
              <a:ext uri="{FF2B5EF4-FFF2-40B4-BE49-F238E27FC236}">
                <a16:creationId xmlns:a16="http://schemas.microsoft.com/office/drawing/2014/main" id="{F7EE1BA5-C4E0-4572-9376-1D12D1548342}"/>
              </a:ext>
            </a:extLst>
          </p:cNvPr>
          <p:cNvSpPr>
            <a:spLocks xmlns:a="http://schemas.openxmlformats.org/drawingml/2006/main" noGrp="1"/>
          </p:cNvSpPr>
          <p:nvPr/>
        </p:nvSpPr>
        <p:spPr>
          <a:xfrm xmlns:a="http://schemas.openxmlformats.org/drawingml/2006/main">
            <a:off x="2857500" y="4257675"/>
            <a:ext cx="95250" cy="95250"/>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EBF76D47-4BBD-401F-96C9-A88F959F5E64}"/>
              </a:ext>
            </a:extLst>
          </p:cNvPr>
          <p:cNvSpPr>
            <a:spLocks xmlns:a="http://schemas.openxmlformats.org/drawingml/2006/main" noGrp="1"/>
          </p:cNvSpPr>
          <p:nvPr/>
        </p:nvSpPr>
        <p:spPr>
          <a:xfrm xmlns:a="http://schemas.openxmlformats.org/drawingml/2006/main">
            <a:off x="4524375" y="4095750"/>
            <a:ext cx="0" cy="238125"/>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5" name="">
            <a:extLst xmlns:a="http://schemas.openxmlformats.org/drawingml/2006/main">
              <a:ext uri="{FF2B5EF4-FFF2-40B4-BE49-F238E27FC236}">
                <a16:creationId xmlns:a16="http://schemas.microsoft.com/office/drawing/2014/main" id="{7BCE7AE9-75C6-4CB7-9AA0-EAAB3827A9C7}"/>
              </a:ext>
            </a:extLst>
          </p:cNvPr>
          <p:cNvSpPr>
            <a:spLocks xmlns:a="http://schemas.openxmlformats.org/drawingml/2006/main" noGrp="1"/>
          </p:cNvSpPr>
          <p:nvPr/>
        </p:nvSpPr>
        <p:spPr>
          <a:xfrm xmlns:a="http://schemas.openxmlformats.org/drawingml/2006/main">
            <a:off x="4476750" y="4257675"/>
            <a:ext cx="95250" cy="95250"/>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B9BEFED3-6B3B-47B3-B8F1-C9B936602B13}"/>
              </a:ext>
            </a:extLst>
          </p:cNvPr>
          <p:cNvSpPr>
            <a:spLocks xmlns:a="http://schemas.openxmlformats.org/drawingml/2006/main" noGrp="1"/>
          </p:cNvSpPr>
          <p:nvPr/>
        </p:nvSpPr>
        <p:spPr>
          <a:xfrm xmlns:a="http://schemas.openxmlformats.org/drawingml/2006/main">
            <a:off x="6143625" y="4095750"/>
            <a:ext cx="0" cy="238125"/>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7" name="">
            <a:extLst xmlns:a="http://schemas.openxmlformats.org/drawingml/2006/main">
              <a:ext uri="{FF2B5EF4-FFF2-40B4-BE49-F238E27FC236}">
                <a16:creationId xmlns:a16="http://schemas.microsoft.com/office/drawing/2014/main" id="{FFA4DE05-C94D-44DE-A148-E98C6F2943C6}"/>
              </a:ext>
            </a:extLst>
          </p:cNvPr>
          <p:cNvSpPr>
            <a:spLocks xmlns:a="http://schemas.openxmlformats.org/drawingml/2006/main" noGrp="1"/>
          </p:cNvSpPr>
          <p:nvPr/>
        </p:nvSpPr>
        <p:spPr>
          <a:xfrm xmlns:a="http://schemas.openxmlformats.org/drawingml/2006/main">
            <a:off x="6096000" y="4257675"/>
            <a:ext cx="95250" cy="95250"/>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B48E9FB5-7874-4FFC-907D-BFBFA34C728B}"/>
              </a:ext>
            </a:extLst>
          </p:cNvPr>
          <p:cNvSpPr>
            <a:spLocks xmlns:a="http://schemas.openxmlformats.org/drawingml/2006/main" noGrp="1"/>
          </p:cNvSpPr>
          <p:nvPr/>
        </p:nvSpPr>
        <p:spPr>
          <a:xfrm xmlns:a="http://schemas.openxmlformats.org/drawingml/2006/main">
            <a:off x="7762875" y="4095750"/>
            <a:ext cx="0" cy="238125"/>
          </a:xfrm>
          <a:prstGeom xmlns:a="http://schemas.openxmlformats.org/drawingml/2006/main" prst="line">
            <a:avLst/>
          </a:prstGeom>
          <a:noFill xmlns:a="http://schemas.openxmlformats.org/drawingml/2006/main"/>
          <a:ln xmlns:a="http://schemas.openxmlformats.org/drawingml/2006/main" w="19050">
            <a:solidFill>
              <a:srgbClr val="73559B"/>
            </a:solidFill>
            <a:prstDash val="solid"/>
          </a:ln>
        </p:spPr>
      </p:sp>
      <p:sp>
        <p:nvSpPr>
          <p:cNvPr id="69" name="">
            <a:extLst xmlns:a="http://schemas.openxmlformats.org/drawingml/2006/main">
              <a:ext uri="{FF2B5EF4-FFF2-40B4-BE49-F238E27FC236}">
                <a16:creationId xmlns:a16="http://schemas.microsoft.com/office/drawing/2014/main" id="{8DB9653D-B7EA-4179-82BD-C32E7F926BD0}"/>
              </a:ext>
            </a:extLst>
          </p:cNvPr>
          <p:cNvSpPr>
            <a:spLocks xmlns:a="http://schemas.openxmlformats.org/drawingml/2006/main" noGrp="1"/>
          </p:cNvSpPr>
          <p:nvPr/>
        </p:nvSpPr>
        <p:spPr>
          <a:xfrm xmlns:a="http://schemas.openxmlformats.org/drawingml/2006/main">
            <a:off x="7715250" y="4257675"/>
            <a:ext cx="95250" cy="95250"/>
          </a:xfrm>
          <a:prstGeom xmlns:a="http://schemas.openxmlformats.org/drawingml/2006/main" prst="downArrow">
            <a:avLst/>
          </a:prstGeom>
          <a:solidFill xmlns:a="http://schemas.openxmlformats.org/drawingml/2006/main">
            <a:srgbClr val="73559B"/>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4B7A048F-EA2D-4EB9-8762-886A165D6C0A}"/>
              </a:ext>
            </a:extLst>
          </p:cNvPr>
          <p:cNvSpPr>
            <a:spLocks xmlns:a="http://schemas.openxmlformats.org/drawingml/2006/main" noGrp="1"/>
          </p:cNvSpPr>
          <p:nvPr/>
        </p:nvSpPr>
        <p:spPr>
          <a:xfrm xmlns:a="http://schemas.openxmlformats.org/drawingml/2006/main">
            <a:off x="6810375" y="3352800"/>
            <a:ext cx="714375"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1" name="">
            <a:extLst xmlns:a="http://schemas.openxmlformats.org/drawingml/2006/main">
              <a:ext uri="{FF2B5EF4-FFF2-40B4-BE49-F238E27FC236}">
                <a16:creationId xmlns:a16="http://schemas.microsoft.com/office/drawing/2014/main" id="{BE28622B-80AB-417C-B405-B0752E699B7C}"/>
              </a:ext>
            </a:extLst>
          </p:cNvPr>
          <p:cNvSpPr>
            <a:spLocks xmlns:a="http://schemas.openxmlformats.org/drawingml/2006/main" noGrp="1"/>
          </p:cNvSpPr>
          <p:nvPr/>
        </p:nvSpPr>
        <p:spPr>
          <a:xfrm xmlns:a="http://schemas.openxmlformats.org/drawingml/2006/main">
            <a:off x="7448550" y="3305175"/>
            <a:ext cx="95250" cy="95250"/>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9757E002-C411-41DE-B743-9AE231E86DBA}"/>
              </a:ext>
            </a:extLst>
          </p:cNvPr>
          <p:cNvSpPr>
            <a:spLocks xmlns:a="http://schemas.openxmlformats.org/drawingml/2006/main" noGrp="1"/>
          </p:cNvSpPr>
          <p:nvPr/>
        </p:nvSpPr>
        <p:spPr>
          <a:xfrm xmlns:a="http://schemas.openxmlformats.org/drawingml/2006/main">
            <a:off x="6953250" y="3476625"/>
            <a:ext cx="1047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73559B"/>
                </a:solidFill>
                <a:latin typeface="Arial"/>
                <a:ea typeface="Arial"/>
                <a:cs typeface="Arial"/>
              </a:defRPr>
            </a:pPr>
            <a:r>
              <a:rPr sz="675" b="1">
                <a:solidFill>
                  <a:srgbClr val="73559B"/>
                </a:solidFill>
                <a:latin typeface="Arial"/>
                <a:ea typeface="Arial"/>
                <a:cs typeface="Arial"/>
              </a:rPr>
              <a:t>approved source call</a:t>
            </a:r>
          </a:p>
        </p:txBody>
      </p:sp>
      <p:sp>
        <p:nvSpPr>
          <p:cNvPr id="73" name="">
            <a:extLst xmlns:a="http://schemas.openxmlformats.org/drawingml/2006/main">
              <a:ext uri="{FF2B5EF4-FFF2-40B4-BE49-F238E27FC236}">
                <a16:creationId xmlns:a16="http://schemas.microsoft.com/office/drawing/2014/main" id="{3ADC4F37-9705-4B9D-AD1A-056CD3AF0D76}"/>
              </a:ext>
            </a:extLst>
          </p:cNvPr>
          <p:cNvSpPr>
            <a:spLocks xmlns:a="http://schemas.openxmlformats.org/drawingml/2006/main" noGrp="1"/>
          </p:cNvSpPr>
          <p:nvPr/>
        </p:nvSpPr>
        <p:spPr>
          <a:xfrm xmlns:a="http://schemas.openxmlformats.org/drawingml/2006/main">
            <a:off x="8524875" y="2085975"/>
            <a:ext cx="714375"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4" name="">
            <a:extLst xmlns:a="http://schemas.openxmlformats.org/drawingml/2006/main">
              <a:ext uri="{FF2B5EF4-FFF2-40B4-BE49-F238E27FC236}">
                <a16:creationId xmlns:a16="http://schemas.microsoft.com/office/drawing/2014/main" id="{0D7CA1B7-4838-4DF4-8A7C-784D4B1224AB}"/>
              </a:ext>
            </a:extLst>
          </p:cNvPr>
          <p:cNvSpPr>
            <a:spLocks xmlns:a="http://schemas.openxmlformats.org/drawingml/2006/main" noGrp="1"/>
          </p:cNvSpPr>
          <p:nvPr/>
        </p:nvSpPr>
        <p:spPr>
          <a:xfrm xmlns:a="http://schemas.openxmlformats.org/drawingml/2006/main">
            <a:off x="9163050" y="2038350"/>
            <a:ext cx="95250" cy="95250"/>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732603BA-CF8B-4C6C-A80D-A58167B6A211}"/>
              </a:ext>
            </a:extLst>
          </p:cNvPr>
          <p:cNvSpPr>
            <a:spLocks xmlns:a="http://schemas.openxmlformats.org/drawingml/2006/main" noGrp="1"/>
          </p:cNvSpPr>
          <p:nvPr/>
        </p:nvSpPr>
        <p:spPr>
          <a:xfrm xmlns:a="http://schemas.openxmlformats.org/drawingml/2006/main">
            <a:off x="9067800" y="2085975"/>
            <a:ext cx="0" cy="2962275"/>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6" name="">
            <a:extLst xmlns:a="http://schemas.openxmlformats.org/drawingml/2006/main">
              <a:ext uri="{FF2B5EF4-FFF2-40B4-BE49-F238E27FC236}">
                <a16:creationId xmlns:a16="http://schemas.microsoft.com/office/drawing/2014/main" id="{2A24FB86-2A2B-44B2-9D91-A2BB5E1170BC}"/>
              </a:ext>
            </a:extLst>
          </p:cNvPr>
          <p:cNvSpPr>
            <a:spLocks xmlns:a="http://schemas.openxmlformats.org/drawingml/2006/main" noGrp="1"/>
          </p:cNvSpPr>
          <p:nvPr/>
        </p:nvSpPr>
        <p:spPr>
          <a:xfrm xmlns:a="http://schemas.openxmlformats.org/drawingml/2006/main">
            <a:off x="9067800" y="2057400"/>
            <a:ext cx="2667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7" name="">
            <a:extLst xmlns:a="http://schemas.openxmlformats.org/drawingml/2006/main">
              <a:ext uri="{FF2B5EF4-FFF2-40B4-BE49-F238E27FC236}">
                <a16:creationId xmlns:a16="http://schemas.microsoft.com/office/drawing/2014/main" id="{6DED7E73-7061-4B9D-BABB-63103359DD16}"/>
              </a:ext>
            </a:extLst>
          </p:cNvPr>
          <p:cNvSpPr>
            <a:spLocks xmlns:a="http://schemas.openxmlformats.org/drawingml/2006/main" noGrp="1"/>
          </p:cNvSpPr>
          <p:nvPr/>
        </p:nvSpPr>
        <p:spPr>
          <a:xfrm xmlns:a="http://schemas.openxmlformats.org/drawingml/2006/main">
            <a:off x="9258300" y="2009775"/>
            <a:ext cx="95250" cy="95250"/>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7267F80D-12D4-499C-BFD8-0805CBDC79F2}"/>
              </a:ext>
            </a:extLst>
          </p:cNvPr>
          <p:cNvSpPr>
            <a:spLocks xmlns:a="http://schemas.openxmlformats.org/drawingml/2006/main" noGrp="1"/>
          </p:cNvSpPr>
          <p:nvPr/>
        </p:nvSpPr>
        <p:spPr>
          <a:xfrm xmlns:a="http://schemas.openxmlformats.org/drawingml/2006/main">
            <a:off x="9067800" y="2876550"/>
            <a:ext cx="2667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79" name="">
            <a:extLst xmlns:a="http://schemas.openxmlformats.org/drawingml/2006/main">
              <a:ext uri="{FF2B5EF4-FFF2-40B4-BE49-F238E27FC236}">
                <a16:creationId xmlns:a16="http://schemas.microsoft.com/office/drawing/2014/main" id="{0CD089C2-89A9-4FB2-A350-D93BE3A758A1}"/>
              </a:ext>
            </a:extLst>
          </p:cNvPr>
          <p:cNvSpPr>
            <a:spLocks xmlns:a="http://schemas.openxmlformats.org/drawingml/2006/main" noGrp="1"/>
          </p:cNvSpPr>
          <p:nvPr/>
        </p:nvSpPr>
        <p:spPr>
          <a:xfrm xmlns:a="http://schemas.openxmlformats.org/drawingml/2006/main">
            <a:off x="9258300" y="2828925"/>
            <a:ext cx="95250" cy="95250"/>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41ED16E0-8A2E-445A-8AB6-B86DAA252AE5}"/>
              </a:ext>
            </a:extLst>
          </p:cNvPr>
          <p:cNvSpPr>
            <a:spLocks xmlns:a="http://schemas.openxmlformats.org/drawingml/2006/main" noGrp="1"/>
          </p:cNvSpPr>
          <p:nvPr/>
        </p:nvSpPr>
        <p:spPr>
          <a:xfrm xmlns:a="http://schemas.openxmlformats.org/drawingml/2006/main">
            <a:off x="9067800" y="3733800"/>
            <a:ext cx="2667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81" name="">
            <a:extLst xmlns:a="http://schemas.openxmlformats.org/drawingml/2006/main">
              <a:ext uri="{FF2B5EF4-FFF2-40B4-BE49-F238E27FC236}">
                <a16:creationId xmlns:a16="http://schemas.microsoft.com/office/drawing/2014/main" id="{09566EC4-8283-403E-9FED-5EC8B1D52463}"/>
              </a:ext>
            </a:extLst>
          </p:cNvPr>
          <p:cNvSpPr>
            <a:spLocks xmlns:a="http://schemas.openxmlformats.org/drawingml/2006/main" noGrp="1"/>
          </p:cNvSpPr>
          <p:nvPr/>
        </p:nvSpPr>
        <p:spPr>
          <a:xfrm xmlns:a="http://schemas.openxmlformats.org/drawingml/2006/main">
            <a:off x="9258300" y="3686175"/>
            <a:ext cx="95250" cy="95250"/>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B43FAAB2-B1B9-49B3-9FE6-8839713707B9}"/>
              </a:ext>
            </a:extLst>
          </p:cNvPr>
          <p:cNvSpPr>
            <a:spLocks xmlns:a="http://schemas.openxmlformats.org/drawingml/2006/main" noGrp="1"/>
          </p:cNvSpPr>
          <p:nvPr/>
        </p:nvSpPr>
        <p:spPr>
          <a:xfrm xmlns:a="http://schemas.openxmlformats.org/drawingml/2006/main">
            <a:off x="9067800" y="4591050"/>
            <a:ext cx="2667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83" name="">
            <a:extLst xmlns:a="http://schemas.openxmlformats.org/drawingml/2006/main">
              <a:ext uri="{FF2B5EF4-FFF2-40B4-BE49-F238E27FC236}">
                <a16:creationId xmlns:a16="http://schemas.microsoft.com/office/drawing/2014/main" id="{2E2D8380-4427-4F8D-BF7F-8B58A542A33F}"/>
              </a:ext>
            </a:extLst>
          </p:cNvPr>
          <p:cNvSpPr>
            <a:spLocks xmlns:a="http://schemas.openxmlformats.org/drawingml/2006/main" noGrp="1"/>
          </p:cNvSpPr>
          <p:nvPr/>
        </p:nvSpPr>
        <p:spPr>
          <a:xfrm xmlns:a="http://schemas.openxmlformats.org/drawingml/2006/main">
            <a:off x="9258300" y="4543425"/>
            <a:ext cx="95250" cy="95250"/>
          </a:xfrm>
          <a:prstGeom xmlns:a="http://schemas.openxmlformats.org/drawingml/2006/main" prst="rightArrow">
            <a:avLst/>
          </a:prstGeom>
          <a:solidFill xmlns:a="http://schemas.openxmlformats.org/drawingml/2006/main">
            <a:srgbClr val="73559B"/>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0C12AAB7-A5D3-49AC-9678-2582147C810E}"/>
              </a:ext>
            </a:extLst>
          </p:cNvPr>
          <p:cNvSpPr>
            <a:spLocks xmlns:a="http://schemas.openxmlformats.org/drawingml/2006/main" noGrp="1"/>
          </p:cNvSpPr>
          <p:nvPr/>
        </p:nvSpPr>
        <p:spPr>
          <a:xfrm xmlns:a="http://schemas.openxmlformats.org/drawingml/2006/main">
            <a:off x="9296400" y="5048250"/>
            <a:ext cx="2238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1">
                <a:solidFill>
                  <a:srgbClr val="73559B"/>
                </a:solidFill>
                <a:latin typeface="Arial"/>
                <a:ea typeface="Arial"/>
                <a:cs typeface="Arial"/>
              </a:defRPr>
            </a:pPr>
            <a:r>
              <a:rPr sz="675" b="1">
                <a:solidFill>
                  <a:srgbClr val="73559B"/>
                </a:solidFill>
                <a:latin typeface="Arial"/>
                <a:ea typeface="Arial"/>
                <a:cs typeface="Arial"/>
              </a:rPr>
              <a:t>source-specific adapter contracts</a:t>
            </a:r>
          </a:p>
        </p:txBody>
      </p:sp>
      <p:sp>
        <p:nvSpPr>
          <p:cNvPr id="85" name="">
            <a:extLst xmlns:a="http://schemas.openxmlformats.org/drawingml/2006/main">
              <a:ext uri="{FF2B5EF4-FFF2-40B4-BE49-F238E27FC236}">
                <a16:creationId xmlns:a16="http://schemas.microsoft.com/office/drawing/2014/main" id="{4679B91F-5B83-4519-9B36-9FE51C963CE1}"/>
              </a:ext>
            </a:extLst>
          </p:cNvPr>
          <p:cNvSpPr>
            <a:spLocks xmlns:a="http://schemas.openxmlformats.org/drawingml/2006/main" noGrp="1"/>
          </p:cNvSpPr>
          <p:nvPr/>
        </p:nvSpPr>
        <p:spPr>
          <a:xfrm xmlns:a="http://schemas.openxmlformats.org/drawingml/2006/main">
            <a:off x="400050" y="5953125"/>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16324F"/>
                </a:solidFill>
                <a:latin typeface="Arial"/>
                <a:ea typeface="Arial"/>
                <a:cs typeface="Arial"/>
              </a:defRPr>
            </a:pPr>
            <a:r>
              <a:rPr sz="750" b="1">
                <a:solidFill>
                  <a:srgbClr val="16324F"/>
                </a:solidFill>
                <a:latin typeface="Arial"/>
                <a:ea typeface="Arial"/>
                <a:cs typeface="Arial"/>
              </a:rPr>
              <a:t>ROUTE LEGEND</a:t>
            </a:r>
          </a:p>
        </p:txBody>
      </p:sp>
      <p:sp>
        <p:nvSpPr>
          <p:cNvPr id="86" name="">
            <a:extLst xmlns:a="http://schemas.openxmlformats.org/drawingml/2006/main">
              <a:ext uri="{FF2B5EF4-FFF2-40B4-BE49-F238E27FC236}">
                <a16:creationId xmlns:a16="http://schemas.microsoft.com/office/drawing/2014/main" id="{10A45852-E194-4383-93E5-B0164C3310B9}"/>
              </a:ext>
            </a:extLst>
          </p:cNvPr>
          <p:cNvSpPr>
            <a:spLocks xmlns:a="http://schemas.openxmlformats.org/drawingml/2006/main" noGrp="1"/>
          </p:cNvSpPr>
          <p:nvPr/>
        </p:nvSpPr>
        <p:spPr>
          <a:xfrm xmlns:a="http://schemas.openxmlformats.org/drawingml/2006/main">
            <a:off x="1352550" y="6029325"/>
            <a:ext cx="457200" cy="0"/>
          </a:xfrm>
          <a:prstGeom xmlns:a="http://schemas.openxmlformats.org/drawingml/2006/main" prst="line">
            <a:avLst/>
          </a:prstGeom>
          <a:noFill xmlns:a="http://schemas.openxmlformats.org/drawingml/2006/main"/>
          <a:ln xmlns:a="http://schemas.openxmlformats.org/drawingml/2006/main" w="19050">
            <a:solidFill>
              <a:srgbClr val="16324F"/>
            </a:solidFill>
            <a:prstDash val="solid"/>
          </a:ln>
        </p:spPr>
      </p:sp>
      <p:sp>
        <p:nvSpPr>
          <p:cNvPr id="87" name="">
            <a:extLst xmlns:a="http://schemas.openxmlformats.org/drawingml/2006/main">
              <a:ext uri="{FF2B5EF4-FFF2-40B4-BE49-F238E27FC236}">
                <a16:creationId xmlns:a16="http://schemas.microsoft.com/office/drawing/2014/main" id="{E4AE1609-C1E3-4069-BB4D-FE7DCCE5537B}"/>
              </a:ext>
            </a:extLst>
          </p:cNvPr>
          <p:cNvSpPr>
            <a:spLocks xmlns:a="http://schemas.openxmlformats.org/drawingml/2006/main" noGrp="1"/>
          </p:cNvSpPr>
          <p:nvPr/>
        </p:nvSpPr>
        <p:spPr>
          <a:xfrm xmlns:a="http://schemas.openxmlformats.org/drawingml/2006/main">
            <a:off x="1885950" y="5953125"/>
            <a:ext cx="76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synchronous</a:t>
            </a:r>
          </a:p>
        </p:txBody>
      </p:sp>
      <p:sp>
        <p:nvSpPr>
          <p:cNvPr id="88" name="">
            <a:extLst xmlns:a="http://schemas.openxmlformats.org/drawingml/2006/main">
              <a:ext uri="{FF2B5EF4-FFF2-40B4-BE49-F238E27FC236}">
                <a16:creationId xmlns:a16="http://schemas.microsoft.com/office/drawing/2014/main" id="{51215BF7-D6A9-4A32-8D6D-3BEEF26AA4D3}"/>
              </a:ext>
            </a:extLst>
          </p:cNvPr>
          <p:cNvSpPr>
            <a:spLocks xmlns:a="http://schemas.openxmlformats.org/drawingml/2006/main" noGrp="1"/>
          </p:cNvSpPr>
          <p:nvPr/>
        </p:nvSpPr>
        <p:spPr>
          <a:xfrm xmlns:a="http://schemas.openxmlformats.org/drawingml/2006/main">
            <a:off x="2762250" y="6029325"/>
            <a:ext cx="457200" cy="0"/>
          </a:xfrm>
          <a:prstGeom xmlns:a="http://schemas.openxmlformats.org/drawingml/2006/main" prst="line">
            <a:avLst/>
          </a:prstGeom>
          <a:noFill xmlns:a="http://schemas.openxmlformats.org/drawingml/2006/main"/>
          <a:ln xmlns:a="http://schemas.openxmlformats.org/drawingml/2006/main" w="19050">
            <a:solidFill>
              <a:srgbClr val="73559B"/>
            </a:solidFill>
            <a:prstDash val="dash"/>
          </a:ln>
        </p:spPr>
      </p:sp>
      <p:sp>
        <p:nvSpPr>
          <p:cNvPr id="89" name="">
            <a:extLst xmlns:a="http://schemas.openxmlformats.org/drawingml/2006/main">
              <a:ext uri="{FF2B5EF4-FFF2-40B4-BE49-F238E27FC236}">
                <a16:creationId xmlns:a16="http://schemas.microsoft.com/office/drawing/2014/main" id="{C450C573-F6D1-4317-AF29-F048B10D921D}"/>
              </a:ext>
            </a:extLst>
          </p:cNvPr>
          <p:cNvSpPr>
            <a:spLocks xmlns:a="http://schemas.openxmlformats.org/drawingml/2006/main" noGrp="1"/>
          </p:cNvSpPr>
          <p:nvPr/>
        </p:nvSpPr>
        <p:spPr>
          <a:xfrm xmlns:a="http://schemas.openxmlformats.org/drawingml/2006/main">
            <a:off x="3295650" y="5953125"/>
            <a:ext cx="95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external / async</a:t>
            </a:r>
          </a:p>
        </p:txBody>
      </p:sp>
      <p:sp>
        <p:nvSpPr>
          <p:cNvPr id="90" name="">
            <a:extLst xmlns:a="http://schemas.openxmlformats.org/drawingml/2006/main">
              <a:ext uri="{FF2B5EF4-FFF2-40B4-BE49-F238E27FC236}">
                <a16:creationId xmlns:a16="http://schemas.microsoft.com/office/drawing/2014/main" id="{0E2A4EA8-C915-4464-879C-132D7639D9C2}"/>
              </a:ext>
            </a:extLst>
          </p:cNvPr>
          <p:cNvSpPr>
            <a:spLocks xmlns:a="http://schemas.openxmlformats.org/drawingml/2006/main" noGrp="1"/>
          </p:cNvSpPr>
          <p:nvPr/>
        </p:nvSpPr>
        <p:spPr>
          <a:xfrm xmlns:a="http://schemas.openxmlformats.org/drawingml/2006/main">
            <a:off x="4762500" y="5953125"/>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16324F"/>
                </a:solidFill>
                <a:latin typeface="Arial"/>
                <a:ea typeface="Arial"/>
                <a:cs typeface="Arial"/>
              </a:defRPr>
            </a:pPr>
            <a:r>
              <a:rPr sz="750" b="1">
                <a:solidFill>
                  <a:srgbClr val="16324F"/>
                </a:solidFill>
                <a:latin typeface="Arial"/>
                <a:ea typeface="Arial"/>
                <a:cs typeface="Arial"/>
              </a:rPr>
              <a:t>TECHNOLOGY BASELINE</a:t>
            </a:r>
          </a:p>
        </p:txBody>
      </p:sp>
      <p:sp>
        <p:nvSpPr>
          <p:cNvPr id="91" name="">
            <a:extLst xmlns:a="http://schemas.openxmlformats.org/drawingml/2006/main">
              <a:ext uri="{FF2B5EF4-FFF2-40B4-BE49-F238E27FC236}">
                <a16:creationId xmlns:a16="http://schemas.microsoft.com/office/drawing/2014/main" id="{3FB80FBE-73D9-49BB-9F6F-7B4D9ECDD703}"/>
              </a:ext>
            </a:extLst>
          </p:cNvPr>
          <p:cNvSpPr>
            <a:spLocks xmlns:a="http://schemas.openxmlformats.org/drawingml/2006/main" noGrp="1"/>
          </p:cNvSpPr>
          <p:nvPr/>
        </p:nvSpPr>
        <p:spPr>
          <a:xfrm xmlns:a="http://schemas.openxmlformats.org/drawingml/2006/main">
            <a:off x="4762500" y="614362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675" b="0">
                <a:solidFill>
                  <a:srgbClr val="52616B"/>
                </a:solidFill>
                <a:latin typeface="Arial"/>
                <a:ea typeface="Arial"/>
                <a:cs typeface="Arial"/>
              </a:defRPr>
            </a:pPr>
            <a:r>
              <a:rPr sz="675" b="0">
                <a:solidFill>
                  <a:srgbClr val="52616B"/>
                </a:solidFill>
                <a:latin typeface="Arial"/>
                <a:ea typeface="Arial"/>
                <a:cs typeface="Arial"/>
              </a:rPr>
              <a:t>React + Vite  |  Node.js 24 LTS  |  Express 5  |  TypeScript  |  MongoDB  |  Redis + BullMQ  |  S3-compatible storage</a:t>
            </a:r>
          </a:p>
        </p:txBody>
      </p:sp>
      <p:sp>
        <p:nvSpPr>
          <p:cNvPr id="92" name="">
            <a:extLst xmlns:a="http://schemas.openxmlformats.org/drawingml/2006/main">
              <a:ext uri="{FF2B5EF4-FFF2-40B4-BE49-F238E27FC236}">
                <a16:creationId xmlns:a16="http://schemas.microsoft.com/office/drawing/2014/main" id="{0F8AD572-B84B-4698-A9E9-204364CA92A6}"/>
              </a:ext>
            </a:extLst>
          </p:cNvPr>
          <p:cNvSpPr>
            <a:spLocks xmlns:a="http://schemas.openxmlformats.org/drawingml/2006/main" noGrp="1"/>
          </p:cNvSpPr>
          <p:nvPr/>
        </p:nvSpPr>
        <p:spPr>
          <a:xfrm xmlns:a="http://schemas.openxmlformats.org/drawingml/2006/main">
            <a:off x="4762500" y="6372225"/>
            <a:ext cx="4762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1">
                <a:solidFill>
                  <a:srgbClr val="C9921E"/>
                </a:solidFill>
                <a:latin typeface="Arial"/>
                <a:ea typeface="Arial"/>
                <a:cs typeface="Arial"/>
              </a:defRPr>
            </a:pPr>
            <a:r>
              <a:rPr sz="750" b="1">
                <a:solidFill>
                  <a:srgbClr val="C9921E"/>
                </a:solidFill>
                <a:latin typeface="Arial"/>
                <a:ea typeface="Arial"/>
                <a:cs typeface="Arial"/>
              </a:rPr>
              <a:t>Human officer decision remains the final qualification authority.</a:t>
            </a:r>
          </a:p>
        </p:txBody>
      </p:sp>
    </p:spTree>
    <p:extLst>
      <p:ext uri="{BB962C8B-B14F-4D97-AF65-F5344CB8AC3E}">
        <p14:creationId xmlns:p14="http://schemas.microsoft.com/office/powerpoint/2010/main" val="461595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2026-09-12T19:11:29.4920000Z</dcterms:created>
  <dcterms:modified xsi:type="dcterms:W3CDTF">2026-09-12T19:11:29.4920000Z</dcterms:modified>
</coreProperties>
</file>